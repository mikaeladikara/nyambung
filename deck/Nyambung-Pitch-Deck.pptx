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0:10–0:20 (10 dtk) — diam 2 detik sebelum pindah slide.
Bagaimana jika hambatan terbesar hubungan antarmanusia bukan jarak, bukan internet, melainkan dua manusia yang tidak bisa saling memahami?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0:20–0:43 (23 dtk)
Ini Ethan, lima tahun, dari Inggris. Ethan autis dan tidak berbicara. Dulu, caranya meminta sesuatu adalah menarik tangan orang dewasa ke arah yang ia mau.
Hari ini Ethan bisa meminta makanan, memberi tahu saat ia sakit, dan membela dirinya sendiri, lewat papan AAC.
Tapi yang membuat Ethan berhasil bukan hanya perangkatnya. Ibunya menulis, tugas keluarga adalah 'model, model, model': ikut berbicara dengan papan itu setiap hari.
Ethan punya suara karena orang di sekitarnya belajar menjawab. Pertanyaannya: berapa banyak anak yang tidak seberuntung Ethan?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0:43–1:03 (20 dtk)
Datanya menjawab. 25 sampai 30 persen anak autis tetap minimally verbal setelah usia lima tahun. AAC sudah ada, tapi 29,3 persen alat bantu ditinggalkan sepenuhnya, paling banyak di tahun pertama.
Menurut survei 275 terapis wicara, penyebabnya kurang pelatihan dan kurang dukungan, bukan anaknya.
Di Indonesia tantangannya bertumpuk: alat berbahasa Inggris, mahal, butuh internet, orang tua tidak pernah dilatih, dan terapis tidak tahu apa yang terjadi di rumah di antara sesi.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1:03–1:15 (12 dtk)
Solusi yang ada kuat di bagiannya masing-masing: bahasa Indonesia, luring, kustomisasi, atau laporan.
Tapi celahnya bukan di satu fitur. Celahnya ada di antara fitur: belum ada yang menyatukan anak, keluarga, dan terapis dalam satu alur.
Catatan: klaim fitur kompetitor belum dicek ke situs resmi masing-masing.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1:15–1:32 (17 dtk) — logo muncul pertama kali
Maka kami membangun Nyambung. Nyambung bukan sekadar papan AAC. Nyambung mengubah AAC dari alat milik anak menjadi bahasa bersama satu rumah:
anak berbicara lewat papan, orang tua belajar menjawab lewat misi harian, dan terapis melihat apa yang terjadi di rumah lalu mengirim usulan kembali. Satu loop, luring-pertama.
Suara anak, sampai.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1:32–1:50 (18 dtk)
Untuk anak, papan bicara yang tetap hidup tanpa internet: dua belas kata inti di posisi tetap dan 120 kata bersimbol.
Untuk orang tua, satu pelajaran 60 detik dan satu misi di bawah lima menit sehari, menempel pada rutinitas. Penghitungnya terisi sendiri dari ketukan. Tanpa streak, tanpa rasa bersalah, tanpa formulir.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1:50–2:02 (12 dtk)
Dan misi itu tidak kami karang. Intervensi yang dijalankan orang tua dan disisipkan di rutinitas termasuk praktik berbasis bukti menurut tinjauan 972 studi.
Melewatkan satu hari tidak merusak pembentukan kebiasaan, jadi kami tidak menghukum hari yang terlewat. Yang belum teruji, seperti pelajaran 60 detik, kami tandai untuk pilot.
Q&amp;A: tingkat A = RCT/meta-analisis/tinjauan sistematis; Gollwitzer, Lally, dan Keller dari populasi umum, bukan khusus orang tua anak autis. Kebiasaan butuh median 59–66 hari, jadi retensi hari ke-14 hanya sinyal awal.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2:02–2:22 (20 dtk)
Dua fitur unggulan kami membuat papan ini terasa milik keluarganya sendiri. Pertama: suara keluarga. Setelah orang tua menyetujui empat butir dan membaca tiga kalimat, Nyambung bisa membuat kalimat baru dengan suara orang tuanya.
Contohnya, guru ingin anak mendengar 'Jangan nyontek' dengan suara ibunya. Klipnya dibuat sekali, disimpan di HP, dan diputar tanpa internet. Kalimat dari guru atau terapis tetap usulan yang boleh ditolak keluarga.
Pengamannya kami bangun sejak awal: server tidak menyimpan rekaman, hanya ID suara; nama anak tidak dikirim; dan satu tombol mencabut serta menghapus suara di penyedia.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2:22–2:42 (20 dtk)
Kedua: papan dari foto. Satu foto dari rumah, misalnya meja makan, menjadi papan bicara dengan sampai enam area yang bisa diketuk.
Ini berbasis bukti: sintesis 12 studi menilai visual scene display sebagai praktik berbasis bukti untuk anak autis usia 3 sampai 8 tahun, 37 dari 42 peserta menunjukkan efek positif.
AI hanya membuat draf, dan hanya bila pendamping menyetujui pengiriman foto itu. Foto tidak disimpan server, dan keluarga wajib memeriksa sebelum menyimpan. Setelah tersimpan, papannya dipakai tanpa internet.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2:42–3:02 (20 dtk)
Semua yang terjadi di rumah itu sampai ke terapis. Tapi kami tidak memberi tumpukan data. Dasbor menandai anak yang perlu ditinjau, selalu dengan alasannya, lalu menyusun ringkasan rumah sebelum sesi.
Terapis mengusulkan kata atau frasa bersuara, dan keluarga memilih Terima atau Tolak, tanpa perlu alasan.
Aturan tetap, alasan tertulis, keputusan tetap di tangan manusia.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3:02–3:27 (25 dtk)
Setiap pilihan teknologi berangkat dari kondisi pengguna kami.
Karena sinyal tidak bisa diandalkan, data utama tinggal di HP: setiap ketukan ditulis ke log yang tidak bisa diubah bersama antrean kirimnya, dalam satu transaksi. Saat jaringan kembali, aplikasi mengirim sendiri, dan server mengenali ID yang sama sehingga tidak ada data ganda. Kami menguji ini dengan mematikan proses secara paksa: hasilnya identik.
Karena HP keluarga sederhana, aplikasinya Flutter untuk Android 8 dengan RAM 2 GB. Server-nya ringan, FastAPI dan SQLite, cukup untuk pilot satu klinik.
Keamanannya juga tidak kami tunda: kode undangan sekali pakai yang kedaluwarsa tujuh hari, sesi terapis yang kedaluwarsa, kata sandi dan token yang hanya disimpan sebagai hash, dan PIN orang tua. AI hanya dipakai server saat membuat konten; triase terapis memakai aturan yang bisa diperiksa.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3:27–3:40 (13 dtk)
Kami tidak mengklaim Nyambung sudah terbukti efektif; kami merakit praktik yang sudah terbukti.
Kami juga meminta pendapat [A], Ketua Umum FORMAPI Universitas Brawijaya, yang berpengalaman mendampingi anak berkebutuhan khusus: '[kutipan singkat asli dari A]'.
Validasi klinis bersama terapis wicara adalah bagian dari pilot kami. Semua aset, dari simbol Mulberry CC BY-SA 4.0 sampai suara, tercatat asal-usulnya; rinciannya di lampiran.
PENTING: A adalah praktisi pendamping ABK, bukan terapis wicara. Sebut "masukan praktisi", jangan "validasi klinis". Isi nama dan kutipan asli; jangan mengarang.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3:40–4:05 (25 dtk)
Apakah layak? Ini sudah berjalan, dibangun dalam 24 jam, dengan 113 tes otomatis lulus.
Model bisnisnya: keluarga gratis selamanya, karena suara anak tidak boleh dikunci langganan. Biaya per keluarga untuk fitur inti hampir nol, karena semuanya berjalan di HP.
Yang membayar adalah terapis dan institusi, yang mendapat dasbor dan data rumah. Kami mulai dengan pilot enam pekan bersama satu terapis wicara, lalu tumbuh lewat terapis: setiap kode undangan adalah satu keluarga baru.
Batasannya kami tulis terbuka: belum HTTPS, dan [belum diuji di HP fisik 2 GB — perbarui bila sudah].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4:05–4:27 (22 dtk)
Dampaknya kami ukur dengan jujur. Masalah intinya alat ditinggalkan, jadi metrik utama pilot adalah retensi hari ke-14, minimal 60 persen, didukung hari misi terlaksana, usulan yang dijawab keluarga, dan waktu tinjauan terapis yang diukur otomatis.
Jumlah kata adalah pola pemakaian, bukan nilai kemampuan anak.
Kalau tinjauan cukup lima menit per anak, satu jam terapis bisa memantau dua belas keluarga. Itu asumsi, dan pilot yang akan mengujinya.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4:27–4:40 (13 dtk) — tahan 2 detik di akhir.
Ethan punya suara karena orang di sekitarnya belajar menjawab. Nyambung ingin hal yang sama terjadi di setiap rumah di Indonesia.
Karena hubungan antarmanusia tidak dimulai saat seseorang bisa bicara. Hubungan dimulai saat ia bisa dipahami.
Anak. Keluarga. Terapis. Nyambung.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Lampiran untuk Q&amp;A (disebut satu kalimat di slide validasi).
Semua aset punya asal yang jelas: simbol dari Mulberry Symbols karya Steve Lee, berlisensi CC BY-SA 4.0, kata tanpa padanan digambar tim dengan gaya yang sama, dan semua berkas tercatat lengkap dengan hash-nya.
Q&amp;A: Mulberry dirancang untuk pengguna dewasa; kecocokannya untuk anak Indonesia diuji di pilot. Simbol tim belum diuji pada anak.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Untuk Q&amp;A: "Kenapa kata-kata ini?" 9 dari 12 kata ada di Banajee atau Project Core, 7 di keduanya. Tiga pengecualian (SAKIT, MAKAN, MINUM) beralasan tertulis. Tidak ada kata benda di halaman inti; IBU/AYAH ada di halaman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juri menilai kejujuran terhadap batasan sistem. Yang belum ada, sebut belum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1 menilai justifikasi perubahan di PERUBAHAN.md. Tunjukkan bahwa perubahan dicatat saat itu juga, termasuk yang ditunda lalu akhirnya dibangun.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1.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1.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slideLayout" Target="../slideLayouts/slideLayout1.xml"/><Relationship Id="rId1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8277"/>
        </a:solidFill>
      </p:bgPr>
    </p:bg>
    <p:spTree>
      <p:nvGrpSpPr>
        <p:cNvPr id="1" name=""/>
        <p:cNvGrpSpPr/>
        <p:nvPr/>
      </p:nvGrpSpPr>
      <p:grpSpPr>
        <a:xfrm>
          <a:off x="0" y="0"/>
          <a:ext cx="0" cy="0"/>
          <a:chOff x="0" y="0"/>
          <a:chExt cx="0" cy="0"/>
        </a:xfrm>
      </p:grpSpPr>
      <p:sp>
        <p:nvSpPr>
          <p:cNvPr id="2" name="Text 0"/>
          <p:cNvSpPr/>
          <p:nvPr/>
        </p:nvSpPr>
        <p:spPr>
          <a:xfrm>
            <a:off x="1005840" y="1417320"/>
            <a:ext cx="10058400" cy="320040"/>
          </a:xfrm>
          <a:prstGeom prst="rect">
            <a:avLst/>
          </a:prstGeom>
          <a:noFill/>
          <a:ln/>
        </p:spPr>
        <p:txBody>
          <a:bodyPr wrap="square" lIns="0" tIns="0" rIns="0" bIns="0" rtlCol="0" anchor="ctr"/>
          <a:lstStyle/>
          <a:p>
            <a:pPr indent="0" marL="0">
              <a:buNone/>
            </a:pPr>
            <a:r>
              <a:rPr lang="en-US" sz="1300" b="1" spc="400" kern="0" dirty="0">
                <a:solidFill>
                  <a:srgbClr val="BADE4A"/>
                </a:solidFill>
                <a:latin typeface="Calibri" pitchFamily="34" charset="0"/>
                <a:ea typeface="Calibri" pitchFamily="34" charset="-122"/>
                <a:cs typeface="Calibri" pitchFamily="34" charset="-120"/>
              </a:rPr>
              <a:t>TECH FOR HUMAN CONNECTIONS</a:t>
            </a:r>
            <a:endParaRPr lang="en-US" sz="1300" dirty="0"/>
          </a:p>
        </p:txBody>
      </p:sp>
      <p:sp>
        <p:nvSpPr>
          <p:cNvPr id="3" name="Text 1"/>
          <p:cNvSpPr/>
          <p:nvPr/>
        </p:nvSpPr>
        <p:spPr>
          <a:xfrm>
            <a:off x="1005840" y="1920240"/>
            <a:ext cx="10149840" cy="1737360"/>
          </a:xfrm>
          <a:prstGeom prst="rect">
            <a:avLst/>
          </a:prstGeom>
          <a:noFill/>
          <a:ln/>
        </p:spPr>
        <p:txBody>
          <a:bodyPr wrap="square" lIns="0" tIns="0" rIns="0" bIns="0" rtlCol="0" anchor="t"/>
          <a:lstStyle/>
          <a:p>
            <a:pPr indent="0" marL="0">
              <a:buNone/>
            </a:pPr>
            <a:r>
              <a:rPr lang="en-US" sz="3600" b="1" dirty="0">
                <a:solidFill>
                  <a:srgbClr val="FFFFFF"/>
                </a:solidFill>
                <a:latin typeface="Trebuchet MS" pitchFamily="34" charset="0"/>
                <a:ea typeface="Trebuchet MS" pitchFamily="34" charset="-122"/>
                <a:cs typeface="Trebuchet MS" pitchFamily="34" charset="-120"/>
              </a:rPr>
              <a:t>Bagaimana jika hambatan terbesar hubungan antarmanusia bukan jarak, bukan internet,</a:t>
            </a:r>
            <a:endParaRPr lang="en-US" sz="3600" dirty="0"/>
          </a:p>
        </p:txBody>
      </p:sp>
      <p:sp>
        <p:nvSpPr>
          <p:cNvPr id="4" name="Text 2"/>
          <p:cNvSpPr/>
          <p:nvPr/>
        </p:nvSpPr>
        <p:spPr>
          <a:xfrm>
            <a:off x="1005840" y="3703320"/>
            <a:ext cx="10149840" cy="1188720"/>
          </a:xfrm>
          <a:prstGeom prst="rect">
            <a:avLst/>
          </a:prstGeom>
          <a:noFill/>
          <a:ln/>
        </p:spPr>
        <p:txBody>
          <a:bodyPr wrap="square" lIns="0" tIns="0" rIns="0" bIns="0" rtlCol="0" anchor="t"/>
          <a:lstStyle/>
          <a:p>
            <a:pPr indent="0" marL="0">
              <a:buNone/>
            </a:pPr>
            <a:r>
              <a:rPr lang="en-US" sz="3600" b="1" i="1" dirty="0">
                <a:solidFill>
                  <a:srgbClr val="A0DDD7"/>
                </a:solidFill>
                <a:latin typeface="Trebuchet MS" pitchFamily="34" charset="0"/>
                <a:ea typeface="Trebuchet MS" pitchFamily="34" charset="-122"/>
                <a:cs typeface="Trebuchet MS" pitchFamily="34" charset="-120"/>
              </a:rPr>
              <a:t>melainkan dua manusia yang tidak bisa saling memahami?</a:t>
            </a: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KISAH NYATA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Ethan punya suara karena orang di sekitarnya belajar menjawab</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2</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Sumber: "Laura and Ethan's story", National Autistic Society (autism.org.uk), dimuat di majalah Your Autism. Foto Ethan tidak dipakai tanpa izin; bingkai ini ilustrasi.</a:t>
            </a:r>
            <a:endParaRPr lang="en-US" sz="850" dirty="0"/>
          </a:p>
        </p:txBody>
      </p:sp>
      <p:sp>
        <p:nvSpPr>
          <p:cNvPr id="12" name="Shape 8"/>
          <p:cNvSpPr/>
          <p:nvPr/>
        </p:nvSpPr>
        <p:spPr>
          <a:xfrm>
            <a:off x="548640" y="1783080"/>
            <a:ext cx="3566160" cy="4114800"/>
          </a:xfrm>
          <a:prstGeom prst="roundRect">
            <a:avLst>
              <a:gd name="adj" fmla="val 5128"/>
            </a:avLst>
          </a:prstGeom>
          <a:solidFill>
            <a:srgbClr val="DFF6F3"/>
          </a:solidFill>
          <a:ln w="19050">
            <a:solidFill>
              <a:srgbClr val="A0DDD7"/>
            </a:solidFill>
            <a:prstDash val="solid"/>
          </a:ln>
        </p:spPr>
      </p:sp>
      <p:sp>
        <p:nvSpPr>
          <p:cNvPr id="13" name="Shape 9"/>
          <p:cNvSpPr/>
          <p:nvPr/>
        </p:nvSpPr>
        <p:spPr>
          <a:xfrm>
            <a:off x="1417320" y="2331720"/>
            <a:ext cx="1828800" cy="1828800"/>
          </a:xfrm>
          <a:prstGeom prst="ellipse">
            <a:avLst/>
          </a:prstGeom>
          <a:solidFill>
            <a:srgbClr val="FFFFFF"/>
          </a:solidFill>
          <a:ln w="127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1783080" y="2697480"/>
            <a:ext cx="1097280" cy="1097280"/>
          </a:xfrm>
          <a:prstGeom prst="rect">
            <a:avLst/>
          </a:prstGeom>
        </p:spPr>
      </p:pic>
      <p:sp>
        <p:nvSpPr>
          <p:cNvPr id="15" name="Text 10"/>
          <p:cNvSpPr/>
          <p:nvPr/>
        </p:nvSpPr>
        <p:spPr>
          <a:xfrm>
            <a:off x="548640" y="4389120"/>
            <a:ext cx="3566160" cy="457200"/>
          </a:xfrm>
          <a:prstGeom prst="rect">
            <a:avLst/>
          </a:prstGeom>
          <a:noFill/>
          <a:ln/>
        </p:spPr>
        <p:txBody>
          <a:bodyPr wrap="square" lIns="0" tIns="0" rIns="0" bIns="0" rtlCol="0" anchor="ctr"/>
          <a:lstStyle/>
          <a:p>
            <a:pPr algn="ctr" indent="0" marL="0">
              <a:buNone/>
            </a:pPr>
            <a:r>
              <a:rPr lang="en-US" sz="2200" b="1" dirty="0">
                <a:solidFill>
                  <a:srgbClr val="172C2A"/>
                </a:solidFill>
                <a:latin typeface="Trebuchet MS" pitchFamily="34" charset="0"/>
                <a:ea typeface="Trebuchet MS" pitchFamily="34" charset="-122"/>
                <a:cs typeface="Trebuchet MS" pitchFamily="34" charset="-120"/>
              </a:rPr>
              <a:t>Ethan, 5 tahun</a:t>
            </a:r>
            <a:endParaRPr lang="en-US" sz="2200" dirty="0"/>
          </a:p>
        </p:txBody>
      </p:sp>
      <p:sp>
        <p:nvSpPr>
          <p:cNvPr id="16" name="Text 11"/>
          <p:cNvSpPr/>
          <p:nvPr/>
        </p:nvSpPr>
        <p:spPr>
          <a:xfrm>
            <a:off x="548640" y="4846320"/>
            <a:ext cx="3566160" cy="320040"/>
          </a:xfrm>
          <a:prstGeom prst="rect">
            <a:avLst/>
          </a:prstGeom>
          <a:noFill/>
          <a:ln/>
        </p:spPr>
        <p:txBody>
          <a:bodyPr wrap="square" lIns="0" tIns="0" rIns="0" bIns="0" rtlCol="0" anchor="ctr"/>
          <a:lstStyle/>
          <a:p>
            <a:pPr algn="ctr" indent="0" marL="0">
              <a:buNone/>
            </a:pPr>
            <a:r>
              <a:rPr lang="en-US" sz="1300" dirty="0">
                <a:solidFill>
                  <a:srgbClr val="026E65"/>
                </a:solidFill>
                <a:latin typeface="Calibri" pitchFamily="34" charset="0"/>
                <a:ea typeface="Calibri" pitchFamily="34" charset="-122"/>
                <a:cs typeface="Calibri" pitchFamily="34" charset="-120"/>
              </a:rPr>
              <a:t>autis · non-speaking · Inggris</a:t>
            </a:r>
            <a:endParaRPr lang="en-US" sz="1300" dirty="0"/>
          </a:p>
        </p:txBody>
      </p:sp>
      <p:sp>
        <p:nvSpPr>
          <p:cNvPr id="17" name="Text 12"/>
          <p:cNvSpPr/>
          <p:nvPr/>
        </p:nvSpPr>
        <p:spPr>
          <a:xfrm>
            <a:off x="548640" y="5349240"/>
            <a:ext cx="3566160" cy="274320"/>
          </a:xfrm>
          <a:prstGeom prst="rect">
            <a:avLst/>
          </a:prstGeom>
          <a:noFill/>
          <a:ln/>
        </p:spPr>
        <p:txBody>
          <a:bodyPr wrap="square" lIns="0" tIns="0" rIns="0" bIns="0" rtlCol="0" anchor="ctr"/>
          <a:lstStyle/>
          <a:p>
            <a:pPr algn="ctr" indent="0" marL="0">
              <a:buNone/>
            </a:pPr>
            <a:r>
              <a:rPr lang="en-US" sz="950" i="1" dirty="0">
                <a:solidFill>
                  <a:srgbClr val="52706D"/>
                </a:solidFill>
                <a:latin typeface="Calibri" pitchFamily="34" charset="0"/>
                <a:ea typeface="Calibri" pitchFamily="34" charset="-122"/>
                <a:cs typeface="Calibri" pitchFamily="34" charset="-120"/>
              </a:rPr>
              <a:t>Tempel foto hanya dengan izin</a:t>
            </a:r>
            <a:endParaRPr lang="en-US" sz="950" dirty="0"/>
          </a:p>
        </p:txBody>
      </p:sp>
      <p:sp>
        <p:nvSpPr>
          <p:cNvPr id="18" name="Shape 13"/>
          <p:cNvSpPr/>
          <p:nvPr/>
        </p:nvSpPr>
        <p:spPr>
          <a:xfrm>
            <a:off x="4389120" y="1783080"/>
            <a:ext cx="7253935" cy="960120"/>
          </a:xfrm>
          <a:prstGeom prst="roundRect">
            <a:avLst>
              <a:gd name="adj" fmla="val 11429"/>
            </a:avLst>
          </a:prstGeom>
          <a:solidFill>
            <a:srgbClr val="FFFFFF"/>
          </a:solidFill>
          <a:ln w="9525">
            <a:solidFill>
              <a:srgbClr val="DCEEEC"/>
            </a:solidFill>
            <a:prstDash val="solid"/>
          </a:ln>
        </p:spPr>
      </p:sp>
      <p:sp>
        <p:nvSpPr>
          <p:cNvPr id="19" name="Text 14"/>
          <p:cNvSpPr/>
          <p:nvPr/>
        </p:nvSpPr>
        <p:spPr>
          <a:xfrm>
            <a:off x="4590288" y="2084832"/>
            <a:ext cx="1234440" cy="347472"/>
          </a:xfrm>
          <a:prstGeom prst="roundRect">
            <a:avLst>
              <a:gd name="adj" fmla="val 50000"/>
            </a:avLst>
          </a:prstGeom>
          <a:solidFill>
            <a:srgbClr val="FDE1E2"/>
          </a:solidFill>
          <a:ln>
            <a:solidFill>
              <a:srgbClr val="FDE1E2"/>
            </a:solidFill>
          </a:ln>
        </p:spPr>
        <p:txBody>
          <a:bodyPr wrap="square" lIns="0" tIns="0" rIns="0" bIns="0" rtlCol="0" anchor="ctr"/>
          <a:lstStyle/>
          <a:p>
            <a:pPr algn="ctr" indent="0" marL="0">
              <a:buNone/>
            </a:pPr>
            <a:r>
              <a:rPr lang="en-US" sz="1050" b="1" spc="150" kern="0" dirty="0">
                <a:solidFill>
                  <a:srgbClr val="C23D42"/>
                </a:solidFill>
                <a:latin typeface="Calibri" pitchFamily="34" charset="0"/>
                <a:ea typeface="Calibri" pitchFamily="34" charset="-122"/>
                <a:cs typeface="Calibri" pitchFamily="34" charset="-120"/>
              </a:rPr>
              <a:t>DULU</a:t>
            </a:r>
            <a:endParaRPr lang="en-US" sz="1050" dirty="0"/>
          </a:p>
        </p:txBody>
      </p:sp>
      <p:sp>
        <p:nvSpPr>
          <p:cNvPr id="20" name="Text 15"/>
          <p:cNvSpPr/>
          <p:nvPr/>
        </p:nvSpPr>
        <p:spPr>
          <a:xfrm>
            <a:off x="6035040" y="1783080"/>
            <a:ext cx="5425135" cy="960120"/>
          </a:xfrm>
          <a:prstGeom prst="rect">
            <a:avLst/>
          </a:prstGeom>
          <a:noFill/>
          <a:ln/>
        </p:spPr>
        <p:txBody>
          <a:bodyPr wrap="square" lIns="0" tIns="0" rIns="0" bIns="0" rtlCol="0" anchor="ctr"/>
          <a:lstStyle/>
          <a:p>
            <a:pPr indent="0" marL="0">
              <a:buNone/>
            </a:pPr>
            <a:r>
              <a:rPr lang="en-US" sz="1500" dirty="0">
                <a:solidFill>
                  <a:srgbClr val="172C2A"/>
                </a:solidFill>
                <a:latin typeface="Calibri" pitchFamily="34" charset="0"/>
                <a:ea typeface="Calibri" pitchFamily="34" charset="-122"/>
                <a:cs typeface="Calibri" pitchFamily="34" charset="-120"/>
              </a:rPr>
              <a:t>Meminta dengan menarik tangan orang dewasa ke arah yang ia mau.</a:t>
            </a:r>
            <a:endParaRPr lang="en-US" sz="1500" dirty="0"/>
          </a:p>
        </p:txBody>
      </p:sp>
      <p:sp>
        <p:nvSpPr>
          <p:cNvPr id="21" name="Shape 16"/>
          <p:cNvSpPr/>
          <p:nvPr/>
        </p:nvSpPr>
        <p:spPr>
          <a:xfrm>
            <a:off x="4389120" y="2880360"/>
            <a:ext cx="7253935" cy="960120"/>
          </a:xfrm>
          <a:prstGeom prst="roundRect">
            <a:avLst>
              <a:gd name="adj" fmla="val 11429"/>
            </a:avLst>
          </a:prstGeom>
          <a:solidFill>
            <a:srgbClr val="FFFFFF"/>
          </a:solidFill>
          <a:ln w="9525">
            <a:solidFill>
              <a:srgbClr val="DCEEEC"/>
            </a:solidFill>
            <a:prstDash val="solid"/>
          </a:ln>
        </p:spPr>
      </p:sp>
      <p:sp>
        <p:nvSpPr>
          <p:cNvPr id="22" name="Text 17"/>
          <p:cNvSpPr/>
          <p:nvPr/>
        </p:nvSpPr>
        <p:spPr>
          <a:xfrm>
            <a:off x="4590288" y="3182112"/>
            <a:ext cx="1234440" cy="347472"/>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spc="150" kern="0" dirty="0">
                <a:solidFill>
                  <a:srgbClr val="026E65"/>
                </a:solidFill>
                <a:latin typeface="Calibri" pitchFamily="34" charset="0"/>
                <a:ea typeface="Calibri" pitchFamily="34" charset="-122"/>
                <a:cs typeface="Calibri" pitchFamily="34" charset="-120"/>
              </a:rPr>
              <a:t>SEKARANG</a:t>
            </a:r>
            <a:endParaRPr lang="en-US" sz="1050" dirty="0"/>
          </a:p>
        </p:txBody>
      </p:sp>
      <p:sp>
        <p:nvSpPr>
          <p:cNvPr id="23" name="Text 18"/>
          <p:cNvSpPr/>
          <p:nvPr/>
        </p:nvSpPr>
        <p:spPr>
          <a:xfrm>
            <a:off x="6035040" y="2880360"/>
            <a:ext cx="5425135" cy="960120"/>
          </a:xfrm>
          <a:prstGeom prst="rect">
            <a:avLst/>
          </a:prstGeom>
          <a:noFill/>
          <a:ln/>
        </p:spPr>
        <p:txBody>
          <a:bodyPr wrap="square" lIns="0" tIns="0" rIns="0" bIns="0" rtlCol="0" anchor="ctr"/>
          <a:lstStyle/>
          <a:p>
            <a:pPr indent="0" marL="0">
              <a:buNone/>
            </a:pPr>
            <a:r>
              <a:rPr lang="en-US" sz="1500" dirty="0">
                <a:solidFill>
                  <a:srgbClr val="172C2A"/>
                </a:solidFill>
                <a:latin typeface="Calibri" pitchFamily="34" charset="0"/>
                <a:ea typeface="Calibri" pitchFamily="34" charset="-122"/>
                <a:cs typeface="Calibri" pitchFamily="34" charset="-120"/>
              </a:rPr>
              <a:t>Meminta makanan, memberi tahu saat sakit, dan membela dirinya sendiri lewat papan AAC.</a:t>
            </a:r>
            <a:endParaRPr lang="en-US" sz="1500" dirty="0"/>
          </a:p>
        </p:txBody>
      </p:sp>
      <p:sp>
        <p:nvSpPr>
          <p:cNvPr id="24" name="Shape 19"/>
          <p:cNvSpPr/>
          <p:nvPr/>
        </p:nvSpPr>
        <p:spPr>
          <a:xfrm>
            <a:off x="4389120" y="4023360"/>
            <a:ext cx="7253935" cy="960120"/>
          </a:xfrm>
          <a:prstGeom prst="roundRect">
            <a:avLst>
              <a:gd name="adj" fmla="val 11429"/>
            </a:avLst>
          </a:prstGeom>
          <a:solidFill>
            <a:srgbClr val="098277"/>
          </a:solidFill>
          <a:ln w="12700">
            <a:solidFill>
              <a:srgbClr val="098277"/>
            </a:solidFill>
            <a:prstDash val="solid"/>
          </a:ln>
        </p:spPr>
      </p:sp>
      <p:pic>
        <p:nvPicPr>
          <p:cNvPr id="25" name="Image 2" descr="preencoded.png">    </p:cNvPr>
          <p:cNvPicPr>
            <a:picLocks noChangeAspect="1"/>
          </p:cNvPicPr>
          <p:nvPr/>
        </p:nvPicPr>
        <p:blipFill>
          <a:blip r:embed="rId3"/>
          <a:stretch>
            <a:fillRect/>
          </a:stretch>
        </p:blipFill>
        <p:spPr>
          <a:xfrm>
            <a:off x="4617720" y="4224528"/>
            <a:ext cx="502920" cy="502920"/>
          </a:xfrm>
          <a:prstGeom prst="rect">
            <a:avLst/>
          </a:prstGeom>
        </p:spPr>
      </p:pic>
      <p:sp>
        <p:nvSpPr>
          <p:cNvPr id="26" name="Text 20"/>
          <p:cNvSpPr/>
          <p:nvPr/>
        </p:nvSpPr>
        <p:spPr>
          <a:xfrm>
            <a:off x="5303520" y="4023360"/>
            <a:ext cx="6156655" cy="960120"/>
          </a:xfrm>
          <a:prstGeom prst="rect">
            <a:avLst/>
          </a:prstGeom>
          <a:noFill/>
          <a:ln/>
        </p:spPr>
        <p:txBody>
          <a:bodyPr wrap="square" lIns="0" tIns="0" rIns="0" bIns="0" rtlCol="0" anchor="ctr"/>
          <a:lstStyle/>
          <a:p>
            <a:pPr indent="0" marL="0">
              <a:buNone/>
            </a:pPr>
            <a:r>
              <a:rPr lang="en-US" sz="2200" b="1" i="1" dirty="0">
                <a:solidFill>
                  <a:srgbClr val="FFFFFF"/>
                </a:solidFill>
                <a:latin typeface="Trebuchet MS" pitchFamily="34" charset="0"/>
                <a:ea typeface="Trebuchet MS" pitchFamily="34" charset="-122"/>
                <a:cs typeface="Trebuchet MS" pitchFamily="34" charset="-120"/>
              </a:rPr>
              <a:t>"model, model, model"</a:t>
            </a:r>
            <a:pPr indent="0" marL="0">
              <a:buNone/>
            </a:pPr>
            <a:r>
              <a:rPr lang="en-US" sz="1200" dirty="0">
                <a:solidFill>
                  <a:srgbClr val="DFF6F3"/>
                </a:solidFill>
                <a:latin typeface="Calibri" pitchFamily="34" charset="0"/>
                <a:ea typeface="Calibri" pitchFamily="34" charset="-122"/>
                <a:cs typeface="Calibri" pitchFamily="34" charset="-120"/>
              </a:rPr>
              <a:t>   Laura, ibu Ethan, tentang tugas keluarga</a:t>
            </a:r>
            <a:endParaRPr lang="en-US" sz="2200" dirty="0"/>
          </a:p>
        </p:txBody>
      </p:sp>
      <p:sp>
        <p:nvSpPr>
          <p:cNvPr id="27" name="Text 21"/>
          <p:cNvSpPr/>
          <p:nvPr/>
        </p:nvSpPr>
        <p:spPr>
          <a:xfrm>
            <a:off x="4389120" y="5166360"/>
            <a:ext cx="7253935" cy="548640"/>
          </a:xfrm>
          <a:prstGeom prst="rect">
            <a:avLst/>
          </a:prstGeom>
          <a:noFill/>
          <a:ln/>
        </p:spPr>
        <p:txBody>
          <a:bodyPr wrap="square" lIns="0" tIns="0" rIns="0" bIns="0" rtlCol="0" anchor="ctr"/>
          <a:lstStyle/>
          <a:p>
            <a:pPr indent="0" marL="0">
              <a:buNone/>
            </a:pPr>
            <a:r>
              <a:rPr lang="en-US" sz="2000" b="1" dirty="0">
                <a:solidFill>
                  <a:srgbClr val="C23D42"/>
                </a:solidFill>
                <a:latin typeface="Trebuchet MS" pitchFamily="34" charset="0"/>
                <a:ea typeface="Trebuchet MS" pitchFamily="34" charset="-122"/>
                <a:cs typeface="Trebuchet MS" pitchFamily="34" charset="-120"/>
              </a:rPr>
              <a:t>Berapa banyak anak yang tidak seberuntung Ethan?</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MASALAH</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Papan bicaranya bisa diberikan. Yang sering tidak ada: orang yang dilatih menjawabnya.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3</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Sumber: Tager-Flusberg &amp; Kasari (2013), Autism Research · Phillips &amp; Zhao (1993), Assistive Technology · Johnson, Inglebret, Jones &amp; Ray (2006), AAC.</a:t>
            </a:r>
            <a:endParaRPr lang="en-US" sz="850" dirty="0"/>
          </a:p>
        </p:txBody>
      </p:sp>
      <p:sp>
        <p:nvSpPr>
          <p:cNvPr id="12" name="Shape 8"/>
          <p:cNvSpPr/>
          <p:nvPr/>
        </p:nvSpPr>
        <p:spPr>
          <a:xfrm>
            <a:off x="548640" y="1783080"/>
            <a:ext cx="6720840" cy="1261872"/>
          </a:xfrm>
          <a:prstGeom prst="roundRect">
            <a:avLst>
              <a:gd name="adj" fmla="val 8696"/>
            </a:avLst>
          </a:prstGeom>
          <a:solidFill>
            <a:srgbClr val="FFFFFF"/>
          </a:solidFill>
          <a:ln w="9525">
            <a:solidFill>
              <a:srgbClr val="DCEEEC"/>
            </a:solidFill>
            <a:prstDash val="solid"/>
          </a:ln>
        </p:spPr>
      </p:sp>
      <p:sp>
        <p:nvSpPr>
          <p:cNvPr id="13" name="Text 9"/>
          <p:cNvSpPr/>
          <p:nvPr/>
        </p:nvSpPr>
        <p:spPr>
          <a:xfrm>
            <a:off x="777240" y="1783080"/>
            <a:ext cx="2148840" cy="1261872"/>
          </a:xfrm>
          <a:prstGeom prst="rect">
            <a:avLst/>
          </a:prstGeom>
          <a:noFill/>
          <a:ln/>
        </p:spPr>
        <p:txBody>
          <a:bodyPr wrap="square" lIns="0" tIns="0" rIns="0" bIns="0" rtlCol="0" anchor="ctr"/>
          <a:lstStyle/>
          <a:p>
            <a:pPr indent="0" marL="0">
              <a:buNone/>
            </a:pPr>
            <a:r>
              <a:rPr lang="en-US" sz="3800" b="1" dirty="0">
                <a:solidFill>
                  <a:srgbClr val="098277"/>
                </a:solidFill>
                <a:latin typeface="Trebuchet MS" pitchFamily="34" charset="0"/>
                <a:ea typeface="Trebuchet MS" pitchFamily="34" charset="-122"/>
                <a:cs typeface="Trebuchet MS" pitchFamily="34" charset="-120"/>
              </a:rPr>
              <a:t>25–30%</a:t>
            </a:r>
            <a:endParaRPr lang="en-US" sz="3800" dirty="0"/>
          </a:p>
        </p:txBody>
      </p:sp>
      <p:sp>
        <p:nvSpPr>
          <p:cNvPr id="14" name="Text 10"/>
          <p:cNvSpPr/>
          <p:nvPr/>
        </p:nvSpPr>
        <p:spPr>
          <a:xfrm>
            <a:off x="2971800" y="1892808"/>
            <a:ext cx="4114800" cy="1042416"/>
          </a:xfrm>
          <a:prstGeom prst="rect">
            <a:avLst/>
          </a:prstGeom>
          <a:noFill/>
          <a:ln/>
        </p:spPr>
        <p:txBody>
          <a:bodyPr wrap="square" lIns="0" tIns="0" rIns="0" bIns="0" rtlCol="0" anchor="ctr"/>
          <a:lstStyle/>
          <a:p>
            <a:pPr indent="0" marL="0">
              <a:spcAft>
                <a:spcPts val="400"/>
              </a:spcAft>
              <a:buNone/>
            </a:pPr>
            <a:r>
              <a:rPr lang="en-US" sz="1600" b="1" dirty="0">
                <a:solidFill>
                  <a:srgbClr val="172C2A"/>
                </a:solidFill>
                <a:latin typeface="Calibri" pitchFamily="34" charset="0"/>
                <a:ea typeface="Calibri" pitchFamily="34" charset="-122"/>
                <a:cs typeface="Calibri" pitchFamily="34" charset="-120"/>
              </a:rPr>
              <a:t>anak autis tetap minimally verbal setelah usia 5 tahun</a:t>
            </a:r>
            <a:endParaRPr lang="en-US" sz="1600" dirty="0"/>
          </a:p>
          <a:p>
            <a:pPr indent="0" marL="0">
              <a:spcAft>
                <a:spcPts val="400"/>
              </a:spcAft>
              <a:buNone/>
            </a:pPr>
            <a:r>
              <a:rPr lang="en-US" sz="1050" dirty="0">
                <a:solidFill>
                  <a:srgbClr val="52706D"/>
                </a:solidFill>
                <a:latin typeface="Calibri" pitchFamily="34" charset="0"/>
                <a:ea typeface="Calibri" pitchFamily="34" charset="-122"/>
                <a:cs typeface="Calibri" pitchFamily="34" charset="-120"/>
              </a:rPr>
              <a:t>Tager-Flusberg &amp; Kasari, 2013</a:t>
            </a:r>
            <a:endParaRPr lang="en-US" sz="1600" dirty="0"/>
          </a:p>
        </p:txBody>
      </p:sp>
      <p:sp>
        <p:nvSpPr>
          <p:cNvPr id="15" name="Shape 11"/>
          <p:cNvSpPr/>
          <p:nvPr/>
        </p:nvSpPr>
        <p:spPr>
          <a:xfrm>
            <a:off x="548640" y="3209544"/>
            <a:ext cx="6720840" cy="1261872"/>
          </a:xfrm>
          <a:prstGeom prst="roundRect">
            <a:avLst>
              <a:gd name="adj" fmla="val 8696"/>
            </a:avLst>
          </a:prstGeom>
          <a:solidFill>
            <a:srgbClr val="FFFFFF"/>
          </a:solidFill>
          <a:ln w="9525">
            <a:solidFill>
              <a:srgbClr val="DCEEEC"/>
            </a:solidFill>
            <a:prstDash val="solid"/>
          </a:ln>
        </p:spPr>
      </p:sp>
      <p:sp>
        <p:nvSpPr>
          <p:cNvPr id="16" name="Text 12"/>
          <p:cNvSpPr/>
          <p:nvPr/>
        </p:nvSpPr>
        <p:spPr>
          <a:xfrm>
            <a:off x="777240" y="3209544"/>
            <a:ext cx="2148840" cy="1261872"/>
          </a:xfrm>
          <a:prstGeom prst="rect">
            <a:avLst/>
          </a:prstGeom>
          <a:noFill/>
          <a:ln/>
        </p:spPr>
        <p:txBody>
          <a:bodyPr wrap="square" lIns="0" tIns="0" rIns="0" bIns="0" rtlCol="0" anchor="ctr"/>
          <a:lstStyle/>
          <a:p>
            <a:pPr indent="0" marL="0">
              <a:buNone/>
            </a:pPr>
            <a:r>
              <a:rPr lang="en-US" sz="3800" b="1" dirty="0">
                <a:solidFill>
                  <a:srgbClr val="D34349"/>
                </a:solidFill>
                <a:latin typeface="Trebuchet MS" pitchFamily="34" charset="0"/>
                <a:ea typeface="Trebuchet MS" pitchFamily="34" charset="-122"/>
                <a:cs typeface="Trebuchet MS" pitchFamily="34" charset="-120"/>
              </a:rPr>
              <a:t>29,3%</a:t>
            </a:r>
            <a:endParaRPr lang="en-US" sz="3800" dirty="0"/>
          </a:p>
        </p:txBody>
      </p:sp>
      <p:sp>
        <p:nvSpPr>
          <p:cNvPr id="17" name="Text 13"/>
          <p:cNvSpPr/>
          <p:nvPr/>
        </p:nvSpPr>
        <p:spPr>
          <a:xfrm>
            <a:off x="2971800" y="3319272"/>
            <a:ext cx="4114800" cy="1042416"/>
          </a:xfrm>
          <a:prstGeom prst="rect">
            <a:avLst/>
          </a:prstGeom>
          <a:noFill/>
          <a:ln/>
        </p:spPr>
        <p:txBody>
          <a:bodyPr wrap="square" lIns="0" tIns="0" rIns="0" bIns="0" rtlCol="0" anchor="ctr"/>
          <a:lstStyle/>
          <a:p>
            <a:pPr indent="0" marL="0">
              <a:spcAft>
                <a:spcPts val="400"/>
              </a:spcAft>
              <a:buNone/>
            </a:pPr>
            <a:r>
              <a:rPr lang="en-US" sz="1600" b="1" dirty="0">
                <a:solidFill>
                  <a:srgbClr val="172C2A"/>
                </a:solidFill>
                <a:latin typeface="Calibri" pitchFamily="34" charset="0"/>
                <a:ea typeface="Calibri" pitchFamily="34" charset="-122"/>
                <a:cs typeface="Calibri" pitchFamily="34" charset="-120"/>
              </a:rPr>
              <a:t>alat bantu ditinggalkan sepenuhnya, terbanyak di tahun pertama</a:t>
            </a:r>
            <a:endParaRPr lang="en-US" sz="1600" dirty="0"/>
          </a:p>
          <a:p>
            <a:pPr indent="0" marL="0">
              <a:spcAft>
                <a:spcPts val="400"/>
              </a:spcAft>
              <a:buNone/>
            </a:pPr>
            <a:r>
              <a:rPr lang="en-US" sz="1050" dirty="0">
                <a:solidFill>
                  <a:srgbClr val="52706D"/>
                </a:solidFill>
                <a:latin typeface="Calibri" pitchFamily="34" charset="0"/>
                <a:ea typeface="Calibri" pitchFamily="34" charset="-122"/>
                <a:cs typeface="Calibri" pitchFamily="34" charset="-120"/>
              </a:rPr>
              <a:t>Phillips &amp; Zhao, 1993 · 227 responden</a:t>
            </a:r>
            <a:endParaRPr lang="en-US" sz="1600" dirty="0"/>
          </a:p>
        </p:txBody>
      </p:sp>
      <p:sp>
        <p:nvSpPr>
          <p:cNvPr id="18" name="Shape 14"/>
          <p:cNvSpPr/>
          <p:nvPr/>
        </p:nvSpPr>
        <p:spPr>
          <a:xfrm>
            <a:off x="548640" y="4636008"/>
            <a:ext cx="6720840" cy="1261872"/>
          </a:xfrm>
          <a:prstGeom prst="roundRect">
            <a:avLst>
              <a:gd name="adj" fmla="val 8696"/>
            </a:avLst>
          </a:prstGeom>
          <a:solidFill>
            <a:srgbClr val="FFFFFF"/>
          </a:solidFill>
          <a:ln w="9525">
            <a:solidFill>
              <a:srgbClr val="DCEEEC"/>
            </a:solidFill>
            <a:prstDash val="solid"/>
          </a:ln>
        </p:spPr>
      </p:sp>
      <p:sp>
        <p:nvSpPr>
          <p:cNvPr id="19" name="Text 15"/>
          <p:cNvSpPr/>
          <p:nvPr/>
        </p:nvSpPr>
        <p:spPr>
          <a:xfrm>
            <a:off x="777240" y="4636008"/>
            <a:ext cx="2148840" cy="1261872"/>
          </a:xfrm>
          <a:prstGeom prst="rect">
            <a:avLst/>
          </a:prstGeom>
          <a:noFill/>
          <a:ln/>
        </p:spPr>
        <p:txBody>
          <a:bodyPr wrap="square" lIns="0" tIns="0" rIns="0" bIns="0" rtlCol="0" anchor="ctr"/>
          <a:lstStyle/>
          <a:p>
            <a:pPr indent="0" marL="0">
              <a:buNone/>
            </a:pPr>
            <a:r>
              <a:rPr lang="en-US" sz="3800" b="1" dirty="0">
                <a:solidFill>
                  <a:srgbClr val="8A5B0A"/>
                </a:solidFill>
                <a:latin typeface="Trebuchet MS" pitchFamily="34" charset="0"/>
                <a:ea typeface="Trebuchet MS" pitchFamily="34" charset="-122"/>
                <a:cs typeface="Trebuchet MS" pitchFamily="34" charset="-120"/>
              </a:rPr>
              <a:t>275</a:t>
            </a:r>
            <a:endParaRPr lang="en-US" sz="3800" dirty="0"/>
          </a:p>
        </p:txBody>
      </p:sp>
      <p:sp>
        <p:nvSpPr>
          <p:cNvPr id="20" name="Text 16"/>
          <p:cNvSpPr/>
          <p:nvPr/>
        </p:nvSpPr>
        <p:spPr>
          <a:xfrm>
            <a:off x="2971800" y="4745736"/>
            <a:ext cx="4114800" cy="1042416"/>
          </a:xfrm>
          <a:prstGeom prst="rect">
            <a:avLst/>
          </a:prstGeom>
          <a:noFill/>
          <a:ln/>
        </p:spPr>
        <p:txBody>
          <a:bodyPr wrap="square" lIns="0" tIns="0" rIns="0" bIns="0" rtlCol="0" anchor="ctr"/>
          <a:lstStyle/>
          <a:p>
            <a:pPr indent="0" marL="0">
              <a:spcAft>
                <a:spcPts val="400"/>
              </a:spcAft>
              <a:buNone/>
            </a:pPr>
            <a:r>
              <a:rPr lang="en-US" sz="1600" b="1" dirty="0">
                <a:solidFill>
                  <a:srgbClr val="172C2A"/>
                </a:solidFill>
                <a:latin typeface="Calibri" pitchFamily="34" charset="0"/>
                <a:ea typeface="Calibri" pitchFamily="34" charset="-122"/>
                <a:cs typeface="Calibri" pitchFamily="34" charset="-120"/>
              </a:rPr>
              <a:t>terapis wicara menyebut kurang pelatihan dan kurang dukungan sebagai penyebab AAC ditinggalkan</a:t>
            </a:r>
            <a:endParaRPr lang="en-US" sz="1600" dirty="0"/>
          </a:p>
          <a:p>
            <a:pPr indent="0" marL="0">
              <a:spcAft>
                <a:spcPts val="400"/>
              </a:spcAft>
              <a:buNone/>
            </a:pPr>
            <a:r>
              <a:rPr lang="en-US" sz="1050" dirty="0">
                <a:solidFill>
                  <a:srgbClr val="52706D"/>
                </a:solidFill>
                <a:latin typeface="Calibri" pitchFamily="34" charset="0"/>
                <a:ea typeface="Calibri" pitchFamily="34" charset="-122"/>
                <a:cs typeface="Calibri" pitchFamily="34" charset="-120"/>
              </a:rPr>
              <a:t>Johnson, Inglebret, Jones &amp; Ray, 2006 · survei</a:t>
            </a:r>
            <a:endParaRPr lang="en-US" sz="1600" dirty="0"/>
          </a:p>
        </p:txBody>
      </p:sp>
      <p:sp>
        <p:nvSpPr>
          <p:cNvPr id="21" name="Shape 17"/>
          <p:cNvSpPr/>
          <p:nvPr/>
        </p:nvSpPr>
        <p:spPr>
          <a:xfrm>
            <a:off x="7589520" y="1783080"/>
            <a:ext cx="4053535" cy="4114800"/>
          </a:xfrm>
          <a:prstGeom prst="roundRect">
            <a:avLst>
              <a:gd name="adj" fmla="val 3158"/>
            </a:avLst>
          </a:prstGeom>
          <a:solidFill>
            <a:srgbClr val="098277"/>
          </a:solidFill>
          <a:ln w="12700">
            <a:solidFill>
              <a:srgbClr val="098277"/>
            </a:solidFill>
            <a:prstDash val="solid"/>
          </a:ln>
        </p:spPr>
      </p:sp>
      <p:sp>
        <p:nvSpPr>
          <p:cNvPr id="22" name="Text 18"/>
          <p:cNvSpPr/>
          <p:nvPr/>
        </p:nvSpPr>
        <p:spPr>
          <a:xfrm>
            <a:off x="7863840" y="1938528"/>
            <a:ext cx="3504895" cy="274320"/>
          </a:xfrm>
          <a:prstGeom prst="rect">
            <a:avLst/>
          </a:prstGeom>
          <a:noFill/>
          <a:ln/>
        </p:spPr>
        <p:txBody>
          <a:bodyPr wrap="square" lIns="0" tIns="0" rIns="0" bIns="0" rtlCol="0" anchor="ctr"/>
          <a:lstStyle/>
          <a:p>
            <a:pPr indent="0" marL="0">
              <a:buNone/>
            </a:pPr>
            <a:r>
              <a:rPr lang="en-US" sz="1050" b="1" spc="200" kern="0" dirty="0">
                <a:solidFill>
                  <a:srgbClr val="A0DDD7"/>
                </a:solidFill>
                <a:latin typeface="Calibri" pitchFamily="34" charset="0"/>
                <a:ea typeface="Calibri" pitchFamily="34" charset="-122"/>
                <a:cs typeface="Calibri" pitchFamily="34" charset="-120"/>
              </a:rPr>
              <a:t>AKAR MASALAH</a:t>
            </a:r>
            <a:endParaRPr lang="en-US" sz="1050" dirty="0"/>
          </a:p>
        </p:txBody>
      </p:sp>
      <p:sp>
        <p:nvSpPr>
          <p:cNvPr id="23" name="Text 19"/>
          <p:cNvSpPr/>
          <p:nvPr/>
        </p:nvSpPr>
        <p:spPr>
          <a:xfrm>
            <a:off x="7863840" y="2286000"/>
            <a:ext cx="3504895" cy="512064"/>
          </a:xfrm>
          <a:prstGeom prst="roundRect">
            <a:avLst>
              <a:gd name="adj" fmla="val 14286"/>
            </a:avLst>
          </a:prstGeom>
          <a:solidFill>
            <a:srgbClr val="DFF6F3"/>
          </a:solidFill>
          <a:ln>
            <a:solidFill>
              <a:srgbClr val="DFF6F3"/>
            </a:solidFill>
          </a:ln>
        </p:spPr>
        <p:txBody>
          <a:bodyPr wrap="square" lIns="76200" tIns="76200" rIns="76200" bIns="76200" rtlCol="0" anchor="ctr"/>
          <a:lstStyle/>
          <a:p>
            <a:pPr indent="0" marL="0">
              <a:buNone/>
            </a:pPr>
            <a:r>
              <a:rPr lang="en-US" sz="1250" b="1" dirty="0">
                <a:solidFill>
                  <a:srgbClr val="172C2A"/>
                </a:solidFill>
                <a:latin typeface="Calibri" pitchFamily="34" charset="0"/>
                <a:ea typeface="Calibri" pitchFamily="34" charset="-122"/>
                <a:cs typeface="Calibri" pitchFamily="34" charset="-120"/>
              </a:rPr>
              <a:t>Anak diberi papan AAC</a:t>
            </a:r>
            <a:endParaRPr lang="en-US" sz="1250" dirty="0"/>
          </a:p>
        </p:txBody>
      </p:sp>
      <p:sp>
        <p:nvSpPr>
          <p:cNvPr id="24" name="Text 20"/>
          <p:cNvSpPr/>
          <p:nvPr/>
        </p:nvSpPr>
        <p:spPr>
          <a:xfrm>
            <a:off x="7863840" y="2798064"/>
            <a:ext cx="3504895" cy="201168"/>
          </a:xfrm>
          <a:prstGeom prst="rect">
            <a:avLst/>
          </a:prstGeom>
          <a:noFill/>
          <a:ln/>
        </p:spPr>
        <p:txBody>
          <a:bodyPr wrap="square" lIns="0" tIns="0" rIns="0" bIns="0" rtlCol="0" anchor="ctr"/>
          <a:lstStyle/>
          <a:p>
            <a:pPr algn="ctr" indent="0" marL="0">
              <a:buNone/>
            </a:pPr>
            <a:r>
              <a:rPr lang="en-US" sz="1200" b="1" dirty="0">
                <a:solidFill>
                  <a:srgbClr val="A0DDD7"/>
                </a:solidFill>
                <a:latin typeface="Calibri" pitchFamily="34" charset="0"/>
                <a:ea typeface="Calibri" pitchFamily="34" charset="-122"/>
                <a:cs typeface="Calibri" pitchFamily="34" charset="-120"/>
              </a:rPr>
              <a:t>↓</a:t>
            </a:r>
            <a:endParaRPr lang="en-US" sz="1200" dirty="0"/>
          </a:p>
        </p:txBody>
      </p:sp>
      <p:sp>
        <p:nvSpPr>
          <p:cNvPr id="25" name="Text 21"/>
          <p:cNvSpPr/>
          <p:nvPr/>
        </p:nvSpPr>
        <p:spPr>
          <a:xfrm>
            <a:off x="7863840" y="2999232"/>
            <a:ext cx="3504895" cy="512064"/>
          </a:xfrm>
          <a:prstGeom prst="roundRect">
            <a:avLst>
              <a:gd name="adj" fmla="val 14286"/>
            </a:avLst>
          </a:prstGeom>
          <a:solidFill>
            <a:srgbClr val="DFF6F3"/>
          </a:solidFill>
          <a:ln>
            <a:solidFill>
              <a:srgbClr val="DFF6F3"/>
            </a:solidFill>
          </a:ln>
        </p:spPr>
        <p:txBody>
          <a:bodyPr wrap="square" lIns="76200" tIns="76200" rIns="76200" bIns="76200" rtlCol="0" anchor="ctr"/>
          <a:lstStyle/>
          <a:p>
            <a:pPr indent="0" marL="0">
              <a:buNone/>
            </a:pPr>
            <a:r>
              <a:rPr lang="en-US" sz="1250" b="1" dirty="0">
                <a:solidFill>
                  <a:srgbClr val="172C2A"/>
                </a:solidFill>
                <a:latin typeface="Calibri" pitchFamily="34" charset="0"/>
                <a:ea typeface="Calibri" pitchFamily="34" charset="-122"/>
                <a:cs typeface="Calibri" pitchFamily="34" charset="-120"/>
              </a:rPr>
              <a:t>Keluarga tidak pernah dilatih memberi contoh di papan</a:t>
            </a:r>
            <a:endParaRPr lang="en-US" sz="1250" dirty="0"/>
          </a:p>
        </p:txBody>
      </p:sp>
      <p:sp>
        <p:nvSpPr>
          <p:cNvPr id="26" name="Text 22"/>
          <p:cNvSpPr/>
          <p:nvPr/>
        </p:nvSpPr>
        <p:spPr>
          <a:xfrm>
            <a:off x="7863840" y="3511296"/>
            <a:ext cx="3504895" cy="201168"/>
          </a:xfrm>
          <a:prstGeom prst="rect">
            <a:avLst/>
          </a:prstGeom>
          <a:noFill/>
          <a:ln/>
        </p:spPr>
        <p:txBody>
          <a:bodyPr wrap="square" lIns="0" tIns="0" rIns="0" bIns="0" rtlCol="0" anchor="ctr"/>
          <a:lstStyle/>
          <a:p>
            <a:pPr algn="ctr" indent="0" marL="0">
              <a:buNone/>
            </a:pPr>
            <a:r>
              <a:rPr lang="en-US" sz="1200" b="1" dirty="0">
                <a:solidFill>
                  <a:srgbClr val="A0DDD7"/>
                </a:solidFill>
                <a:latin typeface="Calibri" pitchFamily="34" charset="0"/>
                <a:ea typeface="Calibri" pitchFamily="34" charset="-122"/>
                <a:cs typeface="Calibri" pitchFamily="34" charset="-120"/>
              </a:rPr>
              <a:t>↓</a:t>
            </a:r>
            <a:endParaRPr lang="en-US" sz="1200" dirty="0"/>
          </a:p>
        </p:txBody>
      </p:sp>
      <p:sp>
        <p:nvSpPr>
          <p:cNvPr id="27" name="Text 23"/>
          <p:cNvSpPr/>
          <p:nvPr/>
        </p:nvSpPr>
        <p:spPr>
          <a:xfrm>
            <a:off x="7863840" y="3712464"/>
            <a:ext cx="3504895" cy="512064"/>
          </a:xfrm>
          <a:prstGeom prst="roundRect">
            <a:avLst>
              <a:gd name="adj" fmla="val 14286"/>
            </a:avLst>
          </a:prstGeom>
          <a:solidFill>
            <a:srgbClr val="DFF6F3"/>
          </a:solidFill>
          <a:ln>
            <a:solidFill>
              <a:srgbClr val="DFF6F3"/>
            </a:solidFill>
          </a:ln>
        </p:spPr>
        <p:txBody>
          <a:bodyPr wrap="square" lIns="76200" tIns="76200" rIns="76200" bIns="76200" rtlCol="0" anchor="ctr"/>
          <a:lstStyle/>
          <a:p>
            <a:pPr indent="0" marL="0">
              <a:buNone/>
            </a:pPr>
            <a:r>
              <a:rPr lang="en-US" sz="1250" b="1" dirty="0">
                <a:solidFill>
                  <a:srgbClr val="172C2A"/>
                </a:solidFill>
                <a:latin typeface="Calibri" pitchFamily="34" charset="0"/>
                <a:ea typeface="Calibri" pitchFamily="34" charset="-122"/>
                <a:cs typeface="Calibri" pitchFamily="34" charset="-120"/>
              </a:rPr>
              <a:t>Terapis tidak melihat apa yang terjadi di rumah di antara sesi</a:t>
            </a:r>
            <a:endParaRPr lang="en-US" sz="1250" dirty="0"/>
          </a:p>
        </p:txBody>
      </p:sp>
      <p:sp>
        <p:nvSpPr>
          <p:cNvPr id="28" name="Text 24"/>
          <p:cNvSpPr/>
          <p:nvPr/>
        </p:nvSpPr>
        <p:spPr>
          <a:xfrm>
            <a:off x="7863840" y="4224528"/>
            <a:ext cx="3504895" cy="201168"/>
          </a:xfrm>
          <a:prstGeom prst="rect">
            <a:avLst/>
          </a:prstGeom>
          <a:noFill/>
          <a:ln/>
        </p:spPr>
        <p:txBody>
          <a:bodyPr wrap="square" lIns="0" tIns="0" rIns="0" bIns="0" rtlCol="0" anchor="ctr"/>
          <a:lstStyle/>
          <a:p>
            <a:pPr algn="ctr" indent="0" marL="0">
              <a:buNone/>
            </a:pPr>
            <a:r>
              <a:rPr lang="en-US" sz="1200" b="1" dirty="0">
                <a:solidFill>
                  <a:srgbClr val="A0DDD7"/>
                </a:solidFill>
                <a:latin typeface="Calibri" pitchFamily="34" charset="0"/>
                <a:ea typeface="Calibri" pitchFamily="34" charset="-122"/>
                <a:cs typeface="Calibri" pitchFamily="34" charset="-120"/>
              </a:rPr>
              <a:t>↓</a:t>
            </a:r>
            <a:endParaRPr lang="en-US" sz="1200" dirty="0"/>
          </a:p>
        </p:txBody>
      </p:sp>
      <p:sp>
        <p:nvSpPr>
          <p:cNvPr id="29" name="Text 25"/>
          <p:cNvSpPr/>
          <p:nvPr/>
        </p:nvSpPr>
        <p:spPr>
          <a:xfrm>
            <a:off x="7863840" y="4425696"/>
            <a:ext cx="3504895" cy="512064"/>
          </a:xfrm>
          <a:prstGeom prst="roundRect">
            <a:avLst>
              <a:gd name="adj" fmla="val 14286"/>
            </a:avLst>
          </a:prstGeom>
          <a:solidFill>
            <a:srgbClr val="D34349"/>
          </a:solidFill>
          <a:ln>
            <a:solidFill>
              <a:srgbClr val="D34349"/>
            </a:solidFill>
          </a:ln>
        </p:spPr>
        <p:txBody>
          <a:bodyPr wrap="square" lIns="76200" tIns="76200" rIns="76200" bIns="7620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Papan ditinggalkan</a:t>
            </a:r>
            <a:endParaRPr lang="en-US" sz="1250" dirty="0"/>
          </a:p>
        </p:txBody>
      </p:sp>
      <p:sp>
        <p:nvSpPr>
          <p:cNvPr id="30" name="Text 26"/>
          <p:cNvSpPr/>
          <p:nvPr/>
        </p:nvSpPr>
        <p:spPr>
          <a:xfrm>
            <a:off x="7863840" y="5074920"/>
            <a:ext cx="3504895" cy="658368"/>
          </a:xfrm>
          <a:prstGeom prst="rect">
            <a:avLst/>
          </a:prstGeom>
          <a:noFill/>
          <a:ln/>
        </p:spPr>
        <p:txBody>
          <a:bodyPr wrap="square" lIns="0" tIns="0" rIns="0" bIns="0" rtlCol="0" anchor="ctr"/>
          <a:lstStyle/>
          <a:p>
            <a:pPr indent="0" marL="0">
              <a:buNone/>
            </a:pPr>
            <a:r>
              <a:rPr lang="en-US" sz="1450" b="1" i="1" dirty="0">
                <a:solidFill>
                  <a:srgbClr val="FFFFFF"/>
                </a:solidFill>
                <a:latin typeface="Trebuchet MS" pitchFamily="34" charset="0"/>
                <a:ea typeface="Trebuchet MS" pitchFamily="34" charset="-122"/>
                <a:cs typeface="Trebuchet MS" pitchFamily="34" charset="-120"/>
              </a:rPr>
              <a:t>Masalahnya bukan papannya, tapi loop di sekelilingnya.</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SOLUSI YANG SUDAH ADA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solusi sudah kuat di satu bagian. Celahnya ada di antara fitur.</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4</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Fitur kompetitor diringkas dari dokumentasi publik masing-masing produk. Kami tidak menjatuhkan solusi lain; kami menunjukkan bagian yang belum menyatu.</a:t>
            </a:r>
            <a:endParaRPr lang="en-US" sz="850" dirty="0"/>
          </a:p>
        </p:txBody>
      </p:sp>
      <p:sp>
        <p:nvSpPr>
          <p:cNvPr id="12" name="Shape 8"/>
          <p:cNvSpPr/>
          <p:nvPr/>
        </p:nvSpPr>
        <p:spPr>
          <a:xfrm>
            <a:off x="548640" y="1783080"/>
            <a:ext cx="2602154" cy="2514600"/>
          </a:xfrm>
          <a:prstGeom prst="roundRect">
            <a:avLst>
              <a:gd name="adj" fmla="val 4364"/>
            </a:avLst>
          </a:prstGeom>
          <a:solidFill>
            <a:srgbClr val="FFFFFF"/>
          </a:solidFill>
          <a:ln w="9525">
            <a:solidFill>
              <a:srgbClr val="DCEEEC"/>
            </a:solidFill>
            <a:prstDash val="solid"/>
          </a:ln>
        </p:spPr>
      </p:sp>
      <p:sp>
        <p:nvSpPr>
          <p:cNvPr id="13" name="Text 9"/>
          <p:cNvSpPr/>
          <p:nvPr/>
        </p:nvSpPr>
        <p:spPr>
          <a:xfrm>
            <a:off x="777240"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BerKata</a:t>
            </a:r>
            <a:endParaRPr lang="en-US" sz="1800" dirty="0"/>
          </a:p>
        </p:txBody>
      </p:sp>
      <p:sp>
        <p:nvSpPr>
          <p:cNvPr id="14" name="Text 10"/>
          <p:cNvSpPr/>
          <p:nvPr/>
        </p:nvSpPr>
        <p:spPr>
          <a:xfrm>
            <a:off x="777240"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15" name="Text 11"/>
          <p:cNvSpPr/>
          <p:nvPr/>
        </p:nvSpPr>
        <p:spPr>
          <a:xfrm>
            <a:off x="777240"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AAC Bahasa Indonesia, kartu visual, kartu kustom</a:t>
            </a:r>
            <a:endParaRPr lang="en-US" sz="1250" dirty="0"/>
          </a:p>
        </p:txBody>
      </p:sp>
      <p:sp>
        <p:nvSpPr>
          <p:cNvPr id="16" name="Shape 12"/>
          <p:cNvSpPr/>
          <p:nvPr/>
        </p:nvSpPr>
        <p:spPr>
          <a:xfrm>
            <a:off x="777240" y="3364992"/>
            <a:ext cx="2144954" cy="0"/>
          </a:xfrm>
          <a:prstGeom prst="line">
            <a:avLst/>
          </a:prstGeom>
          <a:noFill/>
          <a:ln w="12700">
            <a:solidFill>
              <a:srgbClr val="DCEEEC"/>
            </a:solidFill>
            <a:prstDash val="solid"/>
          </a:ln>
        </p:spPr>
      </p:sp>
      <p:sp>
        <p:nvSpPr>
          <p:cNvPr id="17" name="Text 13"/>
          <p:cNvSpPr/>
          <p:nvPr/>
        </p:nvSpPr>
        <p:spPr>
          <a:xfrm>
            <a:off x="777240"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18" name="Text 14"/>
          <p:cNvSpPr/>
          <p:nvPr/>
        </p:nvSpPr>
        <p:spPr>
          <a:xfrm>
            <a:off x="777240"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belum menjadi loop keluarga ↔ terapis</a:t>
            </a:r>
            <a:endParaRPr lang="en-US" sz="1200" dirty="0"/>
          </a:p>
        </p:txBody>
      </p:sp>
      <p:sp>
        <p:nvSpPr>
          <p:cNvPr id="19" name="Shape 15"/>
          <p:cNvSpPr/>
          <p:nvPr/>
        </p:nvSpPr>
        <p:spPr>
          <a:xfrm>
            <a:off x="3379394" y="1783080"/>
            <a:ext cx="2602154" cy="2514600"/>
          </a:xfrm>
          <a:prstGeom prst="roundRect">
            <a:avLst>
              <a:gd name="adj" fmla="val 4364"/>
            </a:avLst>
          </a:prstGeom>
          <a:solidFill>
            <a:srgbClr val="FFFFFF"/>
          </a:solidFill>
          <a:ln w="9525">
            <a:solidFill>
              <a:srgbClr val="DCEEEC"/>
            </a:solidFill>
            <a:prstDash val="solid"/>
          </a:ln>
        </p:spPr>
      </p:sp>
      <p:sp>
        <p:nvSpPr>
          <p:cNvPr id="20" name="Text 16"/>
          <p:cNvSpPr/>
          <p:nvPr/>
        </p:nvSpPr>
        <p:spPr>
          <a:xfrm>
            <a:off x="3607994"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Jellow</a:t>
            </a:r>
            <a:endParaRPr lang="en-US" sz="1800" dirty="0"/>
          </a:p>
        </p:txBody>
      </p:sp>
      <p:sp>
        <p:nvSpPr>
          <p:cNvPr id="21" name="Text 17"/>
          <p:cNvSpPr/>
          <p:nvPr/>
        </p:nvSpPr>
        <p:spPr>
          <a:xfrm>
            <a:off x="3607994"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22" name="Text 18"/>
          <p:cNvSpPr/>
          <p:nvPr/>
        </p:nvSpPr>
        <p:spPr>
          <a:xfrm>
            <a:off x="3607994"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Gratis, luring, ringan untuk perangkat sederhana</a:t>
            </a:r>
            <a:endParaRPr lang="en-US" sz="1250" dirty="0"/>
          </a:p>
        </p:txBody>
      </p:sp>
      <p:sp>
        <p:nvSpPr>
          <p:cNvPr id="23" name="Shape 19"/>
          <p:cNvSpPr/>
          <p:nvPr/>
        </p:nvSpPr>
        <p:spPr>
          <a:xfrm>
            <a:off x="3607994" y="3364992"/>
            <a:ext cx="2144954" cy="0"/>
          </a:xfrm>
          <a:prstGeom prst="line">
            <a:avLst/>
          </a:prstGeom>
          <a:noFill/>
          <a:ln w="12700">
            <a:solidFill>
              <a:srgbClr val="DCEEEC"/>
            </a:solidFill>
            <a:prstDash val="solid"/>
          </a:ln>
        </p:spPr>
      </p:sp>
      <p:sp>
        <p:nvSpPr>
          <p:cNvPr id="24" name="Text 20"/>
          <p:cNvSpPr/>
          <p:nvPr/>
        </p:nvSpPr>
        <p:spPr>
          <a:xfrm>
            <a:off x="3607994"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25" name="Text 21"/>
          <p:cNvSpPr/>
          <p:nvPr/>
        </p:nvSpPr>
        <p:spPr>
          <a:xfrm>
            <a:off x="3607994"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tanpa alur data rumah → terapis jangka panjang</a:t>
            </a:r>
            <a:endParaRPr lang="en-US" sz="1200" dirty="0"/>
          </a:p>
        </p:txBody>
      </p:sp>
      <p:sp>
        <p:nvSpPr>
          <p:cNvPr id="26" name="Shape 22"/>
          <p:cNvSpPr/>
          <p:nvPr/>
        </p:nvSpPr>
        <p:spPr>
          <a:xfrm>
            <a:off x="6210148" y="1783080"/>
            <a:ext cx="2602154" cy="2514600"/>
          </a:xfrm>
          <a:prstGeom prst="roundRect">
            <a:avLst>
              <a:gd name="adj" fmla="val 4364"/>
            </a:avLst>
          </a:prstGeom>
          <a:solidFill>
            <a:srgbClr val="FFFFFF"/>
          </a:solidFill>
          <a:ln w="9525">
            <a:solidFill>
              <a:srgbClr val="DCEEEC"/>
            </a:solidFill>
            <a:prstDash val="solid"/>
          </a:ln>
        </p:spPr>
      </p:sp>
      <p:sp>
        <p:nvSpPr>
          <p:cNvPr id="27" name="Text 23"/>
          <p:cNvSpPr/>
          <p:nvPr/>
        </p:nvSpPr>
        <p:spPr>
          <a:xfrm>
            <a:off x="6438748"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Avaz</a:t>
            </a:r>
            <a:endParaRPr lang="en-US" sz="1800" dirty="0"/>
          </a:p>
        </p:txBody>
      </p:sp>
      <p:sp>
        <p:nvSpPr>
          <p:cNvPr id="28" name="Text 24"/>
          <p:cNvSpPr/>
          <p:nvPr/>
        </p:nvSpPr>
        <p:spPr>
          <a:xfrm>
            <a:off x="6438748"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29" name="Text 25"/>
          <p:cNvSpPr/>
          <p:nvPr/>
        </p:nvSpPr>
        <p:spPr>
          <a:xfrm>
            <a:off x="6438748"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Kustomisasi, motor planning, audio kustom, materi pendamping</a:t>
            </a:r>
            <a:endParaRPr lang="en-US" sz="1250" dirty="0"/>
          </a:p>
        </p:txBody>
      </p:sp>
      <p:sp>
        <p:nvSpPr>
          <p:cNvPr id="30" name="Shape 26"/>
          <p:cNvSpPr/>
          <p:nvPr/>
        </p:nvSpPr>
        <p:spPr>
          <a:xfrm>
            <a:off x="6438748" y="3364992"/>
            <a:ext cx="2144954" cy="0"/>
          </a:xfrm>
          <a:prstGeom prst="line">
            <a:avLst/>
          </a:prstGeom>
          <a:noFill/>
          <a:ln w="12700">
            <a:solidFill>
              <a:srgbClr val="DCEEEC"/>
            </a:solidFill>
            <a:prstDash val="solid"/>
          </a:ln>
        </p:spPr>
      </p:sp>
      <p:sp>
        <p:nvSpPr>
          <p:cNvPr id="31" name="Text 27"/>
          <p:cNvSpPr/>
          <p:nvPr/>
        </p:nvSpPr>
        <p:spPr>
          <a:xfrm>
            <a:off x="6438748"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32" name="Text 28"/>
          <p:cNvSpPr/>
          <p:nvPr/>
        </p:nvSpPr>
        <p:spPr>
          <a:xfrm>
            <a:off x="6438748"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belum Indonesia-first dan luring-pertama</a:t>
            </a:r>
            <a:endParaRPr lang="en-US" sz="1200" dirty="0"/>
          </a:p>
        </p:txBody>
      </p:sp>
      <p:sp>
        <p:nvSpPr>
          <p:cNvPr id="33" name="Shape 29"/>
          <p:cNvSpPr/>
          <p:nvPr/>
        </p:nvSpPr>
        <p:spPr>
          <a:xfrm>
            <a:off x="9040901" y="1783080"/>
            <a:ext cx="2602154" cy="2514600"/>
          </a:xfrm>
          <a:prstGeom prst="roundRect">
            <a:avLst>
              <a:gd name="adj" fmla="val 4364"/>
            </a:avLst>
          </a:prstGeom>
          <a:solidFill>
            <a:srgbClr val="FFFFFF"/>
          </a:solidFill>
          <a:ln w="9525">
            <a:solidFill>
              <a:srgbClr val="DCEEEC"/>
            </a:solidFill>
            <a:prstDash val="solid"/>
          </a:ln>
        </p:spPr>
      </p:sp>
      <p:sp>
        <p:nvSpPr>
          <p:cNvPr id="34" name="Text 30"/>
          <p:cNvSpPr/>
          <p:nvPr/>
        </p:nvSpPr>
        <p:spPr>
          <a:xfrm>
            <a:off x="9269501" y="1920240"/>
            <a:ext cx="2144954" cy="411480"/>
          </a:xfrm>
          <a:prstGeom prst="rect">
            <a:avLst/>
          </a:prstGeom>
          <a:noFill/>
          <a:ln/>
        </p:spPr>
        <p:txBody>
          <a:bodyPr wrap="square" lIns="0" tIns="0" rIns="0" bIns="0" rtlCol="0" anchor="ctr"/>
          <a:lstStyle/>
          <a:p>
            <a:pPr indent="0" marL="0">
              <a:buNone/>
            </a:pPr>
            <a:r>
              <a:rPr lang="en-US" sz="1800" b="1" dirty="0">
                <a:solidFill>
                  <a:srgbClr val="172C2A"/>
                </a:solidFill>
                <a:latin typeface="Trebuchet MS" pitchFamily="34" charset="0"/>
                <a:ea typeface="Trebuchet MS" pitchFamily="34" charset="-122"/>
                <a:cs typeface="Trebuchet MS" pitchFamily="34" charset="-120"/>
              </a:rPr>
              <a:t>CoughDrop</a:t>
            </a:r>
            <a:endParaRPr lang="en-US" sz="1800" dirty="0"/>
          </a:p>
        </p:txBody>
      </p:sp>
      <p:sp>
        <p:nvSpPr>
          <p:cNvPr id="35" name="Text 31"/>
          <p:cNvSpPr/>
          <p:nvPr/>
        </p:nvSpPr>
        <p:spPr>
          <a:xfrm>
            <a:off x="9269501" y="2377440"/>
            <a:ext cx="2144954" cy="201168"/>
          </a:xfrm>
          <a:prstGeom prst="rect">
            <a:avLst/>
          </a:prstGeom>
          <a:noFill/>
          <a:ln/>
        </p:spPr>
        <p:txBody>
          <a:bodyPr wrap="square" lIns="0" tIns="0" rIns="0" bIns="0" rtlCol="0" anchor="ctr"/>
          <a:lstStyle/>
          <a:p>
            <a:pPr indent="0" marL="0">
              <a:buNone/>
            </a:pPr>
            <a:r>
              <a:rPr lang="en-US" sz="900" b="1" spc="150" kern="0" dirty="0">
                <a:solidFill>
                  <a:srgbClr val="026E65"/>
                </a:solidFill>
                <a:latin typeface="Calibri" pitchFamily="34" charset="0"/>
                <a:ea typeface="Calibri" pitchFamily="34" charset="-122"/>
                <a:cs typeface="Calibri" pitchFamily="34" charset="-120"/>
              </a:rPr>
              <a:t>KUAT DI</a:t>
            </a:r>
            <a:endParaRPr lang="en-US" sz="900" dirty="0"/>
          </a:p>
        </p:txBody>
      </p:sp>
      <p:sp>
        <p:nvSpPr>
          <p:cNvPr id="36" name="Text 32"/>
          <p:cNvSpPr/>
          <p:nvPr/>
        </p:nvSpPr>
        <p:spPr>
          <a:xfrm>
            <a:off x="9269501" y="2578608"/>
            <a:ext cx="2144954" cy="731520"/>
          </a:xfrm>
          <a:prstGeom prst="rect">
            <a:avLst/>
          </a:prstGeom>
          <a:noFill/>
          <a:ln/>
        </p:spPr>
        <p:txBody>
          <a:bodyPr wrap="square" lIns="0" tIns="0" rIns="0" bIns="0" rtlCol="0" anchor="t"/>
          <a:lstStyle/>
          <a:p>
            <a:pPr indent="0" marL="0">
              <a:buNone/>
            </a:pPr>
            <a:r>
              <a:rPr lang="en-US" sz="1250" dirty="0">
                <a:solidFill>
                  <a:srgbClr val="172C2A"/>
                </a:solidFill>
                <a:latin typeface="Calibri" pitchFamily="34" charset="0"/>
                <a:ea typeface="Calibri" pitchFamily="34" charset="-122"/>
                <a:cs typeface="Calibri" pitchFamily="34" charset="-120"/>
              </a:rPr>
              <a:t>Luring, laporan, cadangan cloud, kolaborasi tim</a:t>
            </a:r>
            <a:endParaRPr lang="en-US" sz="1250" dirty="0"/>
          </a:p>
        </p:txBody>
      </p:sp>
      <p:sp>
        <p:nvSpPr>
          <p:cNvPr id="37" name="Shape 33"/>
          <p:cNvSpPr/>
          <p:nvPr/>
        </p:nvSpPr>
        <p:spPr>
          <a:xfrm>
            <a:off x="9269501" y="3364992"/>
            <a:ext cx="2144954" cy="0"/>
          </a:xfrm>
          <a:prstGeom prst="line">
            <a:avLst/>
          </a:prstGeom>
          <a:noFill/>
          <a:ln w="12700">
            <a:solidFill>
              <a:srgbClr val="DCEEEC"/>
            </a:solidFill>
            <a:prstDash val="solid"/>
          </a:ln>
        </p:spPr>
      </p:sp>
      <p:sp>
        <p:nvSpPr>
          <p:cNvPr id="38" name="Text 34"/>
          <p:cNvSpPr/>
          <p:nvPr/>
        </p:nvSpPr>
        <p:spPr>
          <a:xfrm>
            <a:off x="9269501" y="3456432"/>
            <a:ext cx="2144954" cy="201168"/>
          </a:xfrm>
          <a:prstGeom prst="rect">
            <a:avLst/>
          </a:prstGeom>
          <a:noFill/>
          <a:ln/>
        </p:spPr>
        <p:txBody>
          <a:bodyPr wrap="square" lIns="0" tIns="0" rIns="0" bIns="0" rtlCol="0" anchor="ctr"/>
          <a:lstStyle/>
          <a:p>
            <a:pPr indent="0" marL="0">
              <a:buNone/>
            </a:pPr>
            <a:r>
              <a:rPr lang="en-US" sz="900" b="1" spc="150" kern="0" dirty="0">
                <a:solidFill>
                  <a:srgbClr val="C23D42"/>
                </a:solidFill>
                <a:latin typeface="Calibri" pitchFamily="34" charset="0"/>
                <a:ea typeface="Calibri" pitchFamily="34" charset="-122"/>
                <a:cs typeface="Calibri" pitchFamily="34" charset="-120"/>
              </a:rPr>
              <a:t>YANG BELUM</a:t>
            </a:r>
            <a:endParaRPr lang="en-US" sz="900" dirty="0"/>
          </a:p>
        </p:txBody>
      </p:sp>
      <p:sp>
        <p:nvSpPr>
          <p:cNvPr id="39" name="Text 35"/>
          <p:cNvSpPr/>
          <p:nvPr/>
        </p:nvSpPr>
        <p:spPr>
          <a:xfrm>
            <a:off x="9269501" y="3657600"/>
            <a:ext cx="2144954" cy="566928"/>
          </a:xfrm>
          <a:prstGeom prst="rect">
            <a:avLst/>
          </a:prstGeom>
          <a:noFill/>
          <a:ln/>
        </p:spPr>
        <p:txBody>
          <a:bodyPr wrap="square" lIns="0" tIns="0" rIns="0" bIns="0" rtlCol="0" anchor="t"/>
          <a:lstStyle/>
          <a:p>
            <a:pPr indent="0" marL="0">
              <a:buNone/>
            </a:pPr>
            <a:r>
              <a:rPr lang="en-US" sz="1200" dirty="0">
                <a:solidFill>
                  <a:srgbClr val="52706D"/>
                </a:solidFill>
                <a:latin typeface="Calibri" pitchFamily="34" charset="0"/>
                <a:ea typeface="Calibri" pitchFamily="34" charset="-122"/>
                <a:cs typeface="Calibri" pitchFamily="34" charset="-120"/>
              </a:rPr>
              <a:t>tanpa misi pendamping harian dan persetujuan keluarga eksplisit</a:t>
            </a:r>
            <a:endParaRPr lang="en-US" sz="1200" dirty="0"/>
          </a:p>
        </p:txBody>
      </p:sp>
      <p:sp>
        <p:nvSpPr>
          <p:cNvPr id="40" name="Shape 36"/>
          <p:cNvSpPr/>
          <p:nvPr/>
        </p:nvSpPr>
        <p:spPr>
          <a:xfrm>
            <a:off x="548640" y="4526280"/>
            <a:ext cx="11094415" cy="1371600"/>
          </a:xfrm>
          <a:prstGeom prst="roundRect">
            <a:avLst>
              <a:gd name="adj" fmla="val 8000"/>
            </a:avLst>
          </a:prstGeom>
          <a:solidFill>
            <a:srgbClr val="FFFFFF"/>
          </a:solidFill>
          <a:ln w="9525">
            <a:solidFill>
              <a:srgbClr val="DCEEEC"/>
            </a:solidFill>
            <a:prstDash val="solid"/>
          </a:ln>
        </p:spPr>
      </p:sp>
      <p:sp>
        <p:nvSpPr>
          <p:cNvPr id="41" name="Text 37"/>
          <p:cNvSpPr/>
          <p:nvPr/>
        </p:nvSpPr>
        <p:spPr>
          <a:xfrm>
            <a:off x="822960" y="4645152"/>
            <a:ext cx="7315200"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YANG HARUS MENYATU DALAM SATU ALUR</a:t>
            </a:r>
            <a:endParaRPr lang="en-US" sz="1000" dirty="0"/>
          </a:p>
        </p:txBody>
      </p:sp>
      <p:sp>
        <p:nvSpPr>
          <p:cNvPr id="42" name="Text 38"/>
          <p:cNvSpPr/>
          <p:nvPr/>
        </p:nvSpPr>
        <p:spPr>
          <a:xfrm>
            <a:off x="822960" y="4983480"/>
            <a:ext cx="178308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AAC Bahasa Indonesia</a:t>
            </a:r>
            <a:endParaRPr lang="en-US" sz="1050" dirty="0"/>
          </a:p>
        </p:txBody>
      </p:sp>
      <p:sp>
        <p:nvSpPr>
          <p:cNvPr id="43" name="Text 39"/>
          <p:cNvSpPr/>
          <p:nvPr/>
        </p:nvSpPr>
        <p:spPr>
          <a:xfrm>
            <a:off x="2679192" y="4983480"/>
            <a:ext cx="114300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Luring penuh</a:t>
            </a:r>
            <a:endParaRPr lang="en-US" sz="1050" dirty="0"/>
          </a:p>
        </p:txBody>
      </p:sp>
      <p:sp>
        <p:nvSpPr>
          <p:cNvPr id="44" name="Text 40"/>
          <p:cNvSpPr/>
          <p:nvPr/>
        </p:nvSpPr>
        <p:spPr>
          <a:xfrm>
            <a:off x="3895344" y="4983480"/>
            <a:ext cx="196596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Pelatihan orang tua harian</a:t>
            </a:r>
            <a:endParaRPr lang="en-US" sz="1050" dirty="0"/>
          </a:p>
        </p:txBody>
      </p:sp>
      <p:sp>
        <p:nvSpPr>
          <p:cNvPr id="45" name="Text 41"/>
          <p:cNvSpPr/>
          <p:nvPr/>
        </p:nvSpPr>
        <p:spPr>
          <a:xfrm>
            <a:off x="5934456" y="4983480"/>
            <a:ext cx="187452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Bukti otomatis dari rumah</a:t>
            </a:r>
            <a:endParaRPr lang="en-US" sz="1050" dirty="0"/>
          </a:p>
        </p:txBody>
      </p:sp>
      <p:sp>
        <p:nvSpPr>
          <p:cNvPr id="46" name="Text 42"/>
          <p:cNvSpPr/>
          <p:nvPr/>
        </p:nvSpPr>
        <p:spPr>
          <a:xfrm>
            <a:off x="7882128" y="4983480"/>
            <a:ext cx="182880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Triase terapis beralasan</a:t>
            </a:r>
            <a:endParaRPr lang="en-US" sz="1050" dirty="0"/>
          </a:p>
        </p:txBody>
      </p:sp>
      <p:sp>
        <p:nvSpPr>
          <p:cNvPr id="47" name="Text 43"/>
          <p:cNvSpPr/>
          <p:nvPr/>
        </p:nvSpPr>
        <p:spPr>
          <a:xfrm>
            <a:off x="9784080" y="4983480"/>
            <a:ext cx="1554480" cy="384048"/>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050" b="1" dirty="0">
                <a:solidFill>
                  <a:srgbClr val="026E65"/>
                </a:solidFill>
                <a:latin typeface="Calibri" pitchFamily="34" charset="0"/>
                <a:ea typeface="Calibri" pitchFamily="34" charset="-122"/>
                <a:cs typeface="Calibri" pitchFamily="34" charset="-120"/>
              </a:rPr>
              <a:t>Persetujuan keluarga</a:t>
            </a:r>
            <a:endParaRPr lang="en-US" sz="1050" dirty="0"/>
          </a:p>
        </p:txBody>
      </p:sp>
      <p:sp>
        <p:nvSpPr>
          <p:cNvPr id="48" name="Text 44"/>
          <p:cNvSpPr/>
          <p:nvPr/>
        </p:nvSpPr>
        <p:spPr>
          <a:xfrm>
            <a:off x="822960" y="5440680"/>
            <a:ext cx="10058400" cy="329184"/>
          </a:xfrm>
          <a:prstGeom prst="rect">
            <a:avLst/>
          </a:prstGeom>
          <a:noFill/>
          <a:ln/>
        </p:spPr>
        <p:txBody>
          <a:bodyPr wrap="square" lIns="0" tIns="0" rIns="0" bIns="0" rtlCol="0" anchor="ctr"/>
          <a:lstStyle/>
          <a:p>
            <a:pPr indent="0" marL="0">
              <a:buNone/>
            </a:pPr>
            <a:r>
              <a:rPr lang="en-US" sz="1300" b="1" dirty="0">
                <a:solidFill>
                  <a:srgbClr val="098277"/>
                </a:solidFill>
                <a:latin typeface="Calibri" pitchFamily="34" charset="0"/>
                <a:ea typeface="Calibri" pitchFamily="34" charset="-122"/>
                <a:cs typeface="Calibri" pitchFamily="34" charset="-120"/>
              </a:rPr>
              <a:t>Nyambung </a:t>
            </a:r>
            <a:pPr indent="0" marL="0">
              <a:buNone/>
            </a:pPr>
            <a:r>
              <a:rPr lang="en-US" sz="1300" dirty="0">
                <a:solidFill>
                  <a:srgbClr val="172C2A"/>
                </a:solidFill>
                <a:latin typeface="Calibri" pitchFamily="34" charset="0"/>
                <a:ea typeface="Calibri" pitchFamily="34" charset="-122"/>
                <a:cs typeface="Calibri" pitchFamily="34" charset="-120"/>
              </a:rPr>
              <a:t>menggabungkan keenamnya dalam satu loop luring-pertama.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SOLUSI · NYAMBUNG</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Nyambung bukan sekadar papan AAC: ia menjadikan AAC bahasa bersama satu rumah</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5</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M1–M4: rumusan masalah di proposal Nyambung. Keempat komponen sudah dibangun dan berjalan di repositori Hack Day.</a:t>
            </a:r>
            <a:endParaRPr lang="en-US" sz="850" dirty="0"/>
          </a:p>
        </p:txBody>
      </p:sp>
      <p:sp>
        <p:nvSpPr>
          <p:cNvPr id="12" name="Shape 8"/>
          <p:cNvSpPr/>
          <p:nvPr/>
        </p:nvSpPr>
        <p:spPr>
          <a:xfrm>
            <a:off x="3630168" y="2697480"/>
            <a:ext cx="850392" cy="1737360"/>
          </a:xfrm>
          <a:prstGeom prst="line">
            <a:avLst/>
          </a:prstGeom>
          <a:noFill/>
          <a:ln w="38100">
            <a:solidFill>
              <a:srgbClr val="A0DDD7"/>
            </a:solidFill>
            <a:prstDash val="solid"/>
            <a:tailEnd type="triangle"/>
          </a:ln>
        </p:spPr>
      </p:sp>
      <p:sp>
        <p:nvSpPr>
          <p:cNvPr id="13" name="Shape 9"/>
          <p:cNvSpPr/>
          <p:nvPr/>
        </p:nvSpPr>
        <p:spPr>
          <a:xfrm flipH="1">
            <a:off x="1965960" y="5093208"/>
            <a:ext cx="2194560" cy="914"/>
          </a:xfrm>
          <a:prstGeom prst="line">
            <a:avLst/>
          </a:prstGeom>
          <a:noFill/>
          <a:ln w="38100">
            <a:solidFill>
              <a:srgbClr val="A0DDD7"/>
            </a:solidFill>
            <a:prstDash val="solid"/>
            <a:tailEnd type="triangle"/>
          </a:ln>
        </p:spPr>
      </p:sp>
      <p:sp>
        <p:nvSpPr>
          <p:cNvPr id="14" name="Shape 10"/>
          <p:cNvSpPr/>
          <p:nvPr/>
        </p:nvSpPr>
        <p:spPr>
          <a:xfrm flipV="1">
            <a:off x="1645920" y="2697480"/>
            <a:ext cx="850392" cy="1737360"/>
          </a:xfrm>
          <a:prstGeom prst="line">
            <a:avLst/>
          </a:prstGeom>
          <a:noFill/>
          <a:ln w="38100">
            <a:solidFill>
              <a:srgbClr val="A0DDD7"/>
            </a:solidFill>
            <a:prstDash val="solid"/>
            <a:tailEnd type="triangle"/>
          </a:ln>
        </p:spPr>
      </p:sp>
      <p:sp>
        <p:nvSpPr>
          <p:cNvPr id="15" name="Text 11"/>
          <p:cNvSpPr/>
          <p:nvPr/>
        </p:nvSpPr>
        <p:spPr>
          <a:xfrm>
            <a:off x="4160520" y="3383280"/>
            <a:ext cx="1645920" cy="274320"/>
          </a:xfrm>
          <a:prstGeom prst="rect">
            <a:avLst/>
          </a:prstGeom>
          <a:noFill/>
          <a:ln/>
        </p:spPr>
        <p:txBody>
          <a:bodyPr wrap="square" lIns="0" tIns="0" rIns="0" bIns="0" rtlCol="0" anchor="ctr"/>
          <a:lstStyle/>
          <a:p>
            <a:pPr indent="0" marL="0">
              <a:buNone/>
            </a:pPr>
            <a:r>
              <a:rPr lang="en-US" sz="1050" i="1" dirty="0">
                <a:solidFill>
                  <a:srgbClr val="52706D"/>
                </a:solidFill>
                <a:latin typeface="Calibri" pitchFamily="34" charset="0"/>
                <a:ea typeface="Calibri" pitchFamily="34" charset="-122"/>
                <a:cs typeface="Calibri" pitchFamily="34" charset="-120"/>
              </a:rPr>
              <a:t>ketukan jadi bukti</a:t>
            </a:r>
            <a:endParaRPr lang="en-US" sz="1050" dirty="0"/>
          </a:p>
        </p:txBody>
      </p:sp>
      <p:sp>
        <p:nvSpPr>
          <p:cNvPr id="16" name="Text 12"/>
          <p:cNvSpPr/>
          <p:nvPr/>
        </p:nvSpPr>
        <p:spPr>
          <a:xfrm>
            <a:off x="1874520" y="5230368"/>
            <a:ext cx="2377440" cy="274320"/>
          </a:xfrm>
          <a:prstGeom prst="rect">
            <a:avLst/>
          </a:prstGeom>
          <a:noFill/>
          <a:ln/>
        </p:spPr>
        <p:txBody>
          <a:bodyPr wrap="square" lIns="0" tIns="0" rIns="0" bIns="0" rtlCol="0" anchor="ctr"/>
          <a:lstStyle/>
          <a:p>
            <a:pPr algn="ctr" indent="0" marL="0">
              <a:buNone/>
            </a:pPr>
            <a:r>
              <a:rPr lang="en-US" sz="1050" i="1" dirty="0">
                <a:solidFill>
                  <a:srgbClr val="52706D"/>
                </a:solidFill>
                <a:latin typeface="Calibri" pitchFamily="34" charset="0"/>
                <a:ea typeface="Calibri" pitchFamily="34" charset="-122"/>
                <a:cs typeface="Calibri" pitchFamily="34" charset="-120"/>
              </a:rPr>
              <a:t>usulan kata: terima / tolak</a:t>
            </a:r>
            <a:endParaRPr lang="en-US" sz="1050" dirty="0"/>
          </a:p>
        </p:txBody>
      </p:sp>
      <p:sp>
        <p:nvSpPr>
          <p:cNvPr id="17" name="Text 13"/>
          <p:cNvSpPr/>
          <p:nvPr/>
        </p:nvSpPr>
        <p:spPr>
          <a:xfrm>
            <a:off x="548640" y="3383280"/>
            <a:ext cx="1371600" cy="274320"/>
          </a:xfrm>
          <a:prstGeom prst="rect">
            <a:avLst/>
          </a:prstGeom>
          <a:noFill/>
          <a:ln/>
        </p:spPr>
        <p:txBody>
          <a:bodyPr wrap="square" lIns="0" tIns="0" rIns="0" bIns="0" rtlCol="0" anchor="ctr"/>
          <a:lstStyle/>
          <a:p>
            <a:pPr algn="r" indent="0" marL="0">
              <a:buNone/>
            </a:pPr>
            <a:r>
              <a:rPr lang="en-US" sz="1050" i="1" dirty="0">
                <a:solidFill>
                  <a:srgbClr val="52706D"/>
                </a:solidFill>
                <a:latin typeface="Calibri" pitchFamily="34" charset="0"/>
                <a:ea typeface="Calibri" pitchFamily="34" charset="-122"/>
                <a:cs typeface="Calibri" pitchFamily="34" charset="-120"/>
              </a:rPr>
              <a:t>contoh harian</a:t>
            </a:r>
            <a:endParaRPr lang="en-US" sz="1050" dirty="0"/>
          </a:p>
        </p:txBody>
      </p:sp>
      <p:sp>
        <p:nvSpPr>
          <p:cNvPr id="18" name="Shape 14"/>
          <p:cNvSpPr/>
          <p:nvPr/>
        </p:nvSpPr>
        <p:spPr>
          <a:xfrm>
            <a:off x="2496312" y="1783080"/>
            <a:ext cx="1133856" cy="1133856"/>
          </a:xfrm>
          <a:prstGeom prst="ellipse">
            <a:avLst/>
          </a:prstGeom>
          <a:solidFill>
            <a:srgbClr val="098277"/>
          </a:solidFill>
          <a:ln w="12700">
            <a:solidFill>
              <a:srgbClr val="098277"/>
            </a:solidFill>
            <a:prstDash val="solid"/>
          </a:ln>
        </p:spPr>
      </p:sp>
      <p:pic>
        <p:nvPicPr>
          <p:cNvPr id="19" name="Image 1" descr="preencoded.png">    </p:cNvPr>
          <p:cNvPicPr>
            <a:picLocks noChangeAspect="1"/>
          </p:cNvPicPr>
          <p:nvPr/>
        </p:nvPicPr>
        <p:blipFill>
          <a:blip r:embed="rId2"/>
          <a:stretch>
            <a:fillRect/>
          </a:stretch>
        </p:blipFill>
        <p:spPr>
          <a:xfrm>
            <a:off x="2768437" y="2055205"/>
            <a:ext cx="589605" cy="589605"/>
          </a:xfrm>
          <a:prstGeom prst="rect">
            <a:avLst/>
          </a:prstGeom>
        </p:spPr>
      </p:pic>
      <p:sp>
        <p:nvSpPr>
          <p:cNvPr id="20" name="Text 15"/>
          <p:cNvSpPr/>
          <p:nvPr/>
        </p:nvSpPr>
        <p:spPr>
          <a:xfrm>
            <a:off x="2130552" y="2953512"/>
            <a:ext cx="1865376" cy="292608"/>
          </a:xfrm>
          <a:prstGeom prst="rect">
            <a:avLst/>
          </a:prstGeom>
          <a:noFill/>
          <a:ln/>
        </p:spPr>
        <p:txBody>
          <a:bodyPr wrap="square" lIns="0" tIns="0" rIns="0" bIns="0" rtlCol="0" anchor="ctr"/>
          <a:lstStyle/>
          <a:p>
            <a:pPr algn="ctr" indent="0" marL="0">
              <a:buNone/>
            </a:pPr>
            <a:r>
              <a:rPr lang="en-US" sz="1400" b="1" dirty="0">
                <a:solidFill>
                  <a:srgbClr val="172C2A"/>
                </a:solidFill>
                <a:latin typeface="Trebuchet MS" pitchFamily="34" charset="0"/>
                <a:ea typeface="Trebuchet MS" pitchFamily="34" charset="-122"/>
                <a:cs typeface="Trebuchet MS" pitchFamily="34" charset="-120"/>
              </a:rPr>
              <a:t>Anak</a:t>
            </a:r>
            <a:endParaRPr lang="en-US" sz="1400" dirty="0"/>
          </a:p>
        </p:txBody>
      </p:sp>
      <p:sp>
        <p:nvSpPr>
          <p:cNvPr id="21" name="Shape 16"/>
          <p:cNvSpPr/>
          <p:nvPr/>
        </p:nvSpPr>
        <p:spPr>
          <a:xfrm>
            <a:off x="731520" y="4526280"/>
            <a:ext cx="1133856" cy="1133856"/>
          </a:xfrm>
          <a:prstGeom prst="ellipse">
            <a:avLst/>
          </a:prstGeom>
          <a:solidFill>
            <a:srgbClr val="D34349"/>
          </a:solidFill>
          <a:ln w="12700">
            <a:solidFill>
              <a:srgbClr val="D34349"/>
            </a:solidFill>
            <a:prstDash val="solid"/>
          </a:ln>
        </p:spPr>
      </p:sp>
      <p:pic>
        <p:nvPicPr>
          <p:cNvPr id="22" name="Image 2" descr="preencoded.png">    </p:cNvPr>
          <p:cNvPicPr>
            <a:picLocks noChangeAspect="1"/>
          </p:cNvPicPr>
          <p:nvPr/>
        </p:nvPicPr>
        <p:blipFill>
          <a:blip r:embed="rId3"/>
          <a:stretch>
            <a:fillRect/>
          </a:stretch>
        </p:blipFill>
        <p:spPr>
          <a:xfrm>
            <a:off x="1003645" y="4798405"/>
            <a:ext cx="589605" cy="589605"/>
          </a:xfrm>
          <a:prstGeom prst="rect">
            <a:avLst/>
          </a:prstGeom>
        </p:spPr>
      </p:pic>
      <p:sp>
        <p:nvSpPr>
          <p:cNvPr id="23" name="Text 17"/>
          <p:cNvSpPr/>
          <p:nvPr/>
        </p:nvSpPr>
        <p:spPr>
          <a:xfrm>
            <a:off x="365760" y="5696712"/>
            <a:ext cx="1865376" cy="292608"/>
          </a:xfrm>
          <a:prstGeom prst="rect">
            <a:avLst/>
          </a:prstGeom>
          <a:noFill/>
          <a:ln/>
        </p:spPr>
        <p:txBody>
          <a:bodyPr wrap="square" lIns="0" tIns="0" rIns="0" bIns="0" rtlCol="0" anchor="ctr"/>
          <a:lstStyle/>
          <a:p>
            <a:pPr algn="ctr" indent="0" marL="0">
              <a:buNone/>
            </a:pPr>
            <a:r>
              <a:rPr lang="en-US" sz="1400" b="1" dirty="0">
                <a:solidFill>
                  <a:srgbClr val="172C2A"/>
                </a:solidFill>
                <a:latin typeface="Trebuchet MS" pitchFamily="34" charset="0"/>
                <a:ea typeface="Trebuchet MS" pitchFamily="34" charset="-122"/>
                <a:cs typeface="Trebuchet MS" pitchFamily="34" charset="-120"/>
              </a:rPr>
              <a:t>Keluarga</a:t>
            </a:r>
            <a:endParaRPr lang="en-US" sz="1400" dirty="0"/>
          </a:p>
        </p:txBody>
      </p:sp>
      <p:sp>
        <p:nvSpPr>
          <p:cNvPr id="24" name="Shape 18"/>
          <p:cNvSpPr/>
          <p:nvPr/>
        </p:nvSpPr>
        <p:spPr>
          <a:xfrm>
            <a:off x="4251960" y="4526280"/>
            <a:ext cx="1133856" cy="1133856"/>
          </a:xfrm>
          <a:prstGeom prst="ellipse">
            <a:avLst/>
          </a:prstGeom>
          <a:solidFill>
            <a:srgbClr val="5B57A8"/>
          </a:solidFill>
          <a:ln w="12700">
            <a:solidFill>
              <a:srgbClr val="5B57A8"/>
            </a:solidFill>
            <a:prstDash val="solid"/>
          </a:ln>
        </p:spPr>
      </p:sp>
      <p:pic>
        <p:nvPicPr>
          <p:cNvPr id="25" name="Image 3" descr="preencoded.png">    </p:cNvPr>
          <p:cNvPicPr>
            <a:picLocks noChangeAspect="1"/>
          </p:cNvPicPr>
          <p:nvPr/>
        </p:nvPicPr>
        <p:blipFill>
          <a:blip r:embed="rId4"/>
          <a:stretch>
            <a:fillRect/>
          </a:stretch>
        </p:blipFill>
        <p:spPr>
          <a:xfrm>
            <a:off x="4524085" y="4798405"/>
            <a:ext cx="589605" cy="589605"/>
          </a:xfrm>
          <a:prstGeom prst="rect">
            <a:avLst/>
          </a:prstGeom>
        </p:spPr>
      </p:pic>
      <p:sp>
        <p:nvSpPr>
          <p:cNvPr id="26" name="Text 19"/>
          <p:cNvSpPr/>
          <p:nvPr/>
        </p:nvSpPr>
        <p:spPr>
          <a:xfrm>
            <a:off x="3886200" y="5696712"/>
            <a:ext cx="1865376" cy="292608"/>
          </a:xfrm>
          <a:prstGeom prst="rect">
            <a:avLst/>
          </a:prstGeom>
          <a:noFill/>
          <a:ln/>
        </p:spPr>
        <p:txBody>
          <a:bodyPr wrap="square" lIns="0" tIns="0" rIns="0" bIns="0" rtlCol="0" anchor="ctr"/>
          <a:lstStyle/>
          <a:p>
            <a:pPr algn="ctr" indent="0" marL="0">
              <a:buNone/>
            </a:pPr>
            <a:r>
              <a:rPr lang="en-US" sz="1400" b="1" dirty="0">
                <a:solidFill>
                  <a:srgbClr val="172C2A"/>
                </a:solidFill>
                <a:latin typeface="Trebuchet MS" pitchFamily="34" charset="0"/>
                <a:ea typeface="Trebuchet MS" pitchFamily="34" charset="-122"/>
                <a:cs typeface="Trebuchet MS" pitchFamily="34" charset="-120"/>
              </a:rPr>
              <a:t>Terapis</a:t>
            </a:r>
            <a:endParaRPr lang="en-US" sz="1400" dirty="0"/>
          </a:p>
        </p:txBody>
      </p:sp>
      <p:pic>
        <p:nvPicPr>
          <p:cNvPr id="27" name="Image 4" descr="C:\Users\mikae\OneDrive\Documents\Lomba\IFEST\Nyambung\app\assets\brand\logo_mark.png">    </p:cNvPr>
          <p:cNvPicPr>
            <a:picLocks noChangeAspect="1"/>
          </p:cNvPicPr>
          <p:nvPr/>
        </p:nvPicPr>
        <p:blipFill>
          <a:blip r:embed="rId5"/>
          <a:stretch>
            <a:fillRect/>
          </a:stretch>
        </p:blipFill>
        <p:spPr>
          <a:xfrm>
            <a:off x="2624328" y="3675888"/>
            <a:ext cx="877824" cy="877824"/>
          </a:xfrm>
          <a:prstGeom prst="rect">
            <a:avLst/>
          </a:prstGeom>
        </p:spPr>
      </p:pic>
      <p:sp>
        <p:nvSpPr>
          <p:cNvPr id="28" name="Text 20"/>
          <p:cNvSpPr/>
          <p:nvPr/>
        </p:nvSpPr>
        <p:spPr>
          <a:xfrm>
            <a:off x="1783080" y="5596128"/>
            <a:ext cx="2560320" cy="365760"/>
          </a:xfrm>
          <a:prstGeom prst="rect">
            <a:avLst/>
          </a:prstGeom>
          <a:noFill/>
          <a:ln/>
        </p:spPr>
        <p:txBody>
          <a:bodyPr wrap="square" lIns="0" tIns="0" rIns="0" bIns="0" rtlCol="0" anchor="ctr"/>
          <a:lstStyle/>
          <a:p>
            <a:pPr algn="ctr" indent="0" marL="0">
              <a:buNone/>
            </a:pPr>
            <a:r>
              <a:rPr lang="en-US" sz="1500" b="1" i="1" dirty="0">
                <a:solidFill>
                  <a:srgbClr val="098277"/>
                </a:solidFill>
                <a:latin typeface="Trebuchet MS" pitchFamily="34" charset="0"/>
                <a:ea typeface="Trebuchet MS" pitchFamily="34" charset="-122"/>
                <a:cs typeface="Trebuchet MS" pitchFamily="34" charset="-120"/>
              </a:rPr>
              <a:t>Suara anak, sampai.</a:t>
            </a:r>
            <a:endParaRPr lang="en-US" sz="1500" dirty="0"/>
          </a:p>
        </p:txBody>
      </p:sp>
      <p:sp>
        <p:nvSpPr>
          <p:cNvPr id="29" name="Shape 21"/>
          <p:cNvSpPr/>
          <p:nvPr/>
        </p:nvSpPr>
        <p:spPr>
          <a:xfrm>
            <a:off x="6172200" y="1783080"/>
            <a:ext cx="5470855" cy="932688"/>
          </a:xfrm>
          <a:prstGeom prst="roundRect">
            <a:avLst>
              <a:gd name="adj" fmla="val 11765"/>
            </a:avLst>
          </a:prstGeom>
          <a:solidFill>
            <a:srgbClr val="FFFFFF"/>
          </a:solidFill>
          <a:ln w="9525">
            <a:solidFill>
              <a:srgbClr val="DCEEEC"/>
            </a:solidFill>
            <a:prstDash val="solid"/>
          </a:ln>
        </p:spPr>
      </p:sp>
      <p:sp>
        <p:nvSpPr>
          <p:cNvPr id="30" name="Shape 22"/>
          <p:cNvSpPr/>
          <p:nvPr/>
        </p:nvSpPr>
        <p:spPr>
          <a:xfrm>
            <a:off x="6355080" y="1956816"/>
            <a:ext cx="585216" cy="585216"/>
          </a:xfrm>
          <a:prstGeom prst="ellipse">
            <a:avLst/>
          </a:prstGeom>
          <a:solidFill>
            <a:srgbClr val="098277"/>
          </a:solidFill>
          <a:ln w="12700">
            <a:solidFill>
              <a:srgbClr val="098277"/>
            </a:solidFill>
            <a:prstDash val="solid"/>
          </a:ln>
        </p:spPr>
      </p:sp>
      <p:pic>
        <p:nvPicPr>
          <p:cNvPr id="31" name="Image 5" descr="preencoded.png">    </p:cNvPr>
          <p:cNvPicPr>
            <a:picLocks noChangeAspect="1"/>
          </p:cNvPicPr>
          <p:nvPr/>
        </p:nvPicPr>
        <p:blipFill>
          <a:blip r:embed="rId6"/>
          <a:stretch>
            <a:fillRect/>
          </a:stretch>
        </p:blipFill>
        <p:spPr>
          <a:xfrm>
            <a:off x="6495532" y="2097268"/>
            <a:ext cx="304312" cy="304312"/>
          </a:xfrm>
          <a:prstGeom prst="rect">
            <a:avLst/>
          </a:prstGeom>
        </p:spPr>
      </p:pic>
      <p:sp>
        <p:nvSpPr>
          <p:cNvPr id="32" name="Text 23"/>
          <p:cNvSpPr/>
          <p:nvPr/>
        </p:nvSpPr>
        <p:spPr>
          <a:xfrm>
            <a:off x="7086600" y="1837944"/>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Papan Bicara luring</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12 kata inti berposisi tetap, 120 kata, papan dari foto, suara tanpa internet</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M1 · alat berbahasa Inggris, mahal, butuh internet</a:t>
            </a:r>
            <a:endParaRPr lang="en-US" sz="1450" dirty="0"/>
          </a:p>
        </p:txBody>
      </p:sp>
      <p:sp>
        <p:nvSpPr>
          <p:cNvPr id="33" name="Shape 24"/>
          <p:cNvSpPr/>
          <p:nvPr/>
        </p:nvSpPr>
        <p:spPr>
          <a:xfrm>
            <a:off x="6172200" y="2825496"/>
            <a:ext cx="5470855" cy="932688"/>
          </a:xfrm>
          <a:prstGeom prst="roundRect">
            <a:avLst>
              <a:gd name="adj" fmla="val 11765"/>
            </a:avLst>
          </a:prstGeom>
          <a:solidFill>
            <a:srgbClr val="FFFFFF"/>
          </a:solidFill>
          <a:ln w="9525">
            <a:solidFill>
              <a:srgbClr val="DCEEEC"/>
            </a:solidFill>
            <a:prstDash val="solid"/>
          </a:ln>
        </p:spPr>
      </p:sp>
      <p:sp>
        <p:nvSpPr>
          <p:cNvPr id="34" name="Shape 25"/>
          <p:cNvSpPr/>
          <p:nvPr/>
        </p:nvSpPr>
        <p:spPr>
          <a:xfrm>
            <a:off x="6355080" y="2999232"/>
            <a:ext cx="585216" cy="585216"/>
          </a:xfrm>
          <a:prstGeom prst="ellipse">
            <a:avLst/>
          </a:prstGeom>
          <a:solidFill>
            <a:srgbClr val="D34349"/>
          </a:solidFill>
          <a:ln w="12700">
            <a:solidFill>
              <a:srgbClr val="D34349"/>
            </a:solidFill>
            <a:prstDash val="solid"/>
          </a:ln>
        </p:spPr>
      </p:sp>
      <p:pic>
        <p:nvPicPr>
          <p:cNvPr id="35" name="Image 6" descr="preencoded.png">    </p:cNvPr>
          <p:cNvPicPr>
            <a:picLocks noChangeAspect="1"/>
          </p:cNvPicPr>
          <p:nvPr/>
        </p:nvPicPr>
        <p:blipFill>
          <a:blip r:embed="rId7"/>
          <a:stretch>
            <a:fillRect/>
          </a:stretch>
        </p:blipFill>
        <p:spPr>
          <a:xfrm>
            <a:off x="6495532" y="3139684"/>
            <a:ext cx="304312" cy="304312"/>
          </a:xfrm>
          <a:prstGeom prst="rect">
            <a:avLst/>
          </a:prstGeom>
        </p:spPr>
      </p:pic>
      <p:sp>
        <p:nvSpPr>
          <p:cNvPr id="36" name="Text 26"/>
          <p:cNvSpPr/>
          <p:nvPr/>
        </p:nvSpPr>
        <p:spPr>
          <a:xfrm>
            <a:off x="7086600" y="2880360"/>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Pendamping Harian</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1 pelajaran 60 detik + 1 misi &lt; 5 menit di rutinitas</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M2 · orang tua tidak pernah dilatih memberi contoh</a:t>
            </a:r>
            <a:endParaRPr lang="en-US" sz="1450" dirty="0"/>
          </a:p>
        </p:txBody>
      </p:sp>
      <p:sp>
        <p:nvSpPr>
          <p:cNvPr id="37" name="Shape 27"/>
          <p:cNvSpPr/>
          <p:nvPr/>
        </p:nvSpPr>
        <p:spPr>
          <a:xfrm>
            <a:off x="6172200" y="3867912"/>
            <a:ext cx="5470855" cy="932688"/>
          </a:xfrm>
          <a:prstGeom prst="roundRect">
            <a:avLst>
              <a:gd name="adj" fmla="val 11765"/>
            </a:avLst>
          </a:prstGeom>
          <a:solidFill>
            <a:srgbClr val="FFFFFF"/>
          </a:solidFill>
          <a:ln w="9525">
            <a:solidFill>
              <a:srgbClr val="DCEEEC"/>
            </a:solidFill>
            <a:prstDash val="solid"/>
          </a:ln>
        </p:spPr>
      </p:sp>
      <p:sp>
        <p:nvSpPr>
          <p:cNvPr id="38" name="Shape 28"/>
          <p:cNvSpPr/>
          <p:nvPr/>
        </p:nvSpPr>
        <p:spPr>
          <a:xfrm>
            <a:off x="6355080" y="4041648"/>
            <a:ext cx="585216" cy="585216"/>
          </a:xfrm>
          <a:prstGeom prst="ellipse">
            <a:avLst/>
          </a:prstGeom>
          <a:solidFill>
            <a:srgbClr val="5B57A8"/>
          </a:solidFill>
          <a:ln w="12700">
            <a:solidFill>
              <a:srgbClr val="5B57A8"/>
            </a:solidFill>
            <a:prstDash val="solid"/>
          </a:ln>
        </p:spPr>
      </p:sp>
      <p:pic>
        <p:nvPicPr>
          <p:cNvPr id="39" name="Image 7" descr="preencoded.png">    </p:cNvPr>
          <p:cNvPicPr>
            <a:picLocks noChangeAspect="1"/>
          </p:cNvPicPr>
          <p:nvPr/>
        </p:nvPicPr>
        <p:blipFill>
          <a:blip r:embed="rId8"/>
          <a:stretch>
            <a:fillRect/>
          </a:stretch>
        </p:blipFill>
        <p:spPr>
          <a:xfrm>
            <a:off x="6495532" y="4182100"/>
            <a:ext cx="304312" cy="304312"/>
          </a:xfrm>
          <a:prstGeom prst="rect">
            <a:avLst/>
          </a:prstGeom>
        </p:spPr>
      </p:pic>
      <p:sp>
        <p:nvSpPr>
          <p:cNvPr id="40" name="Text 29"/>
          <p:cNvSpPr/>
          <p:nvPr/>
        </p:nvSpPr>
        <p:spPr>
          <a:xfrm>
            <a:off x="7086600" y="3922776"/>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Jembatan Terapis</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ketukan jadi ringkasan; usulan kata dan frasa kembali ke rumah</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M3 · tidak ada jalur data rumah → terapis</a:t>
            </a:r>
            <a:endParaRPr lang="en-US" sz="1450" dirty="0"/>
          </a:p>
        </p:txBody>
      </p:sp>
      <p:sp>
        <p:nvSpPr>
          <p:cNvPr id="41" name="Shape 30"/>
          <p:cNvSpPr/>
          <p:nvPr/>
        </p:nvSpPr>
        <p:spPr>
          <a:xfrm>
            <a:off x="6172200" y="4910328"/>
            <a:ext cx="5470855" cy="932688"/>
          </a:xfrm>
          <a:prstGeom prst="roundRect">
            <a:avLst>
              <a:gd name="adj" fmla="val 11765"/>
            </a:avLst>
          </a:prstGeom>
          <a:solidFill>
            <a:srgbClr val="FFFFFF"/>
          </a:solidFill>
          <a:ln w="9525">
            <a:solidFill>
              <a:srgbClr val="DCEEEC"/>
            </a:solidFill>
            <a:prstDash val="solid"/>
          </a:ln>
        </p:spPr>
      </p:sp>
      <p:sp>
        <p:nvSpPr>
          <p:cNvPr id="42" name="Shape 31"/>
          <p:cNvSpPr/>
          <p:nvPr/>
        </p:nvSpPr>
        <p:spPr>
          <a:xfrm>
            <a:off x="6355080" y="5084064"/>
            <a:ext cx="585216" cy="585216"/>
          </a:xfrm>
          <a:prstGeom prst="ellipse">
            <a:avLst/>
          </a:prstGeom>
          <a:solidFill>
            <a:srgbClr val="026E65"/>
          </a:solidFill>
          <a:ln w="12700">
            <a:solidFill>
              <a:srgbClr val="026E65"/>
            </a:solidFill>
            <a:prstDash val="solid"/>
          </a:ln>
        </p:spPr>
      </p:sp>
      <p:pic>
        <p:nvPicPr>
          <p:cNvPr id="43" name="Image 8" descr="preencoded.png">    </p:cNvPr>
          <p:cNvPicPr>
            <a:picLocks noChangeAspect="1"/>
          </p:cNvPicPr>
          <p:nvPr/>
        </p:nvPicPr>
        <p:blipFill>
          <a:blip r:embed="rId9"/>
          <a:stretch>
            <a:fillRect/>
          </a:stretch>
        </p:blipFill>
        <p:spPr>
          <a:xfrm>
            <a:off x="6495532" y="5224516"/>
            <a:ext cx="304312" cy="304312"/>
          </a:xfrm>
          <a:prstGeom prst="rect">
            <a:avLst/>
          </a:prstGeom>
        </p:spPr>
      </p:pic>
      <p:sp>
        <p:nvSpPr>
          <p:cNvPr id="44" name="Text 32"/>
          <p:cNvSpPr/>
          <p:nvPr/>
        </p:nvSpPr>
        <p:spPr>
          <a:xfrm>
            <a:off x="7086600" y="4965192"/>
            <a:ext cx="4419295" cy="82296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Satu terapis, banyak keluarga</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triase beralasan + ringkasan sebelum sesi</a:t>
            </a:r>
            <a:endParaRPr lang="en-US" sz="1450" dirty="0"/>
          </a:p>
          <a:p>
            <a:pPr indent="0" marL="0">
              <a:buNone/>
            </a:pPr>
            <a:r>
              <a:rPr lang="en-US" sz="1000" i="1" dirty="0">
                <a:solidFill>
                  <a:srgbClr val="52706D"/>
                </a:solidFill>
                <a:latin typeface="Calibri" pitchFamily="34" charset="0"/>
                <a:ea typeface="Calibri" pitchFamily="34" charset="-122"/>
                <a:cs typeface="Calibri" pitchFamily="34" charset="-120"/>
              </a:rPr>
              <a:t>menjawab M4 · terapis langka dan terpusat</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YANG KAMI CIPTAKAN · UNTUK ANAK DAN KELUARGA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Untuk anak, papan yang tetap bicara tanpa internet. Untuk orang tua, latihan &lt; 5 menit sehari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6</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Ilustrasi mengikuti susunan, teks, dan palet aplikasi; simbol Mulberry CC BY-SA 4.0. Fitur AI opsional: PERUBAHAN.md entri 16, 17, 22. Alur lengkap ada di video demo.</a:t>
            </a:r>
            <a:endParaRPr lang="en-US" sz="850" dirty="0"/>
          </a:p>
        </p:txBody>
      </p:sp>
      <p:sp>
        <p:nvSpPr>
          <p:cNvPr id="12" name="Shape 8"/>
          <p:cNvSpPr/>
          <p:nvPr/>
        </p:nvSpPr>
        <p:spPr>
          <a:xfrm>
            <a:off x="548640" y="1783080"/>
            <a:ext cx="2395728" cy="4069080"/>
          </a:xfrm>
          <a:prstGeom prst="roundRect">
            <a:avLst>
              <a:gd name="adj" fmla="val 11450"/>
            </a:avLst>
          </a:prstGeom>
          <a:solidFill>
            <a:srgbClr val="172C2A"/>
          </a:solidFill>
          <a:ln w="12700">
            <a:solidFill>
              <a:srgbClr val="172C2A"/>
            </a:solidFill>
            <a:prstDash val="solid"/>
          </a:ln>
        </p:spPr>
      </p:sp>
      <p:sp>
        <p:nvSpPr>
          <p:cNvPr id="13" name="Shape 9"/>
          <p:cNvSpPr/>
          <p:nvPr/>
        </p:nvSpPr>
        <p:spPr>
          <a:xfrm>
            <a:off x="630936" y="1865376"/>
            <a:ext cx="2231136" cy="3904488"/>
          </a:xfrm>
          <a:prstGeom prst="roundRect">
            <a:avLst>
              <a:gd name="adj" fmla="val 9836"/>
            </a:avLst>
          </a:prstGeom>
          <a:solidFill>
            <a:srgbClr val="FCFEFE"/>
          </a:solidFill>
          <a:ln w="12700">
            <a:solidFill>
              <a:srgbClr val="FCFEFE"/>
            </a:solidFill>
            <a:prstDash val="solid"/>
          </a:ln>
        </p:spPr>
      </p:sp>
      <p:sp>
        <p:nvSpPr>
          <p:cNvPr id="14" name="Shape 10"/>
          <p:cNvSpPr/>
          <p:nvPr/>
        </p:nvSpPr>
        <p:spPr>
          <a:xfrm>
            <a:off x="1700784" y="1929384"/>
            <a:ext cx="91440" cy="91440"/>
          </a:xfrm>
          <a:prstGeom prst="ellipse">
            <a:avLst/>
          </a:prstGeom>
          <a:solidFill>
            <a:srgbClr val="172C2A"/>
          </a:solidFill>
          <a:ln w="12700">
            <a:solidFill>
              <a:srgbClr val="172C2A"/>
            </a:solidFill>
            <a:prstDash val="solid"/>
          </a:ln>
        </p:spPr>
      </p:sp>
      <p:sp>
        <p:nvSpPr>
          <p:cNvPr id="15" name="Text 11"/>
          <p:cNvSpPr/>
          <p:nvPr/>
        </p:nvSpPr>
        <p:spPr>
          <a:xfrm>
            <a:off x="722376" y="2057400"/>
            <a:ext cx="2048256" cy="201168"/>
          </a:xfrm>
          <a:prstGeom prst="rect">
            <a:avLst/>
          </a:prstGeom>
          <a:noFill/>
          <a:ln/>
        </p:spPr>
        <p:txBody>
          <a:bodyPr wrap="square" lIns="0" tIns="0" rIns="0" bIns="0" rtlCol="0" anchor="ctr"/>
          <a:lstStyle/>
          <a:p>
            <a:pPr indent="0" marL="0">
              <a:buNone/>
            </a:pPr>
            <a:r>
              <a:rPr lang="en-US" sz="750" b="1" dirty="0">
                <a:solidFill>
                  <a:srgbClr val="52706D"/>
                </a:solidFill>
                <a:latin typeface="Calibri" pitchFamily="34" charset="0"/>
                <a:ea typeface="Calibri" pitchFamily="34" charset="-122"/>
                <a:cs typeface="Calibri" pitchFamily="34" charset="-120"/>
              </a:rPr>
              <a:t>✈  Mode pesawat</a:t>
            </a:r>
            <a:endParaRPr lang="en-US" sz="750" dirty="0"/>
          </a:p>
        </p:txBody>
      </p:sp>
      <p:sp>
        <p:nvSpPr>
          <p:cNvPr id="16" name="Shape 12"/>
          <p:cNvSpPr/>
          <p:nvPr/>
        </p:nvSpPr>
        <p:spPr>
          <a:xfrm>
            <a:off x="722376" y="2286000"/>
            <a:ext cx="2048256" cy="365760"/>
          </a:xfrm>
          <a:prstGeom prst="roundRect">
            <a:avLst>
              <a:gd name="adj" fmla="val 17500"/>
            </a:avLst>
          </a:prstGeom>
          <a:solidFill>
            <a:srgbClr val="FFFFFF"/>
          </a:solidFill>
          <a:ln w="12700">
            <a:solidFill>
              <a:srgbClr val="A0DDD7"/>
            </a:solidFill>
            <a:prstDash val="solid"/>
          </a:ln>
        </p:spPr>
      </p:sp>
      <p:sp>
        <p:nvSpPr>
          <p:cNvPr id="17" name="Text 13"/>
          <p:cNvSpPr/>
          <p:nvPr/>
        </p:nvSpPr>
        <p:spPr>
          <a:xfrm>
            <a:off x="777240" y="2350008"/>
            <a:ext cx="384048" cy="23774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AKU</a:t>
            </a:r>
            <a:endParaRPr lang="en-US" sz="700" dirty="0"/>
          </a:p>
        </p:txBody>
      </p:sp>
      <p:sp>
        <p:nvSpPr>
          <p:cNvPr id="18" name="Text 14"/>
          <p:cNvSpPr/>
          <p:nvPr/>
        </p:nvSpPr>
        <p:spPr>
          <a:xfrm>
            <a:off x="1207008" y="2350008"/>
            <a:ext cx="384048" cy="23774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MAU</a:t>
            </a:r>
            <a:endParaRPr lang="en-US" sz="700" dirty="0"/>
          </a:p>
        </p:txBody>
      </p:sp>
      <p:sp>
        <p:nvSpPr>
          <p:cNvPr id="19" name="Text 15"/>
          <p:cNvSpPr/>
          <p:nvPr/>
        </p:nvSpPr>
        <p:spPr>
          <a:xfrm>
            <a:off x="1636776" y="2350008"/>
            <a:ext cx="512064" cy="23774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MINUM</a:t>
            </a:r>
            <a:endParaRPr lang="en-US" sz="700" dirty="0"/>
          </a:p>
        </p:txBody>
      </p:sp>
      <p:sp>
        <p:nvSpPr>
          <p:cNvPr id="20" name="Text 16"/>
          <p:cNvSpPr/>
          <p:nvPr/>
        </p:nvSpPr>
        <p:spPr>
          <a:xfrm>
            <a:off x="2441448" y="2331720"/>
            <a:ext cx="274320" cy="274320"/>
          </a:xfrm>
          <a:prstGeom prst="roundRect">
            <a:avLst>
              <a:gd name="adj" fmla="val 50000"/>
            </a:avLst>
          </a:prstGeom>
          <a:solidFill>
            <a:srgbClr val="BADE4A"/>
          </a:solidFill>
          <a:ln>
            <a:solidFill>
              <a:srgbClr val="BADE4A"/>
            </a:solidFill>
          </a:ln>
        </p:spPr>
        <p:txBody>
          <a:bodyPr wrap="square" lIns="0" tIns="0" rIns="0" bIns="0" rtlCol="0" anchor="ctr"/>
          <a:lstStyle/>
          <a:p>
            <a:pPr algn="ctr" indent="0" marL="0">
              <a:buNone/>
            </a:pPr>
            <a:r>
              <a:rPr lang="en-US" sz="800" b="1" dirty="0">
                <a:solidFill>
                  <a:srgbClr val="0B5E56"/>
                </a:solidFill>
                <a:latin typeface="Calibri" pitchFamily="34" charset="0"/>
                <a:ea typeface="Calibri" pitchFamily="34" charset="-122"/>
                <a:cs typeface="Calibri" pitchFamily="34" charset="-120"/>
              </a:rPr>
              <a:t>▶</a:t>
            </a:r>
            <a:endParaRPr lang="en-US" sz="800" dirty="0"/>
          </a:p>
        </p:txBody>
      </p:sp>
      <p:sp>
        <p:nvSpPr>
          <p:cNvPr id="21" name="Shape 17"/>
          <p:cNvSpPr/>
          <p:nvPr/>
        </p:nvSpPr>
        <p:spPr>
          <a:xfrm>
            <a:off x="722376" y="2761488"/>
            <a:ext cx="652272" cy="619658"/>
          </a:xfrm>
          <a:prstGeom prst="roundRect">
            <a:avLst>
              <a:gd name="adj" fmla="val 8854"/>
            </a:avLst>
          </a:prstGeom>
          <a:solidFill>
            <a:srgbClr val="E1F4E7"/>
          </a:solidFill>
          <a:ln w="12700">
            <a:solidFill>
              <a:srgbClr val="6FC08F"/>
            </a:solidFill>
            <a:prstDash val="solid"/>
          </a:ln>
        </p:spPr>
      </p:sp>
      <p:pic>
        <p:nvPicPr>
          <p:cNvPr id="22" name="Image 1" descr="C:\Users\mikae\OneDrive\Documents\Lomba\IFEST\Nyambung\assets\symbols\png\mau.png">    </p:cNvPr>
          <p:cNvPicPr>
            <a:picLocks noChangeAspect="1"/>
          </p:cNvPicPr>
          <p:nvPr/>
        </p:nvPicPr>
        <p:blipFill>
          <a:blip r:embed="rId2"/>
          <a:stretch>
            <a:fillRect/>
          </a:stretch>
        </p:blipFill>
        <p:spPr>
          <a:xfrm>
            <a:off x="875008" y="2811061"/>
            <a:ext cx="347009" cy="347009"/>
          </a:xfrm>
          <a:prstGeom prst="rect">
            <a:avLst/>
          </a:prstGeom>
        </p:spPr>
      </p:pic>
      <p:sp>
        <p:nvSpPr>
          <p:cNvPr id="23" name="Text 18"/>
          <p:cNvSpPr/>
          <p:nvPr/>
        </p:nvSpPr>
        <p:spPr>
          <a:xfrm>
            <a:off x="722376" y="3170463"/>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MAU</a:t>
            </a:r>
            <a:endParaRPr lang="en-US" sz="750" dirty="0"/>
          </a:p>
        </p:txBody>
      </p:sp>
      <p:sp>
        <p:nvSpPr>
          <p:cNvPr id="24" name="Shape 19"/>
          <p:cNvSpPr/>
          <p:nvPr/>
        </p:nvSpPr>
        <p:spPr>
          <a:xfrm>
            <a:off x="1420368" y="2761488"/>
            <a:ext cx="652272" cy="619658"/>
          </a:xfrm>
          <a:prstGeom prst="roundRect">
            <a:avLst>
              <a:gd name="adj" fmla="val 8854"/>
            </a:avLst>
          </a:prstGeom>
          <a:solidFill>
            <a:srgbClr val="E1F4E7"/>
          </a:solidFill>
          <a:ln w="12700">
            <a:solidFill>
              <a:srgbClr val="6FC08F"/>
            </a:solidFill>
            <a:prstDash val="solid"/>
          </a:ln>
        </p:spPr>
      </p:sp>
      <p:pic>
        <p:nvPicPr>
          <p:cNvPr id="25" name="Image 2" descr="C:\Users\mikae\OneDrive\Documents\Lomba\IFEST\Nyambung\assets\symbols\custom\berhenti.png">    </p:cNvPr>
          <p:cNvPicPr>
            <a:picLocks noChangeAspect="1"/>
          </p:cNvPicPr>
          <p:nvPr/>
        </p:nvPicPr>
        <p:blipFill>
          <a:blip r:embed="rId3"/>
          <a:stretch>
            <a:fillRect/>
          </a:stretch>
        </p:blipFill>
        <p:spPr>
          <a:xfrm>
            <a:off x="1573000" y="2811061"/>
            <a:ext cx="347009" cy="347009"/>
          </a:xfrm>
          <a:prstGeom prst="rect">
            <a:avLst/>
          </a:prstGeom>
        </p:spPr>
      </p:pic>
      <p:sp>
        <p:nvSpPr>
          <p:cNvPr id="26" name="Text 20"/>
          <p:cNvSpPr/>
          <p:nvPr/>
        </p:nvSpPr>
        <p:spPr>
          <a:xfrm>
            <a:off x="1420368" y="3170463"/>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BERHENTI</a:t>
            </a:r>
            <a:endParaRPr lang="en-US" sz="750" dirty="0"/>
          </a:p>
        </p:txBody>
      </p:sp>
      <p:sp>
        <p:nvSpPr>
          <p:cNvPr id="27" name="Shape 21"/>
          <p:cNvSpPr/>
          <p:nvPr/>
        </p:nvSpPr>
        <p:spPr>
          <a:xfrm>
            <a:off x="2118360" y="2761488"/>
            <a:ext cx="652272" cy="619658"/>
          </a:xfrm>
          <a:prstGeom prst="roundRect">
            <a:avLst>
              <a:gd name="adj" fmla="val 8854"/>
            </a:avLst>
          </a:prstGeom>
          <a:solidFill>
            <a:srgbClr val="E1F4E7"/>
          </a:solidFill>
          <a:ln w="12700">
            <a:solidFill>
              <a:srgbClr val="6FC08F"/>
            </a:solidFill>
            <a:prstDash val="solid"/>
          </a:ln>
        </p:spPr>
      </p:sp>
      <p:pic>
        <p:nvPicPr>
          <p:cNvPr id="28" name="Image 3" descr="C:\Users\mikae\OneDrive\Documents\Lomba\IFEST\Nyambung\assets\symbols\png\bantu.png">    </p:cNvPr>
          <p:cNvPicPr>
            <a:picLocks noChangeAspect="1"/>
          </p:cNvPicPr>
          <p:nvPr/>
        </p:nvPicPr>
        <p:blipFill>
          <a:blip r:embed="rId4"/>
          <a:stretch>
            <a:fillRect/>
          </a:stretch>
        </p:blipFill>
        <p:spPr>
          <a:xfrm>
            <a:off x="2270992" y="2811061"/>
            <a:ext cx="347009" cy="347009"/>
          </a:xfrm>
          <a:prstGeom prst="rect">
            <a:avLst/>
          </a:prstGeom>
        </p:spPr>
      </p:pic>
      <p:sp>
        <p:nvSpPr>
          <p:cNvPr id="29" name="Text 22"/>
          <p:cNvSpPr/>
          <p:nvPr/>
        </p:nvSpPr>
        <p:spPr>
          <a:xfrm>
            <a:off x="2118360" y="3170463"/>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BANTU</a:t>
            </a:r>
            <a:endParaRPr lang="en-US" sz="750" dirty="0"/>
          </a:p>
        </p:txBody>
      </p:sp>
      <p:sp>
        <p:nvSpPr>
          <p:cNvPr id="30" name="Shape 23"/>
          <p:cNvSpPr/>
          <p:nvPr/>
        </p:nvSpPr>
        <p:spPr>
          <a:xfrm>
            <a:off x="722376" y="3426866"/>
            <a:ext cx="652272" cy="619658"/>
          </a:xfrm>
          <a:prstGeom prst="roundRect">
            <a:avLst>
              <a:gd name="adj" fmla="val 8854"/>
            </a:avLst>
          </a:prstGeom>
          <a:solidFill>
            <a:srgbClr val="E8F6F5"/>
          </a:solidFill>
          <a:ln w="12700">
            <a:solidFill>
              <a:srgbClr val="C7C7D2"/>
            </a:solidFill>
            <a:prstDash val="solid"/>
          </a:ln>
        </p:spPr>
      </p:sp>
      <p:pic>
        <p:nvPicPr>
          <p:cNvPr id="31" name="Image 4" descr="C:\Users\mikae\OneDrive\Documents\Lomba\IFEST\Nyambung\assets\symbols\png\tidak.png">    </p:cNvPr>
          <p:cNvPicPr>
            <a:picLocks noChangeAspect="1"/>
          </p:cNvPicPr>
          <p:nvPr/>
        </p:nvPicPr>
        <p:blipFill>
          <a:blip r:embed="rId5"/>
          <a:stretch>
            <a:fillRect/>
          </a:stretch>
        </p:blipFill>
        <p:spPr>
          <a:xfrm>
            <a:off x="875008" y="3476439"/>
            <a:ext cx="347009" cy="347009"/>
          </a:xfrm>
          <a:prstGeom prst="rect">
            <a:avLst/>
          </a:prstGeom>
        </p:spPr>
      </p:pic>
      <p:sp>
        <p:nvSpPr>
          <p:cNvPr id="32" name="Text 24"/>
          <p:cNvSpPr/>
          <p:nvPr/>
        </p:nvSpPr>
        <p:spPr>
          <a:xfrm>
            <a:off x="722376" y="3835841"/>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TIDAK</a:t>
            </a:r>
            <a:endParaRPr lang="en-US" sz="750" dirty="0"/>
          </a:p>
        </p:txBody>
      </p:sp>
      <p:sp>
        <p:nvSpPr>
          <p:cNvPr id="33" name="Shape 25"/>
          <p:cNvSpPr/>
          <p:nvPr/>
        </p:nvSpPr>
        <p:spPr>
          <a:xfrm>
            <a:off x="1420368" y="3426866"/>
            <a:ext cx="652272" cy="619658"/>
          </a:xfrm>
          <a:prstGeom prst="roundRect">
            <a:avLst>
              <a:gd name="adj" fmla="val 8854"/>
            </a:avLst>
          </a:prstGeom>
          <a:solidFill>
            <a:srgbClr val="E8F6F5"/>
          </a:solidFill>
          <a:ln w="12700">
            <a:solidFill>
              <a:srgbClr val="C7C7D2"/>
            </a:solidFill>
            <a:prstDash val="solid"/>
          </a:ln>
        </p:spPr>
      </p:sp>
      <p:pic>
        <p:nvPicPr>
          <p:cNvPr id="34" name="Image 5" descr="C:\Users\mikae\OneDrive\Documents\Lomba\IFEST\Nyambung\assets\symbols\png\selesai.png">    </p:cNvPr>
          <p:cNvPicPr>
            <a:picLocks noChangeAspect="1"/>
          </p:cNvPicPr>
          <p:nvPr/>
        </p:nvPicPr>
        <p:blipFill>
          <a:blip r:embed="rId6"/>
          <a:stretch>
            <a:fillRect/>
          </a:stretch>
        </p:blipFill>
        <p:spPr>
          <a:xfrm>
            <a:off x="1573000" y="3476439"/>
            <a:ext cx="347009" cy="347009"/>
          </a:xfrm>
          <a:prstGeom prst="rect">
            <a:avLst/>
          </a:prstGeom>
        </p:spPr>
      </p:pic>
      <p:sp>
        <p:nvSpPr>
          <p:cNvPr id="35" name="Text 26"/>
          <p:cNvSpPr/>
          <p:nvPr/>
        </p:nvSpPr>
        <p:spPr>
          <a:xfrm>
            <a:off x="1420368" y="3835841"/>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SELESAI</a:t>
            </a:r>
            <a:endParaRPr lang="en-US" sz="750" dirty="0"/>
          </a:p>
        </p:txBody>
      </p:sp>
      <p:sp>
        <p:nvSpPr>
          <p:cNvPr id="36" name="Shape 27"/>
          <p:cNvSpPr/>
          <p:nvPr/>
        </p:nvSpPr>
        <p:spPr>
          <a:xfrm>
            <a:off x="2118360" y="3426866"/>
            <a:ext cx="652272" cy="619658"/>
          </a:xfrm>
          <a:prstGeom prst="roundRect">
            <a:avLst>
              <a:gd name="adj" fmla="val 8854"/>
            </a:avLst>
          </a:prstGeom>
          <a:solidFill>
            <a:srgbClr val="DEF3FC"/>
          </a:solidFill>
          <a:ln w="12700">
            <a:solidFill>
              <a:srgbClr val="6FC3EA"/>
            </a:solidFill>
            <a:prstDash val="solid"/>
          </a:ln>
        </p:spPr>
      </p:sp>
      <p:pic>
        <p:nvPicPr>
          <p:cNvPr id="37" name="Image 6" descr="C:\Users\mikae\OneDrive\Documents\Lomba\IFEST\Nyambung\assets\symbols\png\sakit.png">    </p:cNvPr>
          <p:cNvPicPr>
            <a:picLocks noChangeAspect="1"/>
          </p:cNvPicPr>
          <p:nvPr/>
        </p:nvPicPr>
        <p:blipFill>
          <a:blip r:embed="rId7"/>
          <a:stretch>
            <a:fillRect/>
          </a:stretch>
        </p:blipFill>
        <p:spPr>
          <a:xfrm>
            <a:off x="2270992" y="3476439"/>
            <a:ext cx="347009" cy="347009"/>
          </a:xfrm>
          <a:prstGeom prst="rect">
            <a:avLst/>
          </a:prstGeom>
        </p:spPr>
      </p:pic>
      <p:sp>
        <p:nvSpPr>
          <p:cNvPr id="38" name="Text 28"/>
          <p:cNvSpPr/>
          <p:nvPr/>
        </p:nvSpPr>
        <p:spPr>
          <a:xfrm>
            <a:off x="2118360" y="3835841"/>
            <a:ext cx="652272" cy="185898"/>
          </a:xfrm>
          <a:prstGeom prst="rect">
            <a:avLst/>
          </a:prstGeom>
          <a:noFill/>
          <a:ln/>
        </p:spPr>
        <p:txBody>
          <a:bodyPr wrap="square" lIns="0" tIns="0" rIns="0" bIns="0" rtlCol="0" anchor="ctr"/>
          <a:lstStyle/>
          <a:p>
            <a:pPr algn="ctr" indent="0" marL="0">
              <a:buNone/>
            </a:pPr>
            <a:r>
              <a:rPr lang="en-US" sz="750" b="1" dirty="0">
                <a:solidFill>
                  <a:srgbClr val="1D6F94"/>
                </a:solidFill>
                <a:latin typeface="Calibri" pitchFamily="34" charset="0"/>
                <a:ea typeface="Calibri" pitchFamily="34" charset="-122"/>
                <a:cs typeface="Calibri" pitchFamily="34" charset="-120"/>
              </a:rPr>
              <a:t>SAKIT</a:t>
            </a:r>
            <a:endParaRPr lang="en-US" sz="750" dirty="0"/>
          </a:p>
        </p:txBody>
      </p:sp>
      <p:sp>
        <p:nvSpPr>
          <p:cNvPr id="39" name="Shape 29"/>
          <p:cNvSpPr/>
          <p:nvPr/>
        </p:nvSpPr>
        <p:spPr>
          <a:xfrm>
            <a:off x="722376" y="4092245"/>
            <a:ext cx="652272" cy="619658"/>
          </a:xfrm>
          <a:prstGeom prst="roundRect">
            <a:avLst>
              <a:gd name="adj" fmla="val 8854"/>
            </a:avLst>
          </a:prstGeom>
          <a:solidFill>
            <a:srgbClr val="FCDE9E"/>
          </a:solidFill>
          <a:ln w="12700">
            <a:solidFill>
              <a:srgbClr val="E8B54A"/>
            </a:solidFill>
            <a:prstDash val="solid"/>
          </a:ln>
        </p:spPr>
      </p:sp>
      <p:pic>
        <p:nvPicPr>
          <p:cNvPr id="40" name="Image 7" descr="C:\Users\mikae\OneDrive\Documents\Lomba\IFEST\Nyambung\assets\symbols\custom\aku.png">    </p:cNvPr>
          <p:cNvPicPr>
            <a:picLocks noChangeAspect="1"/>
          </p:cNvPicPr>
          <p:nvPr/>
        </p:nvPicPr>
        <p:blipFill>
          <a:blip r:embed="rId8"/>
          <a:stretch>
            <a:fillRect/>
          </a:stretch>
        </p:blipFill>
        <p:spPr>
          <a:xfrm>
            <a:off x="875008" y="4141817"/>
            <a:ext cx="347009" cy="347009"/>
          </a:xfrm>
          <a:prstGeom prst="rect">
            <a:avLst/>
          </a:prstGeom>
        </p:spPr>
      </p:pic>
      <p:sp>
        <p:nvSpPr>
          <p:cNvPr id="41" name="Text 30"/>
          <p:cNvSpPr/>
          <p:nvPr/>
        </p:nvSpPr>
        <p:spPr>
          <a:xfrm>
            <a:off x="722376" y="4501219"/>
            <a:ext cx="652272" cy="185898"/>
          </a:xfrm>
          <a:prstGeom prst="rect">
            <a:avLst/>
          </a:prstGeom>
          <a:noFill/>
          <a:ln/>
        </p:spPr>
        <p:txBody>
          <a:bodyPr wrap="square" lIns="0" tIns="0" rIns="0" bIns="0" rtlCol="0" anchor="ctr"/>
          <a:lstStyle/>
          <a:p>
            <a:pPr algn="ctr" indent="0" marL="0">
              <a:buNone/>
            </a:pPr>
            <a:r>
              <a:rPr lang="en-US" sz="750" b="1" dirty="0">
                <a:solidFill>
                  <a:srgbClr val="6E4400"/>
                </a:solidFill>
                <a:latin typeface="Calibri" pitchFamily="34" charset="0"/>
                <a:ea typeface="Calibri" pitchFamily="34" charset="-122"/>
                <a:cs typeface="Calibri" pitchFamily="34" charset="-120"/>
              </a:rPr>
              <a:t>AKU</a:t>
            </a:r>
            <a:endParaRPr lang="en-US" sz="750" dirty="0"/>
          </a:p>
        </p:txBody>
      </p:sp>
      <p:sp>
        <p:nvSpPr>
          <p:cNvPr id="42" name="Shape 31"/>
          <p:cNvSpPr/>
          <p:nvPr/>
        </p:nvSpPr>
        <p:spPr>
          <a:xfrm>
            <a:off x="1420368" y="4092245"/>
            <a:ext cx="652272" cy="619658"/>
          </a:xfrm>
          <a:prstGeom prst="roundRect">
            <a:avLst>
              <a:gd name="adj" fmla="val 8854"/>
            </a:avLst>
          </a:prstGeom>
          <a:solidFill>
            <a:srgbClr val="E1F4E7"/>
          </a:solidFill>
          <a:ln w="12700">
            <a:solidFill>
              <a:srgbClr val="6FC08F"/>
            </a:solidFill>
            <a:prstDash val="solid"/>
          </a:ln>
        </p:spPr>
      </p:sp>
      <p:pic>
        <p:nvPicPr>
          <p:cNvPr id="43" name="Image 8" descr="C:\Users\mikae\OneDrive\Documents\Lomba\IFEST\Nyambung\assets\symbols\png\makan.png">    </p:cNvPr>
          <p:cNvPicPr>
            <a:picLocks noChangeAspect="1"/>
          </p:cNvPicPr>
          <p:nvPr/>
        </p:nvPicPr>
        <p:blipFill>
          <a:blip r:embed="rId9"/>
          <a:stretch>
            <a:fillRect/>
          </a:stretch>
        </p:blipFill>
        <p:spPr>
          <a:xfrm>
            <a:off x="1573000" y="4141817"/>
            <a:ext cx="347009" cy="347009"/>
          </a:xfrm>
          <a:prstGeom prst="rect">
            <a:avLst/>
          </a:prstGeom>
        </p:spPr>
      </p:pic>
      <p:sp>
        <p:nvSpPr>
          <p:cNvPr id="44" name="Text 32"/>
          <p:cNvSpPr/>
          <p:nvPr/>
        </p:nvSpPr>
        <p:spPr>
          <a:xfrm>
            <a:off x="1420368" y="4501219"/>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MAKAN</a:t>
            </a:r>
            <a:endParaRPr lang="en-US" sz="750" dirty="0"/>
          </a:p>
        </p:txBody>
      </p:sp>
      <p:sp>
        <p:nvSpPr>
          <p:cNvPr id="45" name="Shape 33"/>
          <p:cNvSpPr/>
          <p:nvPr/>
        </p:nvSpPr>
        <p:spPr>
          <a:xfrm>
            <a:off x="2118360" y="4092245"/>
            <a:ext cx="652272" cy="619658"/>
          </a:xfrm>
          <a:prstGeom prst="roundRect">
            <a:avLst>
              <a:gd name="adj" fmla="val 8854"/>
            </a:avLst>
          </a:prstGeom>
          <a:solidFill>
            <a:srgbClr val="E1F4E7"/>
          </a:solidFill>
          <a:ln w="12700">
            <a:solidFill>
              <a:srgbClr val="6FC08F"/>
            </a:solidFill>
            <a:prstDash val="solid"/>
          </a:ln>
        </p:spPr>
      </p:sp>
      <p:pic>
        <p:nvPicPr>
          <p:cNvPr id="46" name="Image 9" descr="C:\Users\mikae\OneDrive\Documents\Lomba\IFEST\Nyambung\assets\symbols\png\minum.png">    </p:cNvPr>
          <p:cNvPicPr>
            <a:picLocks noChangeAspect="1"/>
          </p:cNvPicPr>
          <p:nvPr/>
        </p:nvPicPr>
        <p:blipFill>
          <a:blip r:embed="rId10"/>
          <a:stretch>
            <a:fillRect/>
          </a:stretch>
        </p:blipFill>
        <p:spPr>
          <a:xfrm>
            <a:off x="2270992" y="4141817"/>
            <a:ext cx="347009" cy="347009"/>
          </a:xfrm>
          <a:prstGeom prst="rect">
            <a:avLst/>
          </a:prstGeom>
        </p:spPr>
      </p:pic>
      <p:sp>
        <p:nvSpPr>
          <p:cNvPr id="47" name="Text 34"/>
          <p:cNvSpPr/>
          <p:nvPr/>
        </p:nvSpPr>
        <p:spPr>
          <a:xfrm>
            <a:off x="2118360" y="4501219"/>
            <a:ext cx="652272" cy="18589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MINUM</a:t>
            </a:r>
            <a:endParaRPr lang="en-US" sz="750" dirty="0"/>
          </a:p>
        </p:txBody>
      </p:sp>
      <p:sp>
        <p:nvSpPr>
          <p:cNvPr id="48" name="Shape 35"/>
          <p:cNvSpPr/>
          <p:nvPr/>
        </p:nvSpPr>
        <p:spPr>
          <a:xfrm>
            <a:off x="722376" y="4757623"/>
            <a:ext cx="652272" cy="619658"/>
          </a:xfrm>
          <a:prstGeom prst="roundRect">
            <a:avLst>
              <a:gd name="adj" fmla="val 8854"/>
            </a:avLst>
          </a:prstGeom>
          <a:solidFill>
            <a:srgbClr val="E8F6F5"/>
          </a:solidFill>
          <a:ln w="12700">
            <a:solidFill>
              <a:srgbClr val="C7C7D2"/>
            </a:solidFill>
            <a:prstDash val="solid"/>
          </a:ln>
        </p:spPr>
      </p:sp>
      <p:pic>
        <p:nvPicPr>
          <p:cNvPr id="49" name="Image 10" descr="C:\Users\mikae\OneDrive\Documents\Lomba\IFEST\Nyambung\assets\symbols\png\ya.png">    </p:cNvPr>
          <p:cNvPicPr>
            <a:picLocks noChangeAspect="1"/>
          </p:cNvPicPr>
          <p:nvPr/>
        </p:nvPicPr>
        <p:blipFill>
          <a:blip r:embed="rId11"/>
          <a:stretch>
            <a:fillRect/>
          </a:stretch>
        </p:blipFill>
        <p:spPr>
          <a:xfrm>
            <a:off x="875008" y="4807196"/>
            <a:ext cx="347009" cy="347009"/>
          </a:xfrm>
          <a:prstGeom prst="rect">
            <a:avLst/>
          </a:prstGeom>
        </p:spPr>
      </p:pic>
      <p:sp>
        <p:nvSpPr>
          <p:cNvPr id="50" name="Text 36"/>
          <p:cNvSpPr/>
          <p:nvPr/>
        </p:nvSpPr>
        <p:spPr>
          <a:xfrm>
            <a:off x="722376" y="5166598"/>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YA</a:t>
            </a:r>
            <a:endParaRPr lang="en-US" sz="750" dirty="0"/>
          </a:p>
        </p:txBody>
      </p:sp>
      <p:sp>
        <p:nvSpPr>
          <p:cNvPr id="51" name="Shape 37"/>
          <p:cNvSpPr/>
          <p:nvPr/>
        </p:nvSpPr>
        <p:spPr>
          <a:xfrm>
            <a:off x="1420368" y="4757623"/>
            <a:ext cx="652272" cy="619658"/>
          </a:xfrm>
          <a:prstGeom prst="roundRect">
            <a:avLst>
              <a:gd name="adj" fmla="val 8854"/>
            </a:avLst>
          </a:prstGeom>
          <a:solidFill>
            <a:srgbClr val="E8F6F5"/>
          </a:solidFill>
          <a:ln w="12700">
            <a:solidFill>
              <a:srgbClr val="C7C7D2"/>
            </a:solidFill>
            <a:prstDash val="solid"/>
          </a:ln>
        </p:spPr>
      </p:sp>
      <p:pic>
        <p:nvPicPr>
          <p:cNvPr id="52" name="Image 11" descr="C:\Users\mikae\OneDrive\Documents\Lomba\IFEST\Nyambung\assets\symbols\png\lagi.png">    </p:cNvPr>
          <p:cNvPicPr>
            <a:picLocks noChangeAspect="1"/>
          </p:cNvPicPr>
          <p:nvPr/>
        </p:nvPicPr>
        <p:blipFill>
          <a:blip r:embed="rId12"/>
          <a:stretch>
            <a:fillRect/>
          </a:stretch>
        </p:blipFill>
        <p:spPr>
          <a:xfrm>
            <a:off x="1573000" y="4807196"/>
            <a:ext cx="347009" cy="347009"/>
          </a:xfrm>
          <a:prstGeom prst="rect">
            <a:avLst/>
          </a:prstGeom>
        </p:spPr>
      </p:pic>
      <p:sp>
        <p:nvSpPr>
          <p:cNvPr id="53" name="Text 38"/>
          <p:cNvSpPr/>
          <p:nvPr/>
        </p:nvSpPr>
        <p:spPr>
          <a:xfrm>
            <a:off x="1420368" y="5166598"/>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LAGI</a:t>
            </a:r>
            <a:endParaRPr lang="en-US" sz="750" dirty="0"/>
          </a:p>
        </p:txBody>
      </p:sp>
      <p:sp>
        <p:nvSpPr>
          <p:cNvPr id="54" name="Shape 39"/>
          <p:cNvSpPr/>
          <p:nvPr/>
        </p:nvSpPr>
        <p:spPr>
          <a:xfrm>
            <a:off x="2118360" y="4757623"/>
            <a:ext cx="652272" cy="619658"/>
          </a:xfrm>
          <a:prstGeom prst="roundRect">
            <a:avLst>
              <a:gd name="adj" fmla="val 8854"/>
            </a:avLst>
          </a:prstGeom>
          <a:solidFill>
            <a:srgbClr val="E8F6F5"/>
          </a:solidFill>
          <a:ln w="12700">
            <a:solidFill>
              <a:srgbClr val="C7C7D2"/>
            </a:solidFill>
            <a:prstDash val="solid"/>
          </a:ln>
        </p:spPr>
      </p:sp>
      <p:pic>
        <p:nvPicPr>
          <p:cNvPr id="55" name="Image 12" descr="C:\Users\mikae\OneDrive\Documents\Lomba\IFEST\Nyambung\assets\symbols\png\itu.png">    </p:cNvPr>
          <p:cNvPicPr>
            <a:picLocks noChangeAspect="1"/>
          </p:cNvPicPr>
          <p:nvPr/>
        </p:nvPicPr>
        <p:blipFill>
          <a:blip r:embed="rId13"/>
          <a:stretch>
            <a:fillRect/>
          </a:stretch>
        </p:blipFill>
        <p:spPr>
          <a:xfrm>
            <a:off x="2270992" y="4807196"/>
            <a:ext cx="347009" cy="347009"/>
          </a:xfrm>
          <a:prstGeom prst="rect">
            <a:avLst/>
          </a:prstGeom>
        </p:spPr>
      </p:pic>
      <p:sp>
        <p:nvSpPr>
          <p:cNvPr id="56" name="Text 40"/>
          <p:cNvSpPr/>
          <p:nvPr/>
        </p:nvSpPr>
        <p:spPr>
          <a:xfrm>
            <a:off x="2118360" y="5166598"/>
            <a:ext cx="652272" cy="18589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ITU</a:t>
            </a:r>
            <a:endParaRPr lang="en-US" sz="750" dirty="0"/>
          </a:p>
        </p:txBody>
      </p:sp>
      <p:sp>
        <p:nvSpPr>
          <p:cNvPr id="57" name="Shape 41"/>
          <p:cNvSpPr/>
          <p:nvPr/>
        </p:nvSpPr>
        <p:spPr>
          <a:xfrm>
            <a:off x="3127248" y="1783080"/>
            <a:ext cx="2395728" cy="4069080"/>
          </a:xfrm>
          <a:prstGeom prst="roundRect">
            <a:avLst>
              <a:gd name="adj" fmla="val 11450"/>
            </a:avLst>
          </a:prstGeom>
          <a:solidFill>
            <a:srgbClr val="172C2A"/>
          </a:solidFill>
          <a:ln w="12700">
            <a:solidFill>
              <a:srgbClr val="172C2A"/>
            </a:solidFill>
            <a:prstDash val="solid"/>
          </a:ln>
        </p:spPr>
      </p:sp>
      <p:sp>
        <p:nvSpPr>
          <p:cNvPr id="58" name="Shape 42"/>
          <p:cNvSpPr/>
          <p:nvPr/>
        </p:nvSpPr>
        <p:spPr>
          <a:xfrm>
            <a:off x="3209544" y="1865376"/>
            <a:ext cx="2231136" cy="3904488"/>
          </a:xfrm>
          <a:prstGeom prst="roundRect">
            <a:avLst>
              <a:gd name="adj" fmla="val 9836"/>
            </a:avLst>
          </a:prstGeom>
          <a:solidFill>
            <a:srgbClr val="FCFEFE"/>
          </a:solidFill>
          <a:ln w="12700">
            <a:solidFill>
              <a:srgbClr val="FCFEFE"/>
            </a:solidFill>
            <a:prstDash val="solid"/>
          </a:ln>
        </p:spPr>
      </p:sp>
      <p:sp>
        <p:nvSpPr>
          <p:cNvPr id="59" name="Shape 43"/>
          <p:cNvSpPr/>
          <p:nvPr/>
        </p:nvSpPr>
        <p:spPr>
          <a:xfrm>
            <a:off x="4279392" y="1929384"/>
            <a:ext cx="91440" cy="91440"/>
          </a:xfrm>
          <a:prstGeom prst="ellipse">
            <a:avLst/>
          </a:prstGeom>
          <a:solidFill>
            <a:srgbClr val="172C2A"/>
          </a:solidFill>
          <a:ln w="12700">
            <a:solidFill>
              <a:srgbClr val="172C2A"/>
            </a:solidFill>
            <a:prstDash val="solid"/>
          </a:ln>
        </p:spPr>
      </p:sp>
      <p:sp>
        <p:nvSpPr>
          <p:cNvPr id="60" name="Text 44"/>
          <p:cNvSpPr/>
          <p:nvPr/>
        </p:nvSpPr>
        <p:spPr>
          <a:xfrm>
            <a:off x="3300984" y="2084832"/>
            <a:ext cx="2048256" cy="256032"/>
          </a:xfrm>
          <a:prstGeom prst="rect">
            <a:avLst/>
          </a:prstGeom>
          <a:noFill/>
          <a:ln/>
        </p:spPr>
        <p:txBody>
          <a:bodyPr wrap="square" lIns="0" tIns="0" rIns="0" bIns="0" rtlCol="0" anchor="ctr"/>
          <a:lstStyle/>
          <a:p>
            <a:pPr indent="0" marL="0">
              <a:buNone/>
            </a:pPr>
            <a:r>
              <a:rPr lang="en-US" sz="1100" b="1" dirty="0">
                <a:solidFill>
                  <a:srgbClr val="172C2A"/>
                </a:solidFill>
                <a:latin typeface="Trebuchet MS" pitchFamily="34" charset="0"/>
                <a:ea typeface="Trebuchet MS" pitchFamily="34" charset="-122"/>
                <a:cs typeface="Trebuchet MS" pitchFamily="34" charset="-120"/>
              </a:rPr>
              <a:t>Halo, keluarga Arka</a:t>
            </a:r>
            <a:endParaRPr lang="en-US" sz="1100" dirty="0"/>
          </a:p>
        </p:txBody>
      </p:sp>
      <p:sp>
        <p:nvSpPr>
          <p:cNvPr id="61" name="Shape 45"/>
          <p:cNvSpPr/>
          <p:nvPr/>
        </p:nvSpPr>
        <p:spPr>
          <a:xfrm>
            <a:off x="3300984" y="2377440"/>
            <a:ext cx="2048256" cy="1325880"/>
          </a:xfrm>
          <a:prstGeom prst="roundRect">
            <a:avLst>
              <a:gd name="adj" fmla="val 6897"/>
            </a:avLst>
          </a:prstGeom>
          <a:solidFill>
            <a:srgbClr val="098277"/>
          </a:solidFill>
          <a:ln w="12700">
            <a:solidFill>
              <a:srgbClr val="098277"/>
            </a:solidFill>
            <a:prstDash val="solid"/>
          </a:ln>
        </p:spPr>
      </p:sp>
      <p:sp>
        <p:nvSpPr>
          <p:cNvPr id="62" name="Text 46"/>
          <p:cNvSpPr/>
          <p:nvPr/>
        </p:nvSpPr>
        <p:spPr>
          <a:xfrm>
            <a:off x="3410712" y="2450592"/>
            <a:ext cx="1828800" cy="182880"/>
          </a:xfrm>
          <a:prstGeom prst="rect">
            <a:avLst/>
          </a:prstGeom>
          <a:noFill/>
          <a:ln/>
        </p:spPr>
        <p:txBody>
          <a:bodyPr wrap="square" lIns="0" tIns="0" rIns="0" bIns="0" rtlCol="0" anchor="ctr"/>
          <a:lstStyle/>
          <a:p>
            <a:pPr indent="0" marL="0">
              <a:buNone/>
            </a:pPr>
            <a:r>
              <a:rPr lang="en-US" sz="700" b="1" spc="150" kern="0" dirty="0">
                <a:solidFill>
                  <a:srgbClr val="A0DDD7"/>
                </a:solidFill>
                <a:latin typeface="Calibri" pitchFamily="34" charset="0"/>
                <a:ea typeface="Calibri" pitchFamily="34" charset="-122"/>
                <a:cs typeface="Calibri" pitchFamily="34" charset="-120"/>
              </a:rPr>
              <a:t>MISI HARI INI</a:t>
            </a:r>
            <a:endParaRPr lang="en-US" sz="700" dirty="0"/>
          </a:p>
        </p:txBody>
      </p:sp>
      <p:sp>
        <p:nvSpPr>
          <p:cNvPr id="63" name="Text 47"/>
          <p:cNvSpPr/>
          <p:nvPr/>
        </p:nvSpPr>
        <p:spPr>
          <a:xfrm>
            <a:off x="3410712" y="2633472"/>
            <a:ext cx="1828800" cy="548640"/>
          </a:xfrm>
          <a:prstGeom prst="rect">
            <a:avLst/>
          </a:prstGeom>
          <a:noFill/>
          <a:ln/>
        </p:spPr>
        <p:txBody>
          <a:bodyPr wrap="square" lIns="0" tIns="0" rIns="0" bIns="0" rtlCol="0" anchor="t"/>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Tekan MAU lima kali saat makan</a:t>
            </a:r>
            <a:endParaRPr lang="en-US" sz="1200" dirty="0"/>
          </a:p>
        </p:txBody>
      </p:sp>
      <p:sp>
        <p:nvSpPr>
          <p:cNvPr id="64" name="Text 48"/>
          <p:cNvSpPr/>
          <p:nvPr/>
        </p:nvSpPr>
        <p:spPr>
          <a:xfrm>
            <a:off x="3410712" y="3273552"/>
            <a:ext cx="1024128" cy="274320"/>
          </a:xfrm>
          <a:prstGeom prst="roundRect">
            <a:avLst>
              <a:gd name="adj" fmla="val 50000"/>
            </a:avLst>
          </a:prstGeom>
          <a:solidFill>
            <a:srgbClr val="038075"/>
          </a:solidFill>
          <a:ln>
            <a:solidFill>
              <a:srgbClr val="A0DDD7"/>
            </a:solid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Pelajaran 60 detik</a:t>
            </a:r>
            <a:endParaRPr lang="en-US" sz="700" dirty="0"/>
          </a:p>
        </p:txBody>
      </p:sp>
      <p:sp>
        <p:nvSpPr>
          <p:cNvPr id="65" name="Text 49"/>
          <p:cNvSpPr/>
          <p:nvPr/>
        </p:nvSpPr>
        <p:spPr>
          <a:xfrm>
            <a:off x="4507992" y="3273552"/>
            <a:ext cx="731520" cy="274320"/>
          </a:xfrm>
          <a:prstGeom prst="roundRect">
            <a:avLst>
              <a:gd name="adj" fmla="val 50000"/>
            </a:avLst>
          </a:prstGeom>
          <a:solidFill>
            <a:srgbClr val="BADE4A"/>
          </a:solidFill>
          <a:ln>
            <a:solidFill>
              <a:srgbClr val="BADE4A"/>
            </a:solidFill>
          </a:ln>
        </p:spPr>
        <p:txBody>
          <a:bodyPr wrap="square" lIns="0" tIns="0" rIns="0" bIns="0" rtlCol="0" anchor="ctr"/>
          <a:lstStyle/>
          <a:p>
            <a:pPr algn="ctr" indent="0" marL="0">
              <a:buNone/>
            </a:pPr>
            <a:r>
              <a:rPr lang="en-US" sz="750" b="1" dirty="0">
                <a:solidFill>
                  <a:srgbClr val="0B5E56"/>
                </a:solidFill>
                <a:latin typeface="Calibri" pitchFamily="34" charset="0"/>
                <a:ea typeface="Calibri" pitchFamily="34" charset="-122"/>
                <a:cs typeface="Calibri" pitchFamily="34" charset="-120"/>
              </a:rPr>
              <a:t>Mulai misi</a:t>
            </a:r>
            <a:endParaRPr lang="en-US" sz="750" dirty="0"/>
          </a:p>
        </p:txBody>
      </p:sp>
      <p:sp>
        <p:nvSpPr>
          <p:cNvPr id="66" name="Text 50"/>
          <p:cNvSpPr/>
          <p:nvPr/>
        </p:nvSpPr>
        <p:spPr>
          <a:xfrm>
            <a:off x="3300984" y="3886200"/>
            <a:ext cx="2048256" cy="411480"/>
          </a:xfrm>
          <a:prstGeom prst="rect">
            <a:avLst/>
          </a:prstGeom>
          <a:noFill/>
          <a:ln/>
        </p:spPr>
        <p:txBody>
          <a:bodyPr wrap="square" lIns="0" tIns="0" rIns="0" bIns="0" rtlCol="0" anchor="ctr"/>
          <a:lstStyle/>
          <a:p>
            <a:pPr algn="ctr" indent="0" marL="0">
              <a:buNone/>
            </a:pPr>
            <a:r>
              <a:rPr lang="en-US" sz="2100" b="1" dirty="0">
                <a:solidFill>
                  <a:srgbClr val="172C2A"/>
                </a:solidFill>
                <a:latin typeface="Trebuchet MS" pitchFamily="34" charset="0"/>
                <a:ea typeface="Trebuchet MS" pitchFamily="34" charset="-122"/>
                <a:cs typeface="Trebuchet MS" pitchFamily="34" charset="-120"/>
              </a:rPr>
              <a:t>2 dari 5</a:t>
            </a:r>
            <a:endParaRPr lang="en-US" sz="2100" dirty="0"/>
          </a:p>
        </p:txBody>
      </p:sp>
      <p:sp>
        <p:nvSpPr>
          <p:cNvPr id="67" name="Shape 51"/>
          <p:cNvSpPr/>
          <p:nvPr/>
        </p:nvSpPr>
        <p:spPr>
          <a:xfrm>
            <a:off x="3639312" y="4343400"/>
            <a:ext cx="201168" cy="201168"/>
          </a:xfrm>
          <a:prstGeom prst="ellipse">
            <a:avLst/>
          </a:prstGeom>
          <a:solidFill>
            <a:srgbClr val="098277"/>
          </a:solidFill>
          <a:ln w="15875">
            <a:solidFill>
              <a:srgbClr val="098277"/>
            </a:solidFill>
            <a:prstDash val="solid"/>
          </a:ln>
        </p:spPr>
      </p:sp>
      <p:sp>
        <p:nvSpPr>
          <p:cNvPr id="68" name="Shape 52"/>
          <p:cNvSpPr/>
          <p:nvPr/>
        </p:nvSpPr>
        <p:spPr>
          <a:xfrm>
            <a:off x="3931920" y="4343400"/>
            <a:ext cx="201168" cy="201168"/>
          </a:xfrm>
          <a:prstGeom prst="ellipse">
            <a:avLst/>
          </a:prstGeom>
          <a:solidFill>
            <a:srgbClr val="098277"/>
          </a:solidFill>
          <a:ln w="15875">
            <a:solidFill>
              <a:srgbClr val="098277"/>
            </a:solidFill>
            <a:prstDash val="solid"/>
          </a:ln>
        </p:spPr>
      </p:sp>
      <p:sp>
        <p:nvSpPr>
          <p:cNvPr id="69" name="Shape 53"/>
          <p:cNvSpPr/>
          <p:nvPr/>
        </p:nvSpPr>
        <p:spPr>
          <a:xfrm>
            <a:off x="4224528" y="4343400"/>
            <a:ext cx="201168" cy="201168"/>
          </a:xfrm>
          <a:prstGeom prst="ellipse">
            <a:avLst/>
          </a:prstGeom>
          <a:solidFill>
            <a:srgbClr val="FFFFFF"/>
          </a:solidFill>
          <a:ln w="15875">
            <a:solidFill>
              <a:srgbClr val="098277"/>
            </a:solidFill>
            <a:prstDash val="solid"/>
          </a:ln>
        </p:spPr>
      </p:sp>
      <p:sp>
        <p:nvSpPr>
          <p:cNvPr id="70" name="Shape 54"/>
          <p:cNvSpPr/>
          <p:nvPr/>
        </p:nvSpPr>
        <p:spPr>
          <a:xfrm>
            <a:off x="4517136" y="4343400"/>
            <a:ext cx="201168" cy="201168"/>
          </a:xfrm>
          <a:prstGeom prst="ellipse">
            <a:avLst/>
          </a:prstGeom>
          <a:solidFill>
            <a:srgbClr val="FFFFFF"/>
          </a:solidFill>
          <a:ln w="15875">
            <a:solidFill>
              <a:srgbClr val="098277"/>
            </a:solidFill>
            <a:prstDash val="solid"/>
          </a:ln>
        </p:spPr>
      </p:sp>
      <p:sp>
        <p:nvSpPr>
          <p:cNvPr id="71" name="Shape 55"/>
          <p:cNvSpPr/>
          <p:nvPr/>
        </p:nvSpPr>
        <p:spPr>
          <a:xfrm>
            <a:off x="4809744" y="4343400"/>
            <a:ext cx="201168" cy="201168"/>
          </a:xfrm>
          <a:prstGeom prst="ellipse">
            <a:avLst/>
          </a:prstGeom>
          <a:solidFill>
            <a:srgbClr val="FFFFFF"/>
          </a:solidFill>
          <a:ln w="15875">
            <a:solidFill>
              <a:srgbClr val="098277"/>
            </a:solidFill>
            <a:prstDash val="solid"/>
          </a:ln>
        </p:spPr>
      </p:sp>
      <p:sp>
        <p:nvSpPr>
          <p:cNvPr id="72" name="Text 56"/>
          <p:cNvSpPr/>
          <p:nvPr/>
        </p:nvSpPr>
        <p:spPr>
          <a:xfrm>
            <a:off x="3300984" y="4645152"/>
            <a:ext cx="2048256" cy="384048"/>
          </a:xfrm>
          <a:prstGeom prst="rect">
            <a:avLst/>
          </a:prstGeom>
          <a:noFill/>
          <a:ln/>
        </p:spPr>
        <p:txBody>
          <a:bodyPr wrap="square" lIns="0" tIns="0" rIns="0" bIns="0" rtlCol="0" anchor="ctr"/>
          <a:lstStyle/>
          <a:p>
            <a:pPr algn="ctr" indent="0" marL="0">
              <a:buNone/>
            </a:pPr>
            <a:r>
              <a:rPr lang="en-US" sz="700" dirty="0">
                <a:solidFill>
                  <a:srgbClr val="52706D"/>
                </a:solidFill>
                <a:latin typeface="Calibri" pitchFamily="34" charset="0"/>
                <a:ea typeface="Calibri" pitchFamily="34" charset="-122"/>
                <a:cs typeface="Calibri" pitchFamily="34" charset="-120"/>
              </a:rPr>
              <a:t>Terisi sendiri dari papan. Mencatat contoh dari Ibu atau Ayah, bukan menilai anak.</a:t>
            </a:r>
            <a:endParaRPr lang="en-US" sz="700" dirty="0"/>
          </a:p>
        </p:txBody>
      </p:sp>
      <p:sp>
        <p:nvSpPr>
          <p:cNvPr id="73" name="Text 57"/>
          <p:cNvSpPr/>
          <p:nvPr/>
        </p:nvSpPr>
        <p:spPr>
          <a:xfrm>
            <a:off x="3300984" y="5120640"/>
            <a:ext cx="987552" cy="310896"/>
          </a:xfrm>
          <a:prstGeom prst="roundRect">
            <a:avLst>
              <a:gd name="adj" fmla="val 50000"/>
            </a:avLst>
          </a:prstGeom>
          <a:solidFill>
            <a:srgbClr val="FFFFFF"/>
          </a:solidFill>
          <a:ln>
            <a:solidFill>
              <a:srgbClr val="026E65"/>
            </a:solidFill>
          </a:ln>
        </p:spPr>
        <p:txBody>
          <a:bodyPr wrap="square" lIns="0" tIns="0" rIns="0" bIns="0" rtlCol="0" anchor="ctr"/>
          <a:lstStyle/>
          <a:p>
            <a:pPr algn="ctr" indent="0" marL="0">
              <a:buNone/>
            </a:pPr>
            <a:r>
              <a:rPr lang="en-US" sz="700" b="1" dirty="0">
                <a:solidFill>
                  <a:srgbClr val="026E65"/>
                </a:solidFill>
                <a:latin typeface="Calibri" pitchFamily="34" charset="0"/>
                <a:ea typeface="Calibri" pitchFamily="34" charset="-122"/>
                <a:cs typeface="Calibri" pitchFamily="34" charset="-120"/>
              </a:rPr>
              <a:t>Belum sempat hari ini</a:t>
            </a:r>
            <a:endParaRPr lang="en-US" sz="700" dirty="0"/>
          </a:p>
        </p:txBody>
      </p:sp>
      <p:sp>
        <p:nvSpPr>
          <p:cNvPr id="74" name="Text 58"/>
          <p:cNvSpPr/>
          <p:nvPr/>
        </p:nvSpPr>
        <p:spPr>
          <a:xfrm>
            <a:off x="4361688" y="5120640"/>
            <a:ext cx="987552" cy="310896"/>
          </a:xfrm>
          <a:prstGeom prst="roundRect">
            <a:avLst>
              <a:gd name="adj" fmla="val 50000"/>
            </a:avLst>
          </a:prstGeom>
          <a:solidFill>
            <a:srgbClr val="FFFFFF"/>
          </a:solidFill>
          <a:ln>
            <a:solidFill>
              <a:srgbClr val="026E65"/>
            </a:solidFill>
          </a:ln>
        </p:spPr>
        <p:txBody>
          <a:bodyPr wrap="square" lIns="0" tIns="0" rIns="0" bIns="0" rtlCol="0" anchor="ctr"/>
          <a:lstStyle/>
          <a:p>
            <a:pPr algn="ctr" indent="0" marL="0">
              <a:buNone/>
            </a:pPr>
            <a:r>
              <a:rPr lang="en-US" sz="750" b="1" dirty="0">
                <a:solidFill>
                  <a:srgbClr val="026E65"/>
                </a:solidFill>
                <a:latin typeface="Calibri" pitchFamily="34" charset="0"/>
                <a:ea typeface="Calibri" pitchFamily="34" charset="-122"/>
                <a:cs typeface="Calibri" pitchFamily="34" charset="-120"/>
              </a:rPr>
              <a:t>Selesai</a:t>
            </a:r>
            <a:endParaRPr lang="en-US" sz="750" dirty="0"/>
          </a:p>
        </p:txBody>
      </p:sp>
      <p:sp>
        <p:nvSpPr>
          <p:cNvPr id="75" name="Shape 59"/>
          <p:cNvSpPr/>
          <p:nvPr/>
        </p:nvSpPr>
        <p:spPr>
          <a:xfrm>
            <a:off x="5806440" y="1783080"/>
            <a:ext cx="2817724" cy="1783080"/>
          </a:xfrm>
          <a:prstGeom prst="roundRect">
            <a:avLst>
              <a:gd name="adj" fmla="val 6154"/>
            </a:avLst>
          </a:prstGeom>
          <a:solidFill>
            <a:srgbClr val="FFFFFF"/>
          </a:solidFill>
          <a:ln w="9525">
            <a:solidFill>
              <a:srgbClr val="DCEEEC"/>
            </a:solidFill>
            <a:prstDash val="solid"/>
          </a:ln>
        </p:spPr>
      </p:sp>
      <p:sp>
        <p:nvSpPr>
          <p:cNvPr id="76" name="Shape 60"/>
          <p:cNvSpPr/>
          <p:nvPr/>
        </p:nvSpPr>
        <p:spPr>
          <a:xfrm>
            <a:off x="5989320" y="1965960"/>
            <a:ext cx="502920" cy="502920"/>
          </a:xfrm>
          <a:prstGeom prst="ellipse">
            <a:avLst/>
          </a:prstGeom>
          <a:solidFill>
            <a:srgbClr val="DFF6F3"/>
          </a:solidFill>
          <a:ln w="12700">
            <a:solidFill>
              <a:srgbClr val="DFF6F3"/>
            </a:solidFill>
            <a:prstDash val="solid"/>
          </a:ln>
        </p:spPr>
      </p:sp>
      <p:pic>
        <p:nvPicPr>
          <p:cNvPr id="77" name="Image 13" descr="preencoded.png">    </p:cNvPr>
          <p:cNvPicPr>
            <a:picLocks noChangeAspect="1"/>
          </p:cNvPicPr>
          <p:nvPr/>
        </p:nvPicPr>
        <p:blipFill>
          <a:blip r:embed="rId14"/>
          <a:stretch>
            <a:fillRect/>
          </a:stretch>
        </p:blipFill>
        <p:spPr>
          <a:xfrm>
            <a:off x="6110021" y="2086661"/>
            <a:ext cx="261518" cy="261518"/>
          </a:xfrm>
          <a:prstGeom prst="rect">
            <a:avLst/>
          </a:prstGeom>
        </p:spPr>
      </p:pic>
      <p:sp>
        <p:nvSpPr>
          <p:cNvPr id="78" name="Text 61"/>
          <p:cNvSpPr/>
          <p:nvPr/>
        </p:nvSpPr>
        <p:spPr>
          <a:xfrm>
            <a:off x="6611112" y="1965960"/>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Papan luring</a:t>
            </a:r>
            <a:endParaRPr lang="en-US" sz="1450" dirty="0"/>
          </a:p>
        </p:txBody>
      </p:sp>
      <p:sp>
        <p:nvSpPr>
          <p:cNvPr id="79" name="Text 62"/>
          <p:cNvSpPr/>
          <p:nvPr/>
        </p:nvSpPr>
        <p:spPr>
          <a:xfrm>
            <a:off x="5989320" y="2587752"/>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12 kata inti di posisi tetap, 120 kata bersimbol berwarna. Luring adalah keadaan normal, bukan peringatan.</a:t>
            </a:r>
            <a:endParaRPr lang="en-US" sz="1100" dirty="0"/>
          </a:p>
        </p:txBody>
      </p:sp>
      <p:sp>
        <p:nvSpPr>
          <p:cNvPr id="80" name="Shape 63"/>
          <p:cNvSpPr/>
          <p:nvPr/>
        </p:nvSpPr>
        <p:spPr>
          <a:xfrm>
            <a:off x="8825332" y="1783080"/>
            <a:ext cx="2817724" cy="1783080"/>
          </a:xfrm>
          <a:prstGeom prst="roundRect">
            <a:avLst>
              <a:gd name="adj" fmla="val 6154"/>
            </a:avLst>
          </a:prstGeom>
          <a:solidFill>
            <a:srgbClr val="FFFFFF"/>
          </a:solidFill>
          <a:ln w="9525">
            <a:solidFill>
              <a:srgbClr val="DCEEEC"/>
            </a:solidFill>
            <a:prstDash val="solid"/>
          </a:ln>
        </p:spPr>
      </p:sp>
      <p:sp>
        <p:nvSpPr>
          <p:cNvPr id="81" name="Shape 64"/>
          <p:cNvSpPr/>
          <p:nvPr/>
        </p:nvSpPr>
        <p:spPr>
          <a:xfrm>
            <a:off x="9008212" y="1965960"/>
            <a:ext cx="502920" cy="502920"/>
          </a:xfrm>
          <a:prstGeom prst="ellipse">
            <a:avLst/>
          </a:prstGeom>
          <a:solidFill>
            <a:srgbClr val="DFF6F3"/>
          </a:solidFill>
          <a:ln w="12700">
            <a:solidFill>
              <a:srgbClr val="DFF6F3"/>
            </a:solidFill>
            <a:prstDash val="solid"/>
          </a:ln>
        </p:spPr>
      </p:sp>
      <p:pic>
        <p:nvPicPr>
          <p:cNvPr id="82" name="Image 14" descr="preencoded.png">    </p:cNvPr>
          <p:cNvPicPr>
            <a:picLocks noChangeAspect="1"/>
          </p:cNvPicPr>
          <p:nvPr/>
        </p:nvPicPr>
        <p:blipFill>
          <a:blip r:embed="rId15"/>
          <a:stretch>
            <a:fillRect/>
          </a:stretch>
        </p:blipFill>
        <p:spPr>
          <a:xfrm>
            <a:off x="9128912" y="2086661"/>
            <a:ext cx="261518" cy="261518"/>
          </a:xfrm>
          <a:prstGeom prst="rect">
            <a:avLst/>
          </a:prstGeom>
        </p:spPr>
      </p:pic>
      <p:sp>
        <p:nvSpPr>
          <p:cNvPr id="83" name="Text 65"/>
          <p:cNvSpPr/>
          <p:nvPr/>
        </p:nvSpPr>
        <p:spPr>
          <a:xfrm>
            <a:off x="9630004" y="1965960"/>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Pencatatan otomatis</a:t>
            </a:r>
            <a:endParaRPr lang="en-US" sz="1450" dirty="0"/>
          </a:p>
        </p:txBody>
      </p:sp>
      <p:sp>
        <p:nvSpPr>
          <p:cNvPr id="84" name="Text 66"/>
          <p:cNvSpPr/>
          <p:nvPr/>
        </p:nvSpPr>
        <p:spPr>
          <a:xfrm>
            <a:off x="9008212" y="2587752"/>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Setiap ketukan jadi peristiwa berstempel waktu. Orang tua tidak mengisi jurnal; data lahir dari pemakaian.</a:t>
            </a:r>
            <a:endParaRPr lang="en-US" sz="1100" dirty="0"/>
          </a:p>
        </p:txBody>
      </p:sp>
      <p:sp>
        <p:nvSpPr>
          <p:cNvPr id="85" name="Shape 67"/>
          <p:cNvSpPr/>
          <p:nvPr/>
        </p:nvSpPr>
        <p:spPr>
          <a:xfrm>
            <a:off x="5806440" y="3730752"/>
            <a:ext cx="2817724" cy="1783080"/>
          </a:xfrm>
          <a:prstGeom prst="roundRect">
            <a:avLst>
              <a:gd name="adj" fmla="val 6154"/>
            </a:avLst>
          </a:prstGeom>
          <a:solidFill>
            <a:srgbClr val="FFFFFF"/>
          </a:solidFill>
          <a:ln w="9525">
            <a:solidFill>
              <a:srgbClr val="DCEEEC"/>
            </a:solidFill>
            <a:prstDash val="solid"/>
          </a:ln>
        </p:spPr>
      </p:sp>
      <p:sp>
        <p:nvSpPr>
          <p:cNvPr id="86" name="Shape 68"/>
          <p:cNvSpPr/>
          <p:nvPr/>
        </p:nvSpPr>
        <p:spPr>
          <a:xfrm>
            <a:off x="5989320" y="3913632"/>
            <a:ext cx="502920" cy="502920"/>
          </a:xfrm>
          <a:prstGeom prst="ellipse">
            <a:avLst/>
          </a:prstGeom>
          <a:solidFill>
            <a:srgbClr val="DFF6F3"/>
          </a:solidFill>
          <a:ln w="12700">
            <a:solidFill>
              <a:srgbClr val="DFF6F3"/>
            </a:solidFill>
            <a:prstDash val="solid"/>
          </a:ln>
        </p:spPr>
      </p:sp>
      <p:pic>
        <p:nvPicPr>
          <p:cNvPr id="87" name="Image 15" descr="preencoded.png">    </p:cNvPr>
          <p:cNvPicPr>
            <a:picLocks noChangeAspect="1"/>
          </p:cNvPicPr>
          <p:nvPr/>
        </p:nvPicPr>
        <p:blipFill>
          <a:blip r:embed="rId16"/>
          <a:stretch>
            <a:fillRect/>
          </a:stretch>
        </p:blipFill>
        <p:spPr>
          <a:xfrm>
            <a:off x="6110021" y="4034333"/>
            <a:ext cx="261518" cy="261518"/>
          </a:xfrm>
          <a:prstGeom prst="rect">
            <a:avLst/>
          </a:prstGeom>
        </p:spPr>
      </p:pic>
      <p:sp>
        <p:nvSpPr>
          <p:cNvPr id="88" name="Text 69"/>
          <p:cNvSpPr/>
          <p:nvPr/>
        </p:nvSpPr>
        <p:spPr>
          <a:xfrm>
            <a:off x="6611112" y="3913632"/>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Aman untuk anak</a:t>
            </a:r>
            <a:endParaRPr lang="en-US" sz="1450" dirty="0"/>
          </a:p>
        </p:txBody>
      </p:sp>
      <p:sp>
        <p:nvSpPr>
          <p:cNvPr id="89" name="Text 70"/>
          <p:cNvSpPr/>
          <p:nvPr/>
        </p:nvSpPr>
        <p:spPr>
          <a:xfrm>
            <a:off x="5989320" y="4535424"/>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Layar "Aku {nama}" / "Aku orang tua" dengan PIN; papan anak dikunci screen pinning, keluar dengan tahan 1,5 detik.</a:t>
            </a:r>
            <a:endParaRPr lang="en-US" sz="1100" dirty="0"/>
          </a:p>
        </p:txBody>
      </p:sp>
      <p:sp>
        <p:nvSpPr>
          <p:cNvPr id="90" name="Shape 71"/>
          <p:cNvSpPr/>
          <p:nvPr/>
        </p:nvSpPr>
        <p:spPr>
          <a:xfrm>
            <a:off x="8825332" y="3730752"/>
            <a:ext cx="2817724" cy="1783080"/>
          </a:xfrm>
          <a:prstGeom prst="roundRect">
            <a:avLst>
              <a:gd name="adj" fmla="val 6154"/>
            </a:avLst>
          </a:prstGeom>
          <a:solidFill>
            <a:srgbClr val="FFFFFF"/>
          </a:solidFill>
          <a:ln w="9525">
            <a:solidFill>
              <a:srgbClr val="DCEEEC"/>
            </a:solidFill>
            <a:prstDash val="solid"/>
          </a:ln>
        </p:spPr>
      </p:sp>
      <p:sp>
        <p:nvSpPr>
          <p:cNvPr id="91" name="Shape 72"/>
          <p:cNvSpPr/>
          <p:nvPr/>
        </p:nvSpPr>
        <p:spPr>
          <a:xfrm>
            <a:off x="9008212" y="3913632"/>
            <a:ext cx="502920" cy="502920"/>
          </a:xfrm>
          <a:prstGeom prst="ellipse">
            <a:avLst/>
          </a:prstGeom>
          <a:solidFill>
            <a:srgbClr val="FDE1E2"/>
          </a:solidFill>
          <a:ln w="12700">
            <a:solidFill>
              <a:srgbClr val="FDE1E2"/>
            </a:solidFill>
            <a:prstDash val="solid"/>
          </a:ln>
        </p:spPr>
      </p:sp>
      <p:pic>
        <p:nvPicPr>
          <p:cNvPr id="92" name="Image 16" descr="preencoded.png">    </p:cNvPr>
          <p:cNvPicPr>
            <a:picLocks noChangeAspect="1"/>
          </p:cNvPicPr>
          <p:nvPr/>
        </p:nvPicPr>
        <p:blipFill>
          <a:blip r:embed="rId17"/>
          <a:stretch>
            <a:fillRect/>
          </a:stretch>
        </p:blipFill>
        <p:spPr>
          <a:xfrm>
            <a:off x="9128912" y="4034333"/>
            <a:ext cx="261518" cy="261518"/>
          </a:xfrm>
          <a:prstGeom prst="rect">
            <a:avLst/>
          </a:prstGeom>
        </p:spPr>
      </p:pic>
      <p:sp>
        <p:nvSpPr>
          <p:cNvPr id="93" name="Text 73"/>
          <p:cNvSpPr/>
          <p:nvPr/>
        </p:nvSpPr>
        <p:spPr>
          <a:xfrm>
            <a:off x="9630004" y="3913632"/>
            <a:ext cx="1857604" cy="502920"/>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Misi harian</a:t>
            </a:r>
            <a:endParaRPr lang="en-US" sz="1450" dirty="0"/>
          </a:p>
        </p:txBody>
      </p:sp>
      <p:sp>
        <p:nvSpPr>
          <p:cNvPr id="94" name="Text 74"/>
          <p:cNvSpPr/>
          <p:nvPr/>
        </p:nvSpPr>
        <p:spPr>
          <a:xfrm>
            <a:off x="9008212" y="4535424"/>
            <a:ext cx="2451964" cy="886968"/>
          </a:xfrm>
          <a:prstGeom prst="rect">
            <a:avLst/>
          </a:prstGeom>
          <a:noFill/>
          <a:ln/>
        </p:spPr>
        <p:txBody>
          <a:bodyPr wrap="square" lIns="0" tIns="0" rIns="0" bIns="0" rtlCol="0" anchor="t"/>
          <a:lstStyle/>
          <a:p>
            <a:pPr indent="0" marL="0">
              <a:buNone/>
            </a:pPr>
            <a:r>
              <a:rPr lang="en-US" sz="1100" dirty="0">
                <a:solidFill>
                  <a:srgbClr val="172C2A"/>
                </a:solidFill>
                <a:latin typeface="Calibri" pitchFamily="34" charset="0"/>
                <a:ea typeface="Calibri" pitchFamily="34" charset="-122"/>
                <a:cs typeface="Calibri" pitchFamily="34" charset="-120"/>
              </a:rPr>
              <a:t>1 pelajaran 60 detik + 1 misi &lt; 5 menit di rutinitas. Kata misi dipilih aturan yang bisa dilacak terapis.</a:t>
            </a:r>
            <a:endParaRPr lang="en-US" sz="1100" dirty="0"/>
          </a:p>
        </p:txBody>
      </p:sp>
      <p:sp>
        <p:nvSpPr>
          <p:cNvPr id="95" name="Text 75"/>
          <p:cNvSpPr/>
          <p:nvPr/>
        </p:nvSpPr>
        <p:spPr>
          <a:xfrm>
            <a:off x="5806440" y="5577840"/>
            <a:ext cx="5836615" cy="310896"/>
          </a:xfrm>
          <a:prstGeom prst="rect">
            <a:avLst/>
          </a:prstGeom>
          <a:noFill/>
          <a:ln/>
        </p:spPr>
        <p:txBody>
          <a:bodyPr wrap="square" lIns="0" tIns="0" rIns="0" bIns="0" rtlCol="0" anchor="ctr"/>
          <a:lstStyle/>
          <a:p>
            <a:pPr indent="0" marL="0">
              <a:buNone/>
            </a:pPr>
            <a:r>
              <a:rPr lang="en-US" sz="1150" b="1" i="1" dirty="0">
                <a:solidFill>
                  <a:srgbClr val="026E65"/>
                </a:solidFill>
                <a:latin typeface="Calibri" pitchFamily="34" charset="0"/>
                <a:ea typeface="Calibri" pitchFamily="34" charset="-122"/>
                <a:cs typeface="Calibri" pitchFamily="34" charset="-120"/>
              </a:rPr>
              <a:t>Tanpa streak · tanpa rasa bersalah · tanpa formulir. Pencatatan lahir dari ketukan.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KENAPA MISINYA DIRANCANG BEGINI</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elemen misi harian berpijak pada riset, dan yang belum teruji kami tandai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7</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Steinbrenner dkk. (2020), NCAEP: 972 artikel, 28 praktik berbasis bukti · Wetherby dkk. (2014), Pediatrics · Biggs, Carter &amp; Gilson (2018), AJIDD · O'Neill dkk. (2018) · Gollwitzer &amp; Sheeran (2006) · Lally dkk. (2010), EJSP · Keller dkk. (2021), BJHP.</a:t>
            </a:r>
            <a:endParaRPr lang="en-US" sz="850" dirty="0"/>
          </a:p>
        </p:txBody>
      </p:sp>
      <p:sp>
        <p:nvSpPr>
          <p:cNvPr id="12" name="Shape 8"/>
          <p:cNvSpPr/>
          <p:nvPr/>
        </p:nvSpPr>
        <p:spPr>
          <a:xfrm>
            <a:off x="548640" y="1755648"/>
            <a:ext cx="11094415" cy="566928"/>
          </a:xfrm>
          <a:prstGeom prst="roundRect">
            <a:avLst>
              <a:gd name="adj" fmla="val 19355"/>
            </a:avLst>
          </a:prstGeom>
          <a:solidFill>
            <a:srgbClr val="FFFFFF"/>
          </a:solidFill>
          <a:ln w="9525">
            <a:solidFill>
              <a:srgbClr val="DCEEEC"/>
            </a:solidFill>
            <a:prstDash val="solid"/>
          </a:ln>
        </p:spPr>
      </p:sp>
      <p:sp>
        <p:nvSpPr>
          <p:cNvPr id="13" name="Shape 9"/>
          <p:cNvSpPr/>
          <p:nvPr/>
        </p:nvSpPr>
        <p:spPr>
          <a:xfrm>
            <a:off x="685800" y="1828800"/>
            <a:ext cx="420624" cy="420624"/>
          </a:xfrm>
          <a:prstGeom prst="ellipse">
            <a:avLst/>
          </a:prstGeom>
          <a:solidFill>
            <a:srgbClr val="DFF6F3"/>
          </a:solidFill>
          <a:ln w="12700">
            <a:solidFill>
              <a:srgbClr val="DFF6F3"/>
            </a:solidFill>
            <a:prstDash val="solid"/>
          </a:ln>
        </p:spPr>
      </p:sp>
      <p:pic>
        <p:nvPicPr>
          <p:cNvPr id="14" name="Image 1" descr="preencoded.png">    </p:cNvPr>
          <p:cNvPicPr>
            <a:picLocks noChangeAspect="1"/>
          </p:cNvPicPr>
          <p:nvPr/>
        </p:nvPicPr>
        <p:blipFill>
          <a:blip r:embed="rId2"/>
          <a:stretch>
            <a:fillRect/>
          </a:stretch>
        </p:blipFill>
        <p:spPr>
          <a:xfrm>
            <a:off x="786750" y="1929750"/>
            <a:ext cx="218724" cy="218724"/>
          </a:xfrm>
          <a:prstGeom prst="rect">
            <a:avLst/>
          </a:prstGeom>
        </p:spPr>
      </p:pic>
      <p:sp>
        <p:nvSpPr>
          <p:cNvPr id="15" name="Text 10"/>
          <p:cNvSpPr/>
          <p:nvPr/>
        </p:nvSpPr>
        <p:spPr>
          <a:xfrm>
            <a:off x="1234440" y="175564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Orang tua yang menjalankan</a:t>
            </a:r>
            <a:endParaRPr lang="en-US" sz="1300" dirty="0"/>
          </a:p>
        </p:txBody>
      </p:sp>
      <p:sp>
        <p:nvSpPr>
          <p:cNvPr id="16" name="Text 11"/>
          <p:cNvSpPr/>
          <p:nvPr/>
        </p:nvSpPr>
        <p:spPr>
          <a:xfrm>
            <a:off x="3886200" y="175564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Parent-Implemented Intervention: praktik berbasis bukti, 55 artikel (NCAEP 2020). RCT 82 balita: pelatihan orang tua di kegiatan sehari-hari meningkatkan komunikasi sosial (Wetherby 2014).</a:t>
            </a:r>
            <a:endParaRPr lang="en-US" sz="1100" dirty="0"/>
          </a:p>
        </p:txBody>
      </p:sp>
      <p:sp>
        <p:nvSpPr>
          <p:cNvPr id="17" name="Text 12"/>
          <p:cNvSpPr/>
          <p:nvPr/>
        </p:nvSpPr>
        <p:spPr>
          <a:xfrm>
            <a:off x="10774375" y="188366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8" name="Shape 13"/>
          <p:cNvSpPr/>
          <p:nvPr/>
        </p:nvSpPr>
        <p:spPr>
          <a:xfrm>
            <a:off x="548640" y="2395728"/>
            <a:ext cx="11094415" cy="566928"/>
          </a:xfrm>
          <a:prstGeom prst="roundRect">
            <a:avLst>
              <a:gd name="adj" fmla="val 19355"/>
            </a:avLst>
          </a:prstGeom>
          <a:solidFill>
            <a:srgbClr val="FFFFFF"/>
          </a:solidFill>
          <a:ln w="9525">
            <a:solidFill>
              <a:srgbClr val="DCEEEC"/>
            </a:solidFill>
            <a:prstDash val="solid"/>
          </a:ln>
        </p:spPr>
      </p:sp>
      <p:sp>
        <p:nvSpPr>
          <p:cNvPr id="19" name="Shape 14"/>
          <p:cNvSpPr/>
          <p:nvPr/>
        </p:nvSpPr>
        <p:spPr>
          <a:xfrm>
            <a:off x="685800" y="2468880"/>
            <a:ext cx="420624" cy="420624"/>
          </a:xfrm>
          <a:prstGeom prst="ellipse">
            <a:avLst/>
          </a:prstGeom>
          <a:solidFill>
            <a:srgbClr val="DFF6F3"/>
          </a:solidFill>
          <a:ln w="12700">
            <a:solidFill>
              <a:srgbClr val="DFF6F3"/>
            </a:solidFill>
            <a:prstDash val="solid"/>
          </a:ln>
        </p:spPr>
      </p:sp>
      <p:pic>
        <p:nvPicPr>
          <p:cNvPr id="20" name="Image 2" descr="preencoded.png">    </p:cNvPr>
          <p:cNvPicPr>
            <a:picLocks noChangeAspect="1"/>
          </p:cNvPicPr>
          <p:nvPr/>
        </p:nvPicPr>
        <p:blipFill>
          <a:blip r:embed="rId3"/>
          <a:stretch>
            <a:fillRect/>
          </a:stretch>
        </p:blipFill>
        <p:spPr>
          <a:xfrm>
            <a:off x="786750" y="2569830"/>
            <a:ext cx="218724" cy="218724"/>
          </a:xfrm>
          <a:prstGeom prst="rect">
            <a:avLst/>
          </a:prstGeom>
        </p:spPr>
      </p:pic>
      <p:sp>
        <p:nvSpPr>
          <p:cNvPr id="21" name="Text 15"/>
          <p:cNvSpPr/>
          <p:nvPr/>
        </p:nvSpPr>
        <p:spPr>
          <a:xfrm>
            <a:off x="1234440" y="239572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Tekan sambil bicara</a:t>
            </a:r>
            <a:endParaRPr lang="en-US" sz="1300" dirty="0"/>
          </a:p>
        </p:txBody>
      </p:sp>
      <p:sp>
        <p:nvSpPr>
          <p:cNvPr id="22" name="Text 16"/>
          <p:cNvSpPr/>
          <p:nvPr/>
        </p:nvSpPr>
        <p:spPr>
          <a:xfrm>
            <a:off x="3886200" y="239572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Aided AAC modeling umumnya efektif: tinjauan 48 studi, 267 anak (Biggs 2018); meta-analisis O'Neill 2018.</a:t>
            </a:r>
            <a:endParaRPr lang="en-US" sz="1100" dirty="0"/>
          </a:p>
        </p:txBody>
      </p:sp>
      <p:sp>
        <p:nvSpPr>
          <p:cNvPr id="23" name="Text 17"/>
          <p:cNvSpPr/>
          <p:nvPr/>
        </p:nvSpPr>
        <p:spPr>
          <a:xfrm>
            <a:off x="10774375" y="252374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24" name="Shape 18"/>
          <p:cNvSpPr/>
          <p:nvPr/>
        </p:nvSpPr>
        <p:spPr>
          <a:xfrm>
            <a:off x="548640" y="3035808"/>
            <a:ext cx="11094415" cy="566928"/>
          </a:xfrm>
          <a:prstGeom prst="roundRect">
            <a:avLst>
              <a:gd name="adj" fmla="val 19355"/>
            </a:avLst>
          </a:prstGeom>
          <a:solidFill>
            <a:srgbClr val="FFFFFF"/>
          </a:solidFill>
          <a:ln w="9525">
            <a:solidFill>
              <a:srgbClr val="DCEEEC"/>
            </a:solidFill>
            <a:prstDash val="solid"/>
          </a:ln>
        </p:spPr>
      </p:sp>
      <p:sp>
        <p:nvSpPr>
          <p:cNvPr id="25" name="Shape 19"/>
          <p:cNvSpPr/>
          <p:nvPr/>
        </p:nvSpPr>
        <p:spPr>
          <a:xfrm>
            <a:off x="685800" y="3108960"/>
            <a:ext cx="420624" cy="420624"/>
          </a:xfrm>
          <a:prstGeom prst="ellipse">
            <a:avLst/>
          </a:prstGeom>
          <a:solidFill>
            <a:srgbClr val="DFF6F3"/>
          </a:solidFill>
          <a:ln w="12700">
            <a:solidFill>
              <a:srgbClr val="DFF6F3"/>
            </a:solidFill>
            <a:prstDash val="solid"/>
          </a:ln>
        </p:spPr>
      </p:sp>
      <p:pic>
        <p:nvPicPr>
          <p:cNvPr id="26" name="Image 3" descr="preencoded.png">    </p:cNvPr>
          <p:cNvPicPr>
            <a:picLocks noChangeAspect="1"/>
          </p:cNvPicPr>
          <p:nvPr/>
        </p:nvPicPr>
        <p:blipFill>
          <a:blip r:embed="rId4"/>
          <a:stretch>
            <a:fillRect/>
          </a:stretch>
        </p:blipFill>
        <p:spPr>
          <a:xfrm>
            <a:off x="786750" y="3209910"/>
            <a:ext cx="218724" cy="218724"/>
          </a:xfrm>
          <a:prstGeom prst="rect">
            <a:avLst/>
          </a:prstGeom>
        </p:spPr>
      </p:pic>
      <p:sp>
        <p:nvSpPr>
          <p:cNvPr id="27" name="Text 20"/>
          <p:cNvSpPr/>
          <p:nvPr/>
        </p:nvSpPr>
        <p:spPr>
          <a:xfrm>
            <a:off x="1234440" y="303580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Menempel pada rutinitas</a:t>
            </a:r>
            <a:endParaRPr lang="en-US" sz="1300" dirty="0"/>
          </a:p>
        </p:txBody>
      </p:sp>
      <p:sp>
        <p:nvSpPr>
          <p:cNvPr id="28" name="Text 21"/>
          <p:cNvSpPr/>
          <p:nvPr/>
        </p:nvSpPr>
        <p:spPr>
          <a:xfrm>
            <a:off x="3886200" y="303580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Naturalistic Intervention: praktik berbasis bukti, 75 artikel (NCAEP 2020). Rencana "jika–maka": d = 0,65 dari 94 studi (Gollwitzer &amp; Sheeran 2006).</a:t>
            </a:r>
            <a:endParaRPr lang="en-US" sz="1100" dirty="0"/>
          </a:p>
        </p:txBody>
      </p:sp>
      <p:sp>
        <p:nvSpPr>
          <p:cNvPr id="29" name="Text 22"/>
          <p:cNvSpPr/>
          <p:nvPr/>
        </p:nvSpPr>
        <p:spPr>
          <a:xfrm>
            <a:off x="10774375" y="316382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0" name="Shape 23"/>
          <p:cNvSpPr/>
          <p:nvPr/>
        </p:nvSpPr>
        <p:spPr>
          <a:xfrm>
            <a:off x="548640" y="3675888"/>
            <a:ext cx="11094415" cy="566928"/>
          </a:xfrm>
          <a:prstGeom prst="roundRect">
            <a:avLst>
              <a:gd name="adj" fmla="val 19355"/>
            </a:avLst>
          </a:prstGeom>
          <a:solidFill>
            <a:srgbClr val="FFFFFF"/>
          </a:solidFill>
          <a:ln w="9525">
            <a:solidFill>
              <a:srgbClr val="DCEEEC"/>
            </a:solidFill>
            <a:prstDash val="solid"/>
          </a:ln>
        </p:spPr>
      </p:sp>
      <p:sp>
        <p:nvSpPr>
          <p:cNvPr id="31" name="Shape 24"/>
          <p:cNvSpPr/>
          <p:nvPr/>
        </p:nvSpPr>
        <p:spPr>
          <a:xfrm>
            <a:off x="685800" y="3749040"/>
            <a:ext cx="420624" cy="420624"/>
          </a:xfrm>
          <a:prstGeom prst="ellipse">
            <a:avLst/>
          </a:prstGeom>
          <a:solidFill>
            <a:srgbClr val="DFF6F3"/>
          </a:solidFill>
          <a:ln w="12700">
            <a:solidFill>
              <a:srgbClr val="DFF6F3"/>
            </a:solidFill>
            <a:prstDash val="solid"/>
          </a:ln>
        </p:spPr>
      </p:sp>
      <p:pic>
        <p:nvPicPr>
          <p:cNvPr id="32" name="Image 4" descr="preencoded.png">    </p:cNvPr>
          <p:cNvPicPr>
            <a:picLocks noChangeAspect="1"/>
          </p:cNvPicPr>
          <p:nvPr/>
        </p:nvPicPr>
        <p:blipFill>
          <a:blip r:embed="rId5"/>
          <a:stretch>
            <a:fillRect/>
          </a:stretch>
        </p:blipFill>
        <p:spPr>
          <a:xfrm>
            <a:off x="786750" y="3849990"/>
            <a:ext cx="218724" cy="218724"/>
          </a:xfrm>
          <a:prstGeom prst="rect">
            <a:avLst/>
          </a:prstGeom>
        </p:spPr>
      </p:pic>
      <p:sp>
        <p:nvSpPr>
          <p:cNvPr id="33" name="Text 25"/>
          <p:cNvSpPr/>
          <p:nvPr/>
        </p:nvSpPr>
        <p:spPr>
          <a:xfrm>
            <a:off x="1234440" y="367588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Tunggu lima detik</a:t>
            </a:r>
            <a:endParaRPr lang="en-US" sz="1300" dirty="0"/>
          </a:p>
        </p:txBody>
      </p:sp>
      <p:sp>
        <p:nvSpPr>
          <p:cNvPr id="34" name="Text 26"/>
          <p:cNvSpPr/>
          <p:nvPr/>
        </p:nvSpPr>
        <p:spPr>
          <a:xfrm>
            <a:off x="3886200" y="367588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Time Delay: praktik berbasis bukti, 31 artikel (NCAEP 2020). Angka "lima detik" adalah angka praktis.</a:t>
            </a:r>
            <a:endParaRPr lang="en-US" sz="1100" dirty="0"/>
          </a:p>
        </p:txBody>
      </p:sp>
      <p:sp>
        <p:nvSpPr>
          <p:cNvPr id="35" name="Text 27"/>
          <p:cNvSpPr/>
          <p:nvPr/>
        </p:nvSpPr>
        <p:spPr>
          <a:xfrm>
            <a:off x="10774375" y="3803904"/>
            <a:ext cx="685800" cy="310896"/>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6" name="Shape 28"/>
          <p:cNvSpPr/>
          <p:nvPr/>
        </p:nvSpPr>
        <p:spPr>
          <a:xfrm>
            <a:off x="548640" y="4315968"/>
            <a:ext cx="11094415" cy="566928"/>
          </a:xfrm>
          <a:prstGeom prst="roundRect">
            <a:avLst>
              <a:gd name="adj" fmla="val 19355"/>
            </a:avLst>
          </a:prstGeom>
          <a:solidFill>
            <a:srgbClr val="FFFFFF"/>
          </a:solidFill>
          <a:ln w="9525">
            <a:solidFill>
              <a:srgbClr val="DCEEEC"/>
            </a:solidFill>
            <a:prstDash val="solid"/>
          </a:ln>
        </p:spPr>
      </p:sp>
      <p:sp>
        <p:nvSpPr>
          <p:cNvPr id="37" name="Shape 29"/>
          <p:cNvSpPr/>
          <p:nvPr/>
        </p:nvSpPr>
        <p:spPr>
          <a:xfrm>
            <a:off x="685800" y="4389120"/>
            <a:ext cx="420624" cy="420624"/>
          </a:xfrm>
          <a:prstGeom prst="ellipse">
            <a:avLst/>
          </a:prstGeom>
          <a:solidFill>
            <a:srgbClr val="DFF6F3"/>
          </a:solidFill>
          <a:ln w="12700">
            <a:solidFill>
              <a:srgbClr val="DFF6F3"/>
            </a:solidFill>
            <a:prstDash val="solid"/>
          </a:ln>
        </p:spPr>
      </p:sp>
      <p:pic>
        <p:nvPicPr>
          <p:cNvPr id="38" name="Image 5" descr="preencoded.png">    </p:cNvPr>
          <p:cNvPicPr>
            <a:picLocks noChangeAspect="1"/>
          </p:cNvPicPr>
          <p:nvPr/>
        </p:nvPicPr>
        <p:blipFill>
          <a:blip r:embed="rId6"/>
          <a:stretch>
            <a:fillRect/>
          </a:stretch>
        </p:blipFill>
        <p:spPr>
          <a:xfrm>
            <a:off x="786750" y="4490070"/>
            <a:ext cx="218724" cy="218724"/>
          </a:xfrm>
          <a:prstGeom prst="rect">
            <a:avLst/>
          </a:prstGeom>
        </p:spPr>
      </p:pic>
      <p:sp>
        <p:nvSpPr>
          <p:cNvPr id="39" name="Text 30"/>
          <p:cNvSpPr/>
          <p:nvPr/>
        </p:nvSpPr>
        <p:spPr>
          <a:xfrm>
            <a:off x="1234440" y="431596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Setiap hari, tanpa streak</a:t>
            </a:r>
            <a:endParaRPr lang="en-US" sz="1300" dirty="0"/>
          </a:p>
        </p:txBody>
      </p:sp>
      <p:sp>
        <p:nvSpPr>
          <p:cNvPr id="40" name="Text 31"/>
          <p:cNvSpPr/>
          <p:nvPr/>
        </p:nvSpPr>
        <p:spPr>
          <a:xfrm>
            <a:off x="3886200" y="431596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Melewatkan satu hari tidak berpengaruh berarti pada pembentukan kebiasaan (Lally 2010, 96 orang). Pengulangan adalah prediktor utama (Keller 2021, RCT 192 orang).</a:t>
            </a:r>
            <a:endParaRPr lang="en-US" sz="1100" dirty="0"/>
          </a:p>
        </p:txBody>
      </p:sp>
      <p:sp>
        <p:nvSpPr>
          <p:cNvPr id="41" name="Text 32"/>
          <p:cNvSpPr/>
          <p:nvPr/>
        </p:nvSpPr>
        <p:spPr>
          <a:xfrm>
            <a:off x="10774375" y="4443984"/>
            <a:ext cx="685800" cy="310896"/>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100" b="1" dirty="0">
                <a:solidFill>
                  <a:srgbClr val="026E65"/>
                </a:solidFill>
                <a:latin typeface="Calibri" pitchFamily="34" charset="0"/>
                <a:ea typeface="Calibri" pitchFamily="34" charset="-122"/>
                <a:cs typeface="Calibri" pitchFamily="34" charset="-120"/>
              </a:rPr>
              <a:t>A/B</a:t>
            </a:r>
            <a:endParaRPr lang="en-US" sz="1100" dirty="0"/>
          </a:p>
        </p:txBody>
      </p:sp>
      <p:sp>
        <p:nvSpPr>
          <p:cNvPr id="42" name="Shape 33"/>
          <p:cNvSpPr/>
          <p:nvPr/>
        </p:nvSpPr>
        <p:spPr>
          <a:xfrm>
            <a:off x="548640" y="4956048"/>
            <a:ext cx="11094415" cy="566928"/>
          </a:xfrm>
          <a:prstGeom prst="roundRect">
            <a:avLst>
              <a:gd name="adj" fmla="val 19355"/>
            </a:avLst>
          </a:prstGeom>
          <a:solidFill>
            <a:srgbClr val="FDF0D2"/>
          </a:solidFill>
          <a:ln w="9525">
            <a:solidFill>
              <a:srgbClr val="F5C862"/>
            </a:solidFill>
            <a:prstDash val="solid"/>
          </a:ln>
        </p:spPr>
      </p:sp>
      <p:sp>
        <p:nvSpPr>
          <p:cNvPr id="43" name="Shape 34"/>
          <p:cNvSpPr/>
          <p:nvPr/>
        </p:nvSpPr>
        <p:spPr>
          <a:xfrm>
            <a:off x="685800" y="5029200"/>
            <a:ext cx="420624" cy="420624"/>
          </a:xfrm>
          <a:prstGeom prst="ellipse">
            <a:avLst/>
          </a:prstGeom>
          <a:solidFill>
            <a:srgbClr val="FFFFFF"/>
          </a:solidFill>
          <a:ln w="12700">
            <a:solidFill>
              <a:srgbClr val="FFFFFF"/>
            </a:solidFill>
            <a:prstDash val="solid"/>
          </a:ln>
        </p:spPr>
      </p:sp>
      <p:pic>
        <p:nvPicPr>
          <p:cNvPr id="44" name="Image 6" descr="preencoded.png">    </p:cNvPr>
          <p:cNvPicPr>
            <a:picLocks noChangeAspect="1"/>
          </p:cNvPicPr>
          <p:nvPr/>
        </p:nvPicPr>
        <p:blipFill>
          <a:blip r:embed="rId7"/>
          <a:stretch>
            <a:fillRect/>
          </a:stretch>
        </p:blipFill>
        <p:spPr>
          <a:xfrm>
            <a:off x="786750" y="5130150"/>
            <a:ext cx="218724" cy="218724"/>
          </a:xfrm>
          <a:prstGeom prst="rect">
            <a:avLst/>
          </a:prstGeom>
        </p:spPr>
      </p:pic>
      <p:sp>
        <p:nvSpPr>
          <p:cNvPr id="45" name="Text 35"/>
          <p:cNvSpPr/>
          <p:nvPr/>
        </p:nvSpPr>
        <p:spPr>
          <a:xfrm>
            <a:off x="1234440" y="4956048"/>
            <a:ext cx="2606040" cy="566928"/>
          </a:xfrm>
          <a:prstGeom prst="rect">
            <a:avLst/>
          </a:prstGeom>
          <a:noFill/>
          <a:ln/>
        </p:spPr>
        <p:txBody>
          <a:bodyPr wrap="square" lIns="0" tIns="0" rIns="0" bIns="0" rtlCol="0" anchor="ctr"/>
          <a:lstStyle/>
          <a:p>
            <a:pPr indent="0" marL="0">
              <a:buNone/>
            </a:pPr>
            <a:r>
              <a:rPr lang="en-US" sz="1300" b="1" dirty="0">
                <a:solidFill>
                  <a:srgbClr val="172C2A"/>
                </a:solidFill>
                <a:latin typeface="Trebuchet MS" pitchFamily="34" charset="0"/>
                <a:ea typeface="Trebuchet MS" pitchFamily="34" charset="-122"/>
                <a:cs typeface="Trebuchet MS" pitchFamily="34" charset="-120"/>
              </a:rPr>
              <a:t>Pelajaran 60 dtk, 5 contoh/hari</a:t>
            </a:r>
            <a:endParaRPr lang="en-US" sz="1300" dirty="0"/>
          </a:p>
        </p:txBody>
      </p:sp>
      <p:sp>
        <p:nvSpPr>
          <p:cNvPr id="46" name="Text 36"/>
          <p:cNvSpPr/>
          <p:nvPr/>
        </p:nvSpPr>
        <p:spPr>
          <a:xfrm>
            <a:off x="3886200" y="4956048"/>
            <a:ext cx="6751015" cy="566928"/>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Belum ada bukti langsung. Diuji di pilot.</a:t>
            </a:r>
            <a:endParaRPr lang="en-US" sz="1100" dirty="0"/>
          </a:p>
        </p:txBody>
      </p:sp>
      <p:sp>
        <p:nvSpPr>
          <p:cNvPr id="47" name="Text 37"/>
          <p:cNvSpPr/>
          <p:nvPr/>
        </p:nvSpPr>
        <p:spPr>
          <a:xfrm>
            <a:off x="10774375" y="5084064"/>
            <a:ext cx="685800" cy="310896"/>
          </a:xfrm>
          <a:prstGeom prst="roundRect">
            <a:avLst>
              <a:gd name="adj" fmla="val 50000"/>
            </a:avLst>
          </a:prstGeom>
          <a:solidFill>
            <a:srgbClr val="8A5B0A"/>
          </a:solidFill>
          <a:ln>
            <a:solidFill>
              <a:srgbClr val="8A5B0A"/>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a:t>
            </a:r>
            <a:endParaRPr lang="en-US" sz="1100" dirty="0"/>
          </a:p>
        </p:txBody>
      </p:sp>
      <p:sp>
        <p:nvSpPr>
          <p:cNvPr id="48" name="Text 38"/>
          <p:cNvSpPr/>
          <p:nvPr/>
        </p:nvSpPr>
        <p:spPr>
          <a:xfrm>
            <a:off x="548640" y="5687568"/>
            <a:ext cx="11094415" cy="274320"/>
          </a:xfrm>
          <a:prstGeom prst="rect">
            <a:avLst/>
          </a:prstGeom>
          <a:noFill/>
          <a:ln/>
        </p:spPr>
        <p:txBody>
          <a:bodyPr wrap="square" lIns="0" tIns="0" rIns="0" bIns="0" rtlCol="0" anchor="ctr"/>
          <a:lstStyle/>
          <a:p>
            <a:pPr indent="0" marL="0">
              <a:buNone/>
            </a:pPr>
            <a:r>
              <a:rPr lang="en-US" sz="1000" dirty="0">
                <a:solidFill>
                  <a:srgbClr val="52706D"/>
                </a:solidFill>
                <a:latin typeface="Calibri" pitchFamily="34" charset="0"/>
                <a:ea typeface="Calibri" pitchFamily="34" charset="-122"/>
                <a:cs typeface="Calibri" pitchFamily="34" charset="-120"/>
              </a:rPr>
              <a:t>Tingkat: A uji acak, meta-analisis, atau tinjauan sistematis · B studi terbatas · D asumsi tim yang belum diuji</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FITUR UNGGULAN 1 · SUARA KELUARGA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Anak mendengar kalimat baru dengan suara orang tuanya, hanya atas persetujuan eksplisit</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8</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PERUBAHAN.md entri 16 dan 17; server/app/main.py dan services/voice.py (ElevenLabs Instant Voice Cloning, OpenAI TTS). Tangkapan layar asli papan pantau, mode demo. Manfaat suara keluarga: hipotesis tim (D), diuji di pilot.</a:t>
            </a:r>
            <a:endParaRPr lang="en-US" sz="850" dirty="0"/>
          </a:p>
        </p:txBody>
      </p:sp>
      <p:sp>
        <p:nvSpPr>
          <p:cNvPr id="12" name="Shape 8"/>
          <p:cNvSpPr/>
          <p:nvPr/>
        </p:nvSpPr>
        <p:spPr>
          <a:xfrm>
            <a:off x="548640" y="1783080"/>
            <a:ext cx="2650160" cy="1097280"/>
          </a:xfrm>
          <a:prstGeom prst="roundRect">
            <a:avLst>
              <a:gd name="adj" fmla="val 10000"/>
            </a:avLst>
          </a:prstGeom>
          <a:solidFill>
            <a:srgbClr val="FFFFFF"/>
          </a:solidFill>
          <a:ln w="9525">
            <a:solidFill>
              <a:srgbClr val="DCEEEC"/>
            </a:solidFill>
            <a:prstDash val="solid"/>
          </a:ln>
        </p:spPr>
      </p:sp>
      <p:sp>
        <p:nvSpPr>
          <p:cNvPr id="13" name="Shape 9"/>
          <p:cNvSpPr/>
          <p:nvPr/>
        </p:nvSpPr>
        <p:spPr>
          <a:xfrm>
            <a:off x="676656" y="1911096"/>
            <a:ext cx="402336" cy="402336"/>
          </a:xfrm>
          <a:prstGeom prst="ellipse">
            <a:avLst/>
          </a:prstGeom>
          <a:solidFill>
            <a:srgbClr val="FDE1E2"/>
          </a:solidFill>
          <a:ln w="12700">
            <a:solidFill>
              <a:srgbClr val="FDE1E2"/>
            </a:solidFill>
            <a:prstDash val="solid"/>
          </a:ln>
        </p:spPr>
      </p:sp>
      <p:pic>
        <p:nvPicPr>
          <p:cNvPr id="14" name="Image 1" descr="preencoded.png">    </p:cNvPr>
          <p:cNvPicPr>
            <a:picLocks noChangeAspect="1"/>
          </p:cNvPicPr>
          <p:nvPr/>
        </p:nvPicPr>
        <p:blipFill>
          <a:blip r:embed="rId2"/>
          <a:stretch>
            <a:fillRect/>
          </a:stretch>
        </p:blipFill>
        <p:spPr>
          <a:xfrm>
            <a:off x="773217" y="2007657"/>
            <a:ext cx="209215" cy="209215"/>
          </a:xfrm>
          <a:prstGeom prst="rect">
            <a:avLst/>
          </a:prstGeom>
        </p:spPr>
      </p:pic>
      <p:sp>
        <p:nvSpPr>
          <p:cNvPr id="15" name="Text 10"/>
          <p:cNvSpPr/>
          <p:nvPr/>
        </p:nvSpPr>
        <p:spPr>
          <a:xfrm>
            <a:off x="1152144" y="1892808"/>
            <a:ext cx="193692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1 · Setuju</a:t>
            </a:r>
            <a:endParaRPr lang="en-US" sz="1150" dirty="0"/>
          </a:p>
        </p:txBody>
      </p:sp>
      <p:sp>
        <p:nvSpPr>
          <p:cNvPr id="16" name="Text 11"/>
          <p:cNvSpPr/>
          <p:nvPr/>
        </p:nvSpPr>
        <p:spPr>
          <a:xfrm>
            <a:off x="676656" y="2368296"/>
            <a:ext cx="2394128" cy="45720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Orang tua menyetujui 4 butir dan menulis nama pemilik suara. Waktu persetujuan tercatat.</a:t>
            </a:r>
            <a:endParaRPr lang="en-US" sz="950" dirty="0"/>
          </a:p>
        </p:txBody>
      </p:sp>
      <p:sp>
        <p:nvSpPr>
          <p:cNvPr id="17" name="Text 12"/>
          <p:cNvSpPr/>
          <p:nvPr/>
        </p:nvSpPr>
        <p:spPr>
          <a:xfrm>
            <a:off x="3198800" y="189280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18" name="Shape 13"/>
          <p:cNvSpPr/>
          <p:nvPr/>
        </p:nvSpPr>
        <p:spPr>
          <a:xfrm>
            <a:off x="3363392" y="1783080"/>
            <a:ext cx="2650160" cy="1097280"/>
          </a:xfrm>
          <a:prstGeom prst="roundRect">
            <a:avLst>
              <a:gd name="adj" fmla="val 10000"/>
            </a:avLst>
          </a:prstGeom>
          <a:solidFill>
            <a:srgbClr val="FFFFFF"/>
          </a:solidFill>
          <a:ln w="9525">
            <a:solidFill>
              <a:srgbClr val="DCEEEC"/>
            </a:solidFill>
            <a:prstDash val="solid"/>
          </a:ln>
        </p:spPr>
      </p:sp>
      <p:sp>
        <p:nvSpPr>
          <p:cNvPr id="19" name="Shape 14"/>
          <p:cNvSpPr/>
          <p:nvPr/>
        </p:nvSpPr>
        <p:spPr>
          <a:xfrm>
            <a:off x="3491408" y="1911096"/>
            <a:ext cx="402336" cy="402336"/>
          </a:xfrm>
          <a:prstGeom prst="ellipse">
            <a:avLst/>
          </a:prstGeom>
          <a:solidFill>
            <a:srgbClr val="FDE1E2"/>
          </a:solidFill>
          <a:ln w="12700">
            <a:solidFill>
              <a:srgbClr val="FDE1E2"/>
            </a:solidFill>
            <a:prstDash val="solid"/>
          </a:ln>
        </p:spPr>
      </p:sp>
      <p:pic>
        <p:nvPicPr>
          <p:cNvPr id="20" name="Image 2" descr="preencoded.png">    </p:cNvPr>
          <p:cNvPicPr>
            <a:picLocks noChangeAspect="1"/>
          </p:cNvPicPr>
          <p:nvPr/>
        </p:nvPicPr>
        <p:blipFill>
          <a:blip r:embed="rId3"/>
          <a:stretch>
            <a:fillRect/>
          </a:stretch>
        </p:blipFill>
        <p:spPr>
          <a:xfrm>
            <a:off x="3587968" y="2007657"/>
            <a:ext cx="209215" cy="209215"/>
          </a:xfrm>
          <a:prstGeom prst="rect">
            <a:avLst/>
          </a:prstGeom>
        </p:spPr>
      </p:pic>
      <p:sp>
        <p:nvSpPr>
          <p:cNvPr id="21" name="Text 15"/>
          <p:cNvSpPr/>
          <p:nvPr/>
        </p:nvSpPr>
        <p:spPr>
          <a:xfrm>
            <a:off x="3966896" y="1892808"/>
            <a:ext cx="193692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2 · Rekam</a:t>
            </a:r>
            <a:endParaRPr lang="en-US" sz="1150" dirty="0"/>
          </a:p>
        </p:txBody>
      </p:sp>
      <p:sp>
        <p:nvSpPr>
          <p:cNvPr id="22" name="Text 16"/>
          <p:cNvSpPr/>
          <p:nvPr/>
        </p:nvSpPr>
        <p:spPr>
          <a:xfrm>
            <a:off x="3491408" y="2368296"/>
            <a:ext cx="2394128" cy="45720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Membaca 3 kalimat, masing-masing ≥ 8 detik. Contoh dihapus dari HP setelah terkirim.</a:t>
            </a:r>
            <a:endParaRPr lang="en-US" sz="950" dirty="0"/>
          </a:p>
        </p:txBody>
      </p:sp>
      <p:sp>
        <p:nvSpPr>
          <p:cNvPr id="23" name="Text 17"/>
          <p:cNvSpPr/>
          <p:nvPr/>
        </p:nvSpPr>
        <p:spPr>
          <a:xfrm>
            <a:off x="6013552" y="189280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24" name="Shape 18"/>
          <p:cNvSpPr/>
          <p:nvPr/>
        </p:nvSpPr>
        <p:spPr>
          <a:xfrm>
            <a:off x="6178144" y="1783080"/>
            <a:ext cx="2650160" cy="1097280"/>
          </a:xfrm>
          <a:prstGeom prst="roundRect">
            <a:avLst>
              <a:gd name="adj" fmla="val 10000"/>
            </a:avLst>
          </a:prstGeom>
          <a:solidFill>
            <a:srgbClr val="FFFFFF"/>
          </a:solidFill>
          <a:ln w="9525">
            <a:solidFill>
              <a:srgbClr val="DCEEEC"/>
            </a:solidFill>
            <a:prstDash val="solid"/>
          </a:ln>
        </p:spPr>
      </p:sp>
      <p:sp>
        <p:nvSpPr>
          <p:cNvPr id="25" name="Shape 19"/>
          <p:cNvSpPr/>
          <p:nvPr/>
        </p:nvSpPr>
        <p:spPr>
          <a:xfrm>
            <a:off x="6306160" y="1911096"/>
            <a:ext cx="402336" cy="402336"/>
          </a:xfrm>
          <a:prstGeom prst="ellipse">
            <a:avLst/>
          </a:prstGeom>
          <a:solidFill>
            <a:srgbClr val="FDE1E2"/>
          </a:solidFill>
          <a:ln w="12700">
            <a:solidFill>
              <a:srgbClr val="FDE1E2"/>
            </a:solidFill>
            <a:prstDash val="solid"/>
          </a:ln>
        </p:spPr>
      </p:sp>
      <p:pic>
        <p:nvPicPr>
          <p:cNvPr id="26" name="Image 3" descr="preencoded.png">    </p:cNvPr>
          <p:cNvPicPr>
            <a:picLocks noChangeAspect="1"/>
          </p:cNvPicPr>
          <p:nvPr/>
        </p:nvPicPr>
        <p:blipFill>
          <a:blip r:embed="rId4"/>
          <a:stretch>
            <a:fillRect/>
          </a:stretch>
        </p:blipFill>
        <p:spPr>
          <a:xfrm>
            <a:off x="6402720" y="2007657"/>
            <a:ext cx="209215" cy="209215"/>
          </a:xfrm>
          <a:prstGeom prst="rect">
            <a:avLst/>
          </a:prstGeom>
        </p:spPr>
      </p:pic>
      <p:sp>
        <p:nvSpPr>
          <p:cNvPr id="27" name="Text 20"/>
          <p:cNvSpPr/>
          <p:nvPr/>
        </p:nvSpPr>
        <p:spPr>
          <a:xfrm>
            <a:off x="6781648" y="1892808"/>
            <a:ext cx="193692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3 · Buat suara</a:t>
            </a:r>
            <a:endParaRPr lang="en-US" sz="1150" dirty="0"/>
          </a:p>
        </p:txBody>
      </p:sp>
      <p:sp>
        <p:nvSpPr>
          <p:cNvPr id="28" name="Text 21"/>
          <p:cNvSpPr/>
          <p:nvPr/>
        </p:nvSpPr>
        <p:spPr>
          <a:xfrm>
            <a:off x="6306160" y="2368296"/>
            <a:ext cx="2394128" cy="45720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Server meneruskan ke ElevenLabs dari memori, tanpa menulis ke disk. Yang disimpan hanya voice_id.</a:t>
            </a:r>
            <a:endParaRPr lang="en-US" sz="950" dirty="0"/>
          </a:p>
        </p:txBody>
      </p:sp>
      <p:sp>
        <p:nvSpPr>
          <p:cNvPr id="29" name="Text 22"/>
          <p:cNvSpPr/>
          <p:nvPr/>
        </p:nvSpPr>
        <p:spPr>
          <a:xfrm>
            <a:off x="8828303" y="189280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30" name="Shape 23"/>
          <p:cNvSpPr/>
          <p:nvPr/>
        </p:nvSpPr>
        <p:spPr>
          <a:xfrm>
            <a:off x="8992895" y="1783080"/>
            <a:ext cx="2650160" cy="1097280"/>
          </a:xfrm>
          <a:prstGeom prst="roundRect">
            <a:avLst>
              <a:gd name="adj" fmla="val 10000"/>
            </a:avLst>
          </a:prstGeom>
          <a:solidFill>
            <a:srgbClr val="FFFFFF"/>
          </a:solidFill>
          <a:ln w="9525">
            <a:solidFill>
              <a:srgbClr val="DCEEEC"/>
            </a:solidFill>
            <a:prstDash val="solid"/>
          </a:ln>
        </p:spPr>
      </p:sp>
      <p:sp>
        <p:nvSpPr>
          <p:cNvPr id="31" name="Shape 24"/>
          <p:cNvSpPr/>
          <p:nvPr/>
        </p:nvSpPr>
        <p:spPr>
          <a:xfrm>
            <a:off x="9120911" y="1911096"/>
            <a:ext cx="402336" cy="402336"/>
          </a:xfrm>
          <a:prstGeom prst="ellipse">
            <a:avLst/>
          </a:prstGeom>
          <a:solidFill>
            <a:srgbClr val="FDE1E2"/>
          </a:solidFill>
          <a:ln w="12700">
            <a:solidFill>
              <a:srgbClr val="FDE1E2"/>
            </a:solidFill>
            <a:prstDash val="solid"/>
          </a:ln>
        </p:spPr>
      </p:sp>
      <p:pic>
        <p:nvPicPr>
          <p:cNvPr id="32" name="Image 4" descr="preencoded.png">    </p:cNvPr>
          <p:cNvPicPr>
            <a:picLocks noChangeAspect="1"/>
          </p:cNvPicPr>
          <p:nvPr/>
        </p:nvPicPr>
        <p:blipFill>
          <a:blip r:embed="rId5"/>
          <a:stretch>
            <a:fillRect/>
          </a:stretch>
        </p:blipFill>
        <p:spPr>
          <a:xfrm>
            <a:off x="9217472" y="2007657"/>
            <a:ext cx="209215" cy="209215"/>
          </a:xfrm>
          <a:prstGeom prst="rect">
            <a:avLst/>
          </a:prstGeom>
        </p:spPr>
      </p:pic>
      <p:sp>
        <p:nvSpPr>
          <p:cNvPr id="33" name="Text 25"/>
          <p:cNvSpPr/>
          <p:nvPr/>
        </p:nvSpPr>
        <p:spPr>
          <a:xfrm>
            <a:off x="9596399" y="1892808"/>
            <a:ext cx="193692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4 · Pakai luring</a:t>
            </a:r>
            <a:endParaRPr lang="en-US" sz="1150" dirty="0"/>
          </a:p>
        </p:txBody>
      </p:sp>
      <p:sp>
        <p:nvSpPr>
          <p:cNvPr id="34" name="Text 26"/>
          <p:cNvSpPr/>
          <p:nvPr/>
        </p:nvSpPr>
        <p:spPr>
          <a:xfrm>
            <a:off x="9120911" y="2368296"/>
            <a:ext cx="2394128" cy="45720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Frasa ≤ 60 karakter dibuat sekali, diunduh ke HP, diputar tanpa internet.</a:t>
            </a:r>
            <a:endParaRPr lang="en-US" sz="950" dirty="0"/>
          </a:p>
        </p:txBody>
      </p:sp>
      <p:sp>
        <p:nvSpPr>
          <p:cNvPr id="35" name="Shape 27"/>
          <p:cNvSpPr/>
          <p:nvPr/>
        </p:nvSpPr>
        <p:spPr>
          <a:xfrm>
            <a:off x="548640" y="3072384"/>
            <a:ext cx="5650992" cy="2205077"/>
          </a:xfrm>
          <a:prstGeom prst="roundRect">
            <a:avLst>
              <a:gd name="adj" fmla="val 3317"/>
            </a:avLst>
          </a:prstGeom>
          <a:solidFill>
            <a:srgbClr val="FFFFFF"/>
          </a:solidFill>
          <a:ln w="12700">
            <a:solidFill>
              <a:srgbClr val="A0DDD7"/>
            </a:solidFill>
            <a:prstDash val="solid"/>
          </a:ln>
        </p:spPr>
      </p:sp>
      <p:pic>
        <p:nvPicPr>
          <p:cNvPr id="36" name="Image 5" descr="C:\Users\mikae\AppData\Local\Temp\claude\C--Users-mikae-OneDrive-Documents-Lomba-IFEST-Nyambung\5a0b5d3c-f3f7-4cfd-b1e4-12368b2fb354\scratchpad\deck\img\c_n_d5.jpg">    </p:cNvPr>
          <p:cNvPicPr>
            <a:picLocks noChangeAspect="1"/>
          </p:cNvPicPr>
          <p:nvPr/>
        </p:nvPicPr>
        <p:blipFill>
          <a:blip r:embed="rId6"/>
          <a:stretch>
            <a:fillRect/>
          </a:stretch>
        </p:blipFill>
        <p:spPr>
          <a:xfrm>
            <a:off x="585216" y="3108960"/>
            <a:ext cx="5577840" cy="2131925"/>
          </a:xfrm>
          <a:prstGeom prst="rect">
            <a:avLst/>
          </a:prstGeom>
        </p:spPr>
      </p:pic>
      <p:sp>
        <p:nvSpPr>
          <p:cNvPr id="37" name="Text 28"/>
          <p:cNvSpPr/>
          <p:nvPr/>
        </p:nvSpPr>
        <p:spPr>
          <a:xfrm>
            <a:off x="548640" y="5314037"/>
            <a:ext cx="5669280" cy="237744"/>
          </a:xfrm>
          <a:prstGeom prst="rect">
            <a:avLst/>
          </a:prstGeom>
          <a:noFill/>
          <a:ln/>
        </p:spPr>
        <p:txBody>
          <a:bodyPr wrap="square" lIns="0" tIns="0" rIns="0" bIns="0" rtlCol="0" anchor="ctr"/>
          <a:lstStyle/>
          <a:p>
            <a:pPr indent="0" marL="0">
              <a:buNone/>
            </a:pPr>
            <a:r>
              <a:rPr lang="en-US" sz="1000" b="1" dirty="0">
                <a:solidFill>
                  <a:srgbClr val="026E65"/>
                </a:solidFill>
                <a:latin typeface="Calibri" pitchFamily="34" charset="0"/>
                <a:ea typeface="Calibri" pitchFamily="34" charset="-122"/>
                <a:cs typeface="Calibri" pitchFamily="34" charset="-120"/>
              </a:rPr>
              <a:t>D5 · Terapis atau guru mengirim frasa bersuara sebagai usulan</a:t>
            </a:r>
            <a:endParaRPr lang="en-US" sz="1000" dirty="0"/>
          </a:p>
        </p:txBody>
      </p:sp>
      <p:sp>
        <p:nvSpPr>
          <p:cNvPr id="38" name="Shape 29"/>
          <p:cNvSpPr/>
          <p:nvPr/>
        </p:nvSpPr>
        <p:spPr>
          <a:xfrm>
            <a:off x="6446520" y="3072384"/>
            <a:ext cx="5196535" cy="1737360"/>
          </a:xfrm>
          <a:prstGeom prst="roundRect">
            <a:avLst>
              <a:gd name="adj" fmla="val 6316"/>
            </a:avLst>
          </a:prstGeom>
          <a:solidFill>
            <a:srgbClr val="FFFFFF"/>
          </a:solidFill>
          <a:ln w="9525">
            <a:solidFill>
              <a:srgbClr val="DCEEEC"/>
            </a:solidFill>
            <a:prstDash val="solid"/>
          </a:ln>
        </p:spPr>
      </p:sp>
      <p:sp>
        <p:nvSpPr>
          <p:cNvPr id="39" name="Text 30"/>
          <p:cNvSpPr/>
          <p:nvPr/>
        </p:nvSpPr>
        <p:spPr>
          <a:xfrm>
            <a:off x="6629400" y="3163824"/>
            <a:ext cx="4830775" cy="237744"/>
          </a:xfrm>
          <a:prstGeom prst="rect">
            <a:avLst/>
          </a:prstGeom>
          <a:noFill/>
          <a:ln/>
        </p:spPr>
        <p:txBody>
          <a:bodyPr wrap="square" lIns="0" tIns="0" rIns="0" bIns="0" rtlCol="0" anchor="ctr"/>
          <a:lstStyle/>
          <a:p>
            <a:pPr indent="0" marL="0">
              <a:buNone/>
            </a:pPr>
            <a:r>
              <a:rPr lang="en-US" sz="950" b="1" spc="120" kern="0" dirty="0">
                <a:solidFill>
                  <a:srgbClr val="026E65"/>
                </a:solidFill>
                <a:latin typeface="Calibri" pitchFamily="34" charset="0"/>
                <a:ea typeface="Calibri" pitchFamily="34" charset="-122"/>
                <a:cs typeface="Calibri" pitchFamily="34" charset="-120"/>
              </a:rPr>
              <a:t>PENGAMAN YANG SUDAH DIBANGUN</a:t>
            </a:r>
            <a:endParaRPr lang="en-US" sz="950" dirty="0"/>
          </a:p>
        </p:txBody>
      </p:sp>
      <p:sp>
        <p:nvSpPr>
          <p:cNvPr id="40" name="Text 31"/>
          <p:cNvSpPr/>
          <p:nvPr/>
        </p:nvSpPr>
        <p:spPr>
          <a:xfrm>
            <a:off x="6629400" y="3438144"/>
            <a:ext cx="4876495" cy="12984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Hanya orang tua yang bisa mengaktifkan; nama anak tidak dikirim ke penyedia</a:t>
            </a:r>
            <a:endParaRPr lang="en-US" sz="1000" dirty="0"/>
          </a:p>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Cabut satu tombol: suara dihapus di ElevenLabs; klon lama dihapus saat diganti</a:t>
            </a:r>
            <a:endParaRPr lang="en-US" sz="1000" dirty="0"/>
          </a:p>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Frasa dari terapis/guru berstatus usulan: keluarga Terima atau Tolak</a:t>
            </a:r>
            <a:endParaRPr lang="en-US" sz="1000" dirty="0"/>
          </a:p>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Batas 30 frasa per anak per hari; tanpa kunci API, fitur tampil "belum aktif"</a:t>
            </a:r>
            <a:endParaRPr lang="en-US" sz="1000" dirty="0"/>
          </a:p>
          <a:p>
            <a:pPr marL="152400" indent="-152400">
              <a:spcAft>
                <a:spcPts val="200"/>
              </a:spcAft>
              <a:buSzPct val="100000"/>
              <a:buChar char="•"/>
            </a:pPr>
            <a:r>
              <a:rPr lang="en-US" sz="1000" dirty="0">
                <a:solidFill>
                  <a:srgbClr val="172C2A"/>
                </a:solidFill>
                <a:latin typeface="Calibri" pitchFamily="34" charset="0"/>
                <a:ea typeface="Calibri" pitchFamily="34" charset="-122"/>
                <a:cs typeface="Calibri" pitchFamily="34" charset="-120"/>
              </a:rPr>
              <a:t>Rekaman per kata (C4) tetap tidak pernah meninggalkan HP</a:t>
            </a:r>
            <a:endParaRPr lang="en-US" sz="1000" dirty="0"/>
          </a:p>
        </p:txBody>
      </p:sp>
      <p:sp>
        <p:nvSpPr>
          <p:cNvPr id="41" name="Text 32"/>
          <p:cNvSpPr/>
          <p:nvPr/>
        </p:nvSpPr>
        <p:spPr>
          <a:xfrm>
            <a:off x="6446520" y="4956048"/>
            <a:ext cx="5196535" cy="658368"/>
          </a:xfrm>
          <a:prstGeom prst="roundRect">
            <a:avLst>
              <a:gd name="adj" fmla="val 11111"/>
            </a:avLst>
          </a:prstGeom>
          <a:solidFill>
            <a:srgbClr val="FDE1E2"/>
          </a:solidFill>
          <a:ln>
            <a:solidFill>
              <a:srgbClr val="FDE1E2"/>
            </a:solidFill>
          </a:ln>
        </p:spPr>
        <p:txBody>
          <a:bodyPr wrap="square" lIns="101600" tIns="101600" rIns="101600" bIns="101600" rtlCol="0" anchor="ctr"/>
          <a:lstStyle/>
          <a:p>
            <a:pPr indent="0" marL="0">
              <a:buNone/>
            </a:pPr>
            <a:r>
              <a:rPr lang="en-US" sz="950" b="1" dirty="0">
                <a:solidFill>
                  <a:srgbClr val="C23D42"/>
                </a:solidFill>
                <a:latin typeface="Calibri" pitchFamily="34" charset="0"/>
                <a:ea typeface="Calibri" pitchFamily="34" charset="-122"/>
                <a:cs typeface="Calibri" pitchFamily="34" charset="-120"/>
              </a:rPr>
              <a:t>Batas jujur:  </a:t>
            </a:r>
            <a:pPr indent="0" marL="0">
              <a:buNone/>
            </a:pPr>
            <a:r>
              <a:rPr lang="en-US" sz="950" dirty="0">
                <a:solidFill>
                  <a:srgbClr val="172C2A"/>
                </a:solidFill>
                <a:latin typeface="Calibri" pitchFamily="34" charset="0"/>
                <a:ea typeface="Calibri" pitchFamily="34" charset="-122"/>
                <a:cs typeface="Calibri" pitchFamily="34" charset="-120"/>
              </a:rPr>
              <a:t>suara tiruan disimpan penyedia sampai dicabut · kemiripan dan manfaatnya belum diuji pada anak · butuh paket berbayar (Starter ± US$6/bulan)</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FITUR UNGGULAN 2 · PAPAN DARI FOTO DENGAN AI</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Satu foto rumah menjadi papan bicara; AI hanya membuat draf, keluarga yang memutuskan</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9</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Patenaude, McNaughton &amp; Liang (2024), Journal of Special Education Technology 40(1) · PERUBAHAN.md entri 22, 23, 26, 27 · server/app/routes/scene_ai.py. Ilustrasi mengikuti layar aplikasi.</a:t>
            </a:r>
            <a:endParaRPr lang="en-US" sz="850" dirty="0"/>
          </a:p>
        </p:txBody>
      </p:sp>
      <p:sp>
        <p:nvSpPr>
          <p:cNvPr id="12" name="Shape 8"/>
          <p:cNvSpPr/>
          <p:nvPr/>
        </p:nvSpPr>
        <p:spPr>
          <a:xfrm>
            <a:off x="548640" y="1783080"/>
            <a:ext cx="2514600" cy="4069080"/>
          </a:xfrm>
          <a:prstGeom prst="roundRect">
            <a:avLst>
              <a:gd name="adj" fmla="val 10909"/>
            </a:avLst>
          </a:prstGeom>
          <a:solidFill>
            <a:srgbClr val="172C2A"/>
          </a:solidFill>
          <a:ln w="12700">
            <a:solidFill>
              <a:srgbClr val="172C2A"/>
            </a:solidFill>
            <a:prstDash val="solid"/>
          </a:ln>
        </p:spPr>
      </p:sp>
      <p:sp>
        <p:nvSpPr>
          <p:cNvPr id="13" name="Shape 9"/>
          <p:cNvSpPr/>
          <p:nvPr/>
        </p:nvSpPr>
        <p:spPr>
          <a:xfrm>
            <a:off x="630936" y="1865376"/>
            <a:ext cx="2350008" cy="3904488"/>
          </a:xfrm>
          <a:prstGeom prst="roundRect">
            <a:avLst>
              <a:gd name="adj" fmla="val 9339"/>
            </a:avLst>
          </a:prstGeom>
          <a:solidFill>
            <a:srgbClr val="FCFEFE"/>
          </a:solidFill>
          <a:ln w="12700">
            <a:solidFill>
              <a:srgbClr val="FCFEFE"/>
            </a:solidFill>
            <a:prstDash val="solid"/>
          </a:ln>
        </p:spPr>
      </p:sp>
      <p:sp>
        <p:nvSpPr>
          <p:cNvPr id="14" name="Shape 10"/>
          <p:cNvSpPr/>
          <p:nvPr/>
        </p:nvSpPr>
        <p:spPr>
          <a:xfrm>
            <a:off x="1760220" y="1929384"/>
            <a:ext cx="91440" cy="91440"/>
          </a:xfrm>
          <a:prstGeom prst="ellipse">
            <a:avLst/>
          </a:prstGeom>
          <a:solidFill>
            <a:srgbClr val="172C2A"/>
          </a:solidFill>
          <a:ln w="12700">
            <a:solidFill>
              <a:srgbClr val="172C2A"/>
            </a:solidFill>
            <a:prstDash val="solid"/>
          </a:ln>
        </p:spPr>
      </p:sp>
      <p:sp>
        <p:nvSpPr>
          <p:cNvPr id="15" name="Text 11"/>
          <p:cNvSpPr/>
          <p:nvPr/>
        </p:nvSpPr>
        <p:spPr>
          <a:xfrm>
            <a:off x="722376" y="2066544"/>
            <a:ext cx="2167128" cy="219456"/>
          </a:xfrm>
          <a:prstGeom prst="rect">
            <a:avLst/>
          </a:prstGeom>
          <a:noFill/>
          <a:ln/>
        </p:spPr>
        <p:txBody>
          <a:bodyPr wrap="square" lIns="0" tIns="0" rIns="0" bIns="0" rtlCol="0" anchor="ctr"/>
          <a:lstStyle/>
          <a:p>
            <a:pPr indent="0" marL="0">
              <a:buNone/>
            </a:pPr>
            <a:r>
              <a:rPr lang="en-US" sz="800" b="1" dirty="0">
                <a:solidFill>
                  <a:srgbClr val="52706D"/>
                </a:solidFill>
                <a:latin typeface="Calibri" pitchFamily="34" charset="0"/>
                <a:ea typeface="Calibri" pitchFamily="34" charset="-122"/>
                <a:cs typeface="Calibri" pitchFamily="34" charset="-120"/>
              </a:rPr>
              <a:t>FOTO  ·  Meja makan</a:t>
            </a:r>
            <a:endParaRPr lang="en-US" sz="800" dirty="0"/>
          </a:p>
        </p:txBody>
      </p:sp>
      <p:sp>
        <p:nvSpPr>
          <p:cNvPr id="16" name="Shape 12"/>
          <p:cNvSpPr/>
          <p:nvPr/>
        </p:nvSpPr>
        <p:spPr>
          <a:xfrm>
            <a:off x="722376" y="2340864"/>
            <a:ext cx="2167128" cy="2331720"/>
          </a:xfrm>
          <a:prstGeom prst="roundRect">
            <a:avLst>
              <a:gd name="adj" fmla="val 3376"/>
            </a:avLst>
          </a:prstGeom>
          <a:solidFill>
            <a:srgbClr val="F3E3C8"/>
          </a:solidFill>
          <a:ln w="12700">
            <a:solidFill>
              <a:srgbClr val="E4CFA8"/>
            </a:solidFill>
            <a:prstDash val="solid"/>
          </a:ln>
        </p:spPr>
      </p:sp>
      <p:sp>
        <p:nvSpPr>
          <p:cNvPr id="17" name="Shape 13"/>
          <p:cNvSpPr/>
          <p:nvPr/>
        </p:nvSpPr>
        <p:spPr>
          <a:xfrm>
            <a:off x="996696" y="3163824"/>
            <a:ext cx="1051560" cy="731520"/>
          </a:xfrm>
          <a:prstGeom prst="ellipse">
            <a:avLst/>
          </a:prstGeom>
          <a:solidFill>
            <a:srgbClr val="FFFFFF"/>
          </a:solidFill>
          <a:ln w="12700">
            <a:solidFill>
              <a:srgbClr val="D9C6A3"/>
            </a:solidFill>
            <a:prstDash val="solid"/>
          </a:ln>
        </p:spPr>
      </p:sp>
      <p:sp>
        <p:nvSpPr>
          <p:cNvPr id="18" name="Shape 14"/>
          <p:cNvSpPr/>
          <p:nvPr/>
        </p:nvSpPr>
        <p:spPr>
          <a:xfrm>
            <a:off x="2276856" y="2843784"/>
            <a:ext cx="384048" cy="685800"/>
          </a:xfrm>
          <a:prstGeom prst="roundRect">
            <a:avLst>
              <a:gd name="adj" fmla="val 14286"/>
            </a:avLst>
          </a:prstGeom>
          <a:solidFill>
            <a:srgbClr val="CFE9F5"/>
          </a:solidFill>
          <a:ln w="12700">
            <a:solidFill>
              <a:srgbClr val="9CC9DE"/>
            </a:solidFill>
            <a:prstDash val="solid"/>
          </a:ln>
        </p:spPr>
      </p:sp>
      <p:sp>
        <p:nvSpPr>
          <p:cNvPr id="19" name="Shape 15"/>
          <p:cNvSpPr/>
          <p:nvPr/>
        </p:nvSpPr>
        <p:spPr>
          <a:xfrm>
            <a:off x="923544" y="3072384"/>
            <a:ext cx="1207008" cy="914400"/>
          </a:xfrm>
          <a:prstGeom prst="roundRect">
            <a:avLst>
              <a:gd name="adj" fmla="val 6000"/>
            </a:avLst>
          </a:prstGeom>
          <a:solidFill>
            <a:srgbClr val="FFFFFF">
              <a:alpha val="0"/>
            </a:srgbClr>
          </a:solidFill>
          <a:ln w="25400">
            <a:solidFill>
              <a:srgbClr val="098277"/>
            </a:solidFill>
            <a:prstDash val="dash"/>
          </a:ln>
        </p:spPr>
      </p:sp>
      <p:sp>
        <p:nvSpPr>
          <p:cNvPr id="20" name="Text 16"/>
          <p:cNvSpPr/>
          <p:nvPr/>
        </p:nvSpPr>
        <p:spPr>
          <a:xfrm>
            <a:off x="969264" y="3118104"/>
            <a:ext cx="640080" cy="201168"/>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MAKAN</a:t>
            </a:r>
            <a:endParaRPr lang="en-US" sz="650" dirty="0"/>
          </a:p>
        </p:txBody>
      </p:sp>
      <p:sp>
        <p:nvSpPr>
          <p:cNvPr id="21" name="Shape 17"/>
          <p:cNvSpPr/>
          <p:nvPr/>
        </p:nvSpPr>
        <p:spPr>
          <a:xfrm>
            <a:off x="2167128" y="2724912"/>
            <a:ext cx="603504" cy="914400"/>
          </a:xfrm>
          <a:prstGeom prst="roundRect">
            <a:avLst>
              <a:gd name="adj" fmla="val 9091"/>
            </a:avLst>
          </a:prstGeom>
          <a:solidFill>
            <a:srgbClr val="FFFFFF">
              <a:alpha val="0"/>
            </a:srgbClr>
          </a:solidFill>
          <a:ln w="25400">
            <a:solidFill>
              <a:srgbClr val="098277"/>
            </a:solidFill>
            <a:prstDash val="dash"/>
          </a:ln>
        </p:spPr>
      </p:sp>
      <p:sp>
        <p:nvSpPr>
          <p:cNvPr id="22" name="Text 18"/>
          <p:cNvSpPr/>
          <p:nvPr/>
        </p:nvSpPr>
        <p:spPr>
          <a:xfrm>
            <a:off x="2212848" y="2770632"/>
            <a:ext cx="512064" cy="201168"/>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MINUM</a:t>
            </a:r>
            <a:endParaRPr lang="en-US" sz="650" dirty="0"/>
          </a:p>
        </p:txBody>
      </p:sp>
      <p:sp>
        <p:nvSpPr>
          <p:cNvPr id="23" name="Shape 19"/>
          <p:cNvSpPr/>
          <p:nvPr/>
        </p:nvSpPr>
        <p:spPr>
          <a:xfrm>
            <a:off x="923544" y="2450592"/>
            <a:ext cx="914400" cy="457200"/>
          </a:xfrm>
          <a:prstGeom prst="roundRect">
            <a:avLst>
              <a:gd name="adj" fmla="val 12000"/>
            </a:avLst>
          </a:prstGeom>
          <a:solidFill>
            <a:srgbClr val="FFFFFF">
              <a:alpha val="0"/>
            </a:srgbClr>
          </a:solidFill>
          <a:ln w="25400">
            <a:solidFill>
              <a:srgbClr val="098277"/>
            </a:solidFill>
            <a:prstDash val="dash"/>
          </a:ln>
        </p:spPr>
      </p:sp>
      <p:sp>
        <p:nvSpPr>
          <p:cNvPr id="24" name="Text 20"/>
          <p:cNvSpPr/>
          <p:nvPr/>
        </p:nvSpPr>
        <p:spPr>
          <a:xfrm>
            <a:off x="969264" y="2496312"/>
            <a:ext cx="640080" cy="201168"/>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LAGI</a:t>
            </a:r>
            <a:endParaRPr lang="en-US" sz="650" dirty="0"/>
          </a:p>
        </p:txBody>
      </p:sp>
      <p:sp>
        <p:nvSpPr>
          <p:cNvPr id="25" name="Shape 21"/>
          <p:cNvSpPr/>
          <p:nvPr/>
        </p:nvSpPr>
        <p:spPr>
          <a:xfrm>
            <a:off x="722376" y="4782312"/>
            <a:ext cx="691896" cy="658368"/>
          </a:xfrm>
          <a:prstGeom prst="roundRect">
            <a:avLst>
              <a:gd name="adj" fmla="val 8333"/>
            </a:avLst>
          </a:prstGeom>
          <a:solidFill>
            <a:srgbClr val="E8F6F5"/>
          </a:solidFill>
          <a:ln w="12700">
            <a:solidFill>
              <a:srgbClr val="C7C7D2"/>
            </a:solidFill>
            <a:prstDash val="solid"/>
          </a:ln>
        </p:spPr>
      </p:sp>
      <p:pic>
        <p:nvPicPr>
          <p:cNvPr id="26" name="Image 1" descr="C:\Users\mikae\OneDrive\Documents\Lomba\IFEST\Nyambung\assets\symbols\png\lagi.png">    </p:cNvPr>
          <p:cNvPicPr>
            <a:picLocks noChangeAspect="1"/>
          </p:cNvPicPr>
          <p:nvPr/>
        </p:nvPicPr>
        <p:blipFill>
          <a:blip r:embed="rId2"/>
          <a:stretch>
            <a:fillRect/>
          </a:stretch>
        </p:blipFill>
        <p:spPr>
          <a:xfrm>
            <a:off x="883981" y="4834981"/>
            <a:ext cx="368686" cy="368686"/>
          </a:xfrm>
          <a:prstGeom prst="rect">
            <a:avLst/>
          </a:prstGeom>
        </p:spPr>
      </p:pic>
      <p:sp>
        <p:nvSpPr>
          <p:cNvPr id="27" name="Text 22"/>
          <p:cNvSpPr/>
          <p:nvPr/>
        </p:nvSpPr>
        <p:spPr>
          <a:xfrm>
            <a:off x="722376" y="5216835"/>
            <a:ext cx="691896" cy="197510"/>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LAGI</a:t>
            </a:r>
            <a:endParaRPr lang="en-US" sz="750" dirty="0"/>
          </a:p>
        </p:txBody>
      </p:sp>
      <p:sp>
        <p:nvSpPr>
          <p:cNvPr id="28" name="Shape 23"/>
          <p:cNvSpPr/>
          <p:nvPr/>
        </p:nvSpPr>
        <p:spPr>
          <a:xfrm>
            <a:off x="1459992" y="4782312"/>
            <a:ext cx="691896" cy="658368"/>
          </a:xfrm>
          <a:prstGeom prst="roundRect">
            <a:avLst>
              <a:gd name="adj" fmla="val 8333"/>
            </a:avLst>
          </a:prstGeom>
          <a:solidFill>
            <a:srgbClr val="E1F4E7"/>
          </a:solidFill>
          <a:ln w="12700">
            <a:solidFill>
              <a:srgbClr val="6FC08F"/>
            </a:solidFill>
            <a:prstDash val="solid"/>
          </a:ln>
        </p:spPr>
      </p:sp>
      <p:pic>
        <p:nvPicPr>
          <p:cNvPr id="29" name="Image 2" descr="C:\Users\mikae\OneDrive\Documents\Lomba\IFEST\Nyambung\assets\symbols\png\makan.png">    </p:cNvPr>
          <p:cNvPicPr>
            <a:picLocks noChangeAspect="1"/>
          </p:cNvPicPr>
          <p:nvPr/>
        </p:nvPicPr>
        <p:blipFill>
          <a:blip r:embed="rId3"/>
          <a:stretch>
            <a:fillRect/>
          </a:stretch>
        </p:blipFill>
        <p:spPr>
          <a:xfrm>
            <a:off x="1621597" y="4834981"/>
            <a:ext cx="368686" cy="368686"/>
          </a:xfrm>
          <a:prstGeom prst="rect">
            <a:avLst/>
          </a:prstGeom>
        </p:spPr>
      </p:pic>
      <p:sp>
        <p:nvSpPr>
          <p:cNvPr id="30" name="Text 24"/>
          <p:cNvSpPr/>
          <p:nvPr/>
        </p:nvSpPr>
        <p:spPr>
          <a:xfrm>
            <a:off x="1459992" y="5216835"/>
            <a:ext cx="691896" cy="197510"/>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MAKAN</a:t>
            </a:r>
            <a:endParaRPr lang="en-US" sz="750" dirty="0"/>
          </a:p>
        </p:txBody>
      </p:sp>
      <p:sp>
        <p:nvSpPr>
          <p:cNvPr id="31" name="Shape 25"/>
          <p:cNvSpPr/>
          <p:nvPr/>
        </p:nvSpPr>
        <p:spPr>
          <a:xfrm>
            <a:off x="2197608" y="4782312"/>
            <a:ext cx="691896" cy="658368"/>
          </a:xfrm>
          <a:prstGeom prst="roundRect">
            <a:avLst>
              <a:gd name="adj" fmla="val 8333"/>
            </a:avLst>
          </a:prstGeom>
          <a:solidFill>
            <a:srgbClr val="E1F4E7"/>
          </a:solidFill>
          <a:ln w="12700">
            <a:solidFill>
              <a:srgbClr val="6FC08F"/>
            </a:solidFill>
            <a:prstDash val="solid"/>
          </a:ln>
        </p:spPr>
      </p:sp>
      <p:pic>
        <p:nvPicPr>
          <p:cNvPr id="32" name="Image 3" descr="C:\Users\mikae\OneDrive\Documents\Lomba\IFEST\Nyambung\assets\symbols\png\minum.png">    </p:cNvPr>
          <p:cNvPicPr>
            <a:picLocks noChangeAspect="1"/>
          </p:cNvPicPr>
          <p:nvPr/>
        </p:nvPicPr>
        <p:blipFill>
          <a:blip r:embed="rId4"/>
          <a:stretch>
            <a:fillRect/>
          </a:stretch>
        </p:blipFill>
        <p:spPr>
          <a:xfrm>
            <a:off x="2359213" y="4834981"/>
            <a:ext cx="368686" cy="368686"/>
          </a:xfrm>
          <a:prstGeom prst="rect">
            <a:avLst/>
          </a:prstGeom>
        </p:spPr>
      </p:pic>
      <p:sp>
        <p:nvSpPr>
          <p:cNvPr id="33" name="Text 26"/>
          <p:cNvSpPr/>
          <p:nvPr/>
        </p:nvSpPr>
        <p:spPr>
          <a:xfrm>
            <a:off x="2197608" y="5216835"/>
            <a:ext cx="691896" cy="197510"/>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MINUM</a:t>
            </a:r>
            <a:endParaRPr lang="en-US" sz="750" dirty="0"/>
          </a:p>
        </p:txBody>
      </p:sp>
      <p:sp>
        <p:nvSpPr>
          <p:cNvPr id="34" name="Text 27"/>
          <p:cNvSpPr/>
          <p:nvPr/>
        </p:nvSpPr>
        <p:spPr>
          <a:xfrm>
            <a:off x="722376" y="5513832"/>
            <a:ext cx="2167128" cy="182880"/>
          </a:xfrm>
          <a:prstGeom prst="rect">
            <a:avLst/>
          </a:prstGeom>
          <a:noFill/>
          <a:ln/>
        </p:spPr>
        <p:txBody>
          <a:bodyPr wrap="square" lIns="0" tIns="0" rIns="0" bIns="0" rtlCol="0" anchor="ctr"/>
          <a:lstStyle/>
          <a:p>
            <a:pPr algn="ctr" indent="0" marL="0">
              <a:buNone/>
            </a:pPr>
            <a:r>
              <a:rPr lang="en-US" sz="700" dirty="0">
                <a:solidFill>
                  <a:srgbClr val="52706D"/>
                </a:solidFill>
                <a:latin typeface="Calibri" pitchFamily="34" charset="0"/>
                <a:ea typeface="Calibri" pitchFamily="34" charset="-122"/>
                <a:cs typeface="Calibri" pitchFamily="34" charset="-120"/>
              </a:rPr>
              <a:t>Kata area dalam grid tetap; kata inti tetap di tab INTI</a:t>
            </a:r>
            <a:endParaRPr lang="en-US" sz="700" dirty="0"/>
          </a:p>
        </p:txBody>
      </p:sp>
      <p:sp>
        <p:nvSpPr>
          <p:cNvPr id="35" name="Text 28"/>
          <p:cNvSpPr/>
          <p:nvPr/>
        </p:nvSpPr>
        <p:spPr>
          <a:xfrm>
            <a:off x="3337560" y="1783080"/>
            <a:ext cx="8305495" cy="713232"/>
          </a:xfrm>
          <a:prstGeom prst="roundRect">
            <a:avLst>
              <a:gd name="adj" fmla="val 12821"/>
            </a:avLst>
          </a:prstGeom>
          <a:solidFill>
            <a:srgbClr val="098277"/>
          </a:solidFill>
          <a:ln>
            <a:solidFill>
              <a:srgbClr val="098277"/>
            </a:solidFill>
          </a:ln>
        </p:spPr>
        <p:txBody>
          <a:bodyPr wrap="square" lIns="127000" tIns="127000" rIns="127000" bIns="127000" rtlCol="0" anchor="ctr"/>
          <a:lstStyle/>
          <a:p>
            <a:pPr indent="0" marL="0">
              <a:buNone/>
            </a:pPr>
            <a:r>
              <a:rPr lang="en-US" sz="1100" b="1" dirty="0">
                <a:solidFill>
                  <a:srgbClr val="BADE4A"/>
                </a:solidFill>
                <a:latin typeface="Calibri" pitchFamily="34" charset="0"/>
                <a:ea typeface="Calibri" pitchFamily="34" charset="-122"/>
                <a:cs typeface="Calibri" pitchFamily="34" charset="-120"/>
              </a:rPr>
              <a:t>Berbasis bukti:  </a:t>
            </a:r>
            <a:pPr indent="0" marL="0">
              <a:buNone/>
            </a:pPr>
            <a:r>
              <a:rPr lang="en-US" sz="1100" dirty="0">
                <a:solidFill>
                  <a:srgbClr val="FFFFFF"/>
                </a:solidFill>
                <a:latin typeface="Calibri" pitchFamily="34" charset="0"/>
                <a:ea typeface="Calibri" pitchFamily="34" charset="-122"/>
                <a:cs typeface="Calibri" pitchFamily="34" charset="-120"/>
              </a:rPr>
              <a:t>visual scene display termasuk praktik berbasis bukti untuk anak autis dan disabilitas intelektual usia 3–8 tahun; </a:t>
            </a:r>
            <a:pPr indent="0" marL="0">
              <a:buNone/>
            </a:pPr>
            <a:r>
              <a:rPr lang="en-US" sz="1100" b="1" dirty="0">
                <a:solidFill>
                  <a:srgbClr val="FFFFFF"/>
                </a:solidFill>
                <a:latin typeface="Calibri" pitchFamily="34" charset="0"/>
                <a:ea typeface="Calibri" pitchFamily="34" charset="-122"/>
                <a:cs typeface="Calibri" pitchFamily="34" charset="-120"/>
              </a:rPr>
              <a:t>37 dari 42 peserta</a:t>
            </a:r>
            <a:pPr indent="0" marL="0">
              <a:buNone/>
            </a:pPr>
            <a:r>
              <a:rPr lang="en-US" sz="1100" dirty="0">
                <a:solidFill>
                  <a:srgbClr val="FFFFFF"/>
                </a:solidFill>
                <a:latin typeface="Calibri" pitchFamily="34" charset="0"/>
                <a:ea typeface="Calibri" pitchFamily="34" charset="-122"/>
                <a:cs typeface="Calibri" pitchFamily="34" charset="-120"/>
              </a:rPr>
              <a:t> menunjukkan efek positif (sintesis 12 studi, Patenaude dkk. 2024).</a:t>
            </a:r>
            <a:endParaRPr lang="en-US" sz="1100" dirty="0"/>
          </a:p>
        </p:txBody>
      </p:sp>
      <p:sp>
        <p:nvSpPr>
          <p:cNvPr id="36" name="Shape 29"/>
          <p:cNvSpPr/>
          <p:nvPr/>
        </p:nvSpPr>
        <p:spPr>
          <a:xfrm>
            <a:off x="3337560" y="2651760"/>
            <a:ext cx="1952930" cy="1051560"/>
          </a:xfrm>
          <a:prstGeom prst="roundRect">
            <a:avLst>
              <a:gd name="adj" fmla="val 10435"/>
            </a:avLst>
          </a:prstGeom>
          <a:solidFill>
            <a:srgbClr val="FFFFFF"/>
          </a:solidFill>
          <a:ln w="9525">
            <a:solidFill>
              <a:srgbClr val="DCEEEC"/>
            </a:solidFill>
            <a:prstDash val="solid"/>
          </a:ln>
        </p:spPr>
      </p:sp>
      <p:sp>
        <p:nvSpPr>
          <p:cNvPr id="37" name="Shape 30"/>
          <p:cNvSpPr/>
          <p:nvPr/>
        </p:nvSpPr>
        <p:spPr>
          <a:xfrm>
            <a:off x="3465576" y="2779776"/>
            <a:ext cx="402336" cy="402336"/>
          </a:xfrm>
          <a:prstGeom prst="ellipse">
            <a:avLst/>
          </a:prstGeom>
          <a:solidFill>
            <a:srgbClr val="DFF6F3"/>
          </a:solidFill>
          <a:ln w="12700">
            <a:solidFill>
              <a:srgbClr val="DFF6F3"/>
            </a:solidFill>
            <a:prstDash val="solid"/>
          </a:ln>
        </p:spPr>
      </p:sp>
      <p:pic>
        <p:nvPicPr>
          <p:cNvPr id="38" name="Image 4" descr="preencoded.png">    </p:cNvPr>
          <p:cNvPicPr>
            <a:picLocks noChangeAspect="1"/>
          </p:cNvPicPr>
          <p:nvPr/>
        </p:nvPicPr>
        <p:blipFill>
          <a:blip r:embed="rId5"/>
          <a:stretch>
            <a:fillRect/>
          </a:stretch>
        </p:blipFill>
        <p:spPr>
          <a:xfrm>
            <a:off x="3562137" y="2876337"/>
            <a:ext cx="209215" cy="209215"/>
          </a:xfrm>
          <a:prstGeom prst="rect">
            <a:avLst/>
          </a:prstGeom>
        </p:spPr>
      </p:pic>
      <p:sp>
        <p:nvSpPr>
          <p:cNvPr id="39" name="Text 31"/>
          <p:cNvSpPr/>
          <p:nvPr/>
        </p:nvSpPr>
        <p:spPr>
          <a:xfrm>
            <a:off x="3941064" y="2761488"/>
            <a:ext cx="123969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1 · Foto</a:t>
            </a:r>
            <a:endParaRPr lang="en-US" sz="1150" dirty="0"/>
          </a:p>
        </p:txBody>
      </p:sp>
      <p:sp>
        <p:nvSpPr>
          <p:cNvPr id="40" name="Text 32"/>
          <p:cNvSpPr/>
          <p:nvPr/>
        </p:nvSpPr>
        <p:spPr>
          <a:xfrm>
            <a:off x="3465576" y="3236976"/>
            <a:ext cx="1696898" cy="41148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Pendamping memotret kegiatan nyata di rumah.</a:t>
            </a:r>
            <a:endParaRPr lang="en-US" sz="950" dirty="0"/>
          </a:p>
        </p:txBody>
      </p:sp>
      <p:sp>
        <p:nvSpPr>
          <p:cNvPr id="41" name="Text 33"/>
          <p:cNvSpPr/>
          <p:nvPr/>
        </p:nvSpPr>
        <p:spPr>
          <a:xfrm>
            <a:off x="5290490" y="276148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42" name="Shape 34"/>
          <p:cNvSpPr/>
          <p:nvPr/>
        </p:nvSpPr>
        <p:spPr>
          <a:xfrm>
            <a:off x="5455082" y="2651760"/>
            <a:ext cx="1952930" cy="1051560"/>
          </a:xfrm>
          <a:prstGeom prst="roundRect">
            <a:avLst>
              <a:gd name="adj" fmla="val 10435"/>
            </a:avLst>
          </a:prstGeom>
          <a:solidFill>
            <a:srgbClr val="FFFFFF"/>
          </a:solidFill>
          <a:ln w="9525">
            <a:solidFill>
              <a:srgbClr val="DCEEEC"/>
            </a:solidFill>
            <a:prstDash val="solid"/>
          </a:ln>
        </p:spPr>
      </p:sp>
      <p:sp>
        <p:nvSpPr>
          <p:cNvPr id="43" name="Shape 35"/>
          <p:cNvSpPr/>
          <p:nvPr/>
        </p:nvSpPr>
        <p:spPr>
          <a:xfrm>
            <a:off x="5583098" y="2779776"/>
            <a:ext cx="402336" cy="402336"/>
          </a:xfrm>
          <a:prstGeom prst="ellipse">
            <a:avLst/>
          </a:prstGeom>
          <a:solidFill>
            <a:srgbClr val="DFF6F3"/>
          </a:solidFill>
          <a:ln w="12700">
            <a:solidFill>
              <a:srgbClr val="DFF6F3"/>
            </a:solidFill>
            <a:prstDash val="solid"/>
          </a:ln>
        </p:spPr>
      </p:sp>
      <p:pic>
        <p:nvPicPr>
          <p:cNvPr id="44" name="Image 5" descr="preencoded.png">    </p:cNvPr>
          <p:cNvPicPr>
            <a:picLocks noChangeAspect="1"/>
          </p:cNvPicPr>
          <p:nvPr/>
        </p:nvPicPr>
        <p:blipFill>
          <a:blip r:embed="rId6"/>
          <a:stretch>
            <a:fillRect/>
          </a:stretch>
        </p:blipFill>
        <p:spPr>
          <a:xfrm>
            <a:off x="5679658" y="2876337"/>
            <a:ext cx="209215" cy="209215"/>
          </a:xfrm>
          <a:prstGeom prst="rect">
            <a:avLst/>
          </a:prstGeom>
        </p:spPr>
      </p:pic>
      <p:sp>
        <p:nvSpPr>
          <p:cNvPr id="45" name="Text 36"/>
          <p:cNvSpPr/>
          <p:nvPr/>
        </p:nvSpPr>
        <p:spPr>
          <a:xfrm>
            <a:off x="6058586" y="2761488"/>
            <a:ext cx="123969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2 · Setuju</a:t>
            </a:r>
            <a:endParaRPr lang="en-US" sz="1150" dirty="0"/>
          </a:p>
        </p:txBody>
      </p:sp>
      <p:sp>
        <p:nvSpPr>
          <p:cNvPr id="46" name="Text 37"/>
          <p:cNvSpPr/>
          <p:nvPr/>
        </p:nvSpPr>
        <p:spPr>
          <a:xfrm>
            <a:off x="5583098" y="3236976"/>
            <a:ext cx="1696898" cy="41148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Foto dikirim ke AI hanya bila disetujui pada permintaan itu.</a:t>
            </a:r>
            <a:endParaRPr lang="en-US" sz="950" dirty="0"/>
          </a:p>
        </p:txBody>
      </p:sp>
      <p:sp>
        <p:nvSpPr>
          <p:cNvPr id="47" name="Text 38"/>
          <p:cNvSpPr/>
          <p:nvPr/>
        </p:nvSpPr>
        <p:spPr>
          <a:xfrm>
            <a:off x="7408012" y="276148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48" name="Shape 39"/>
          <p:cNvSpPr/>
          <p:nvPr/>
        </p:nvSpPr>
        <p:spPr>
          <a:xfrm>
            <a:off x="7572604" y="2651760"/>
            <a:ext cx="1952930" cy="1051560"/>
          </a:xfrm>
          <a:prstGeom prst="roundRect">
            <a:avLst>
              <a:gd name="adj" fmla="val 10435"/>
            </a:avLst>
          </a:prstGeom>
          <a:solidFill>
            <a:srgbClr val="FFFFFF"/>
          </a:solidFill>
          <a:ln w="9525">
            <a:solidFill>
              <a:srgbClr val="DCEEEC"/>
            </a:solidFill>
            <a:prstDash val="solid"/>
          </a:ln>
        </p:spPr>
      </p:sp>
      <p:sp>
        <p:nvSpPr>
          <p:cNvPr id="49" name="Shape 40"/>
          <p:cNvSpPr/>
          <p:nvPr/>
        </p:nvSpPr>
        <p:spPr>
          <a:xfrm>
            <a:off x="7700620" y="2779776"/>
            <a:ext cx="402336" cy="402336"/>
          </a:xfrm>
          <a:prstGeom prst="ellipse">
            <a:avLst/>
          </a:prstGeom>
          <a:solidFill>
            <a:srgbClr val="DFF6F3"/>
          </a:solidFill>
          <a:ln w="12700">
            <a:solidFill>
              <a:srgbClr val="DFF6F3"/>
            </a:solidFill>
            <a:prstDash val="solid"/>
          </a:ln>
        </p:spPr>
      </p:sp>
      <p:pic>
        <p:nvPicPr>
          <p:cNvPr id="50" name="Image 6" descr="preencoded.png">    </p:cNvPr>
          <p:cNvPicPr>
            <a:picLocks noChangeAspect="1"/>
          </p:cNvPicPr>
          <p:nvPr/>
        </p:nvPicPr>
        <p:blipFill>
          <a:blip r:embed="rId7"/>
          <a:stretch>
            <a:fillRect/>
          </a:stretch>
        </p:blipFill>
        <p:spPr>
          <a:xfrm>
            <a:off x="7797180" y="2876337"/>
            <a:ext cx="209215" cy="209215"/>
          </a:xfrm>
          <a:prstGeom prst="rect">
            <a:avLst/>
          </a:prstGeom>
        </p:spPr>
      </p:pic>
      <p:sp>
        <p:nvSpPr>
          <p:cNvPr id="51" name="Text 41"/>
          <p:cNvSpPr/>
          <p:nvPr/>
        </p:nvSpPr>
        <p:spPr>
          <a:xfrm>
            <a:off x="8176108" y="2761488"/>
            <a:ext cx="123969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3 · Draf AI</a:t>
            </a:r>
            <a:endParaRPr lang="en-US" sz="1150" dirty="0"/>
          </a:p>
        </p:txBody>
      </p:sp>
      <p:sp>
        <p:nvSpPr>
          <p:cNvPr id="52" name="Text 42"/>
          <p:cNvSpPr/>
          <p:nvPr/>
        </p:nvSpPr>
        <p:spPr>
          <a:xfrm>
            <a:off x="7700620" y="3236976"/>
            <a:ext cx="1696898" cy="41148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AI mengusulkan ≤ 6 area dan kata dari kosakata aktif anak.</a:t>
            </a:r>
            <a:endParaRPr lang="en-US" sz="950" dirty="0"/>
          </a:p>
        </p:txBody>
      </p:sp>
      <p:sp>
        <p:nvSpPr>
          <p:cNvPr id="53" name="Text 43"/>
          <p:cNvSpPr/>
          <p:nvPr/>
        </p:nvSpPr>
        <p:spPr>
          <a:xfrm>
            <a:off x="9525533" y="2761488"/>
            <a:ext cx="164592" cy="438912"/>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54" name="Shape 44"/>
          <p:cNvSpPr/>
          <p:nvPr/>
        </p:nvSpPr>
        <p:spPr>
          <a:xfrm>
            <a:off x="9690125" y="2651760"/>
            <a:ext cx="1952930" cy="1051560"/>
          </a:xfrm>
          <a:prstGeom prst="roundRect">
            <a:avLst>
              <a:gd name="adj" fmla="val 10435"/>
            </a:avLst>
          </a:prstGeom>
          <a:solidFill>
            <a:srgbClr val="FFFFFF"/>
          </a:solidFill>
          <a:ln w="9525">
            <a:solidFill>
              <a:srgbClr val="DCEEEC"/>
            </a:solidFill>
            <a:prstDash val="solid"/>
          </a:ln>
        </p:spPr>
      </p:sp>
      <p:sp>
        <p:nvSpPr>
          <p:cNvPr id="55" name="Shape 45"/>
          <p:cNvSpPr/>
          <p:nvPr/>
        </p:nvSpPr>
        <p:spPr>
          <a:xfrm>
            <a:off x="9818141" y="2779776"/>
            <a:ext cx="402336" cy="402336"/>
          </a:xfrm>
          <a:prstGeom prst="ellipse">
            <a:avLst/>
          </a:prstGeom>
          <a:solidFill>
            <a:srgbClr val="DFF6F3"/>
          </a:solidFill>
          <a:ln w="12700">
            <a:solidFill>
              <a:srgbClr val="DFF6F3"/>
            </a:solidFill>
            <a:prstDash val="solid"/>
          </a:ln>
        </p:spPr>
      </p:sp>
      <p:pic>
        <p:nvPicPr>
          <p:cNvPr id="56" name="Image 7" descr="preencoded.png">    </p:cNvPr>
          <p:cNvPicPr>
            <a:picLocks noChangeAspect="1"/>
          </p:cNvPicPr>
          <p:nvPr/>
        </p:nvPicPr>
        <p:blipFill>
          <a:blip r:embed="rId8"/>
          <a:stretch>
            <a:fillRect/>
          </a:stretch>
        </p:blipFill>
        <p:spPr>
          <a:xfrm>
            <a:off x="9914702" y="2876337"/>
            <a:ext cx="209215" cy="209215"/>
          </a:xfrm>
          <a:prstGeom prst="rect">
            <a:avLst/>
          </a:prstGeom>
        </p:spPr>
      </p:pic>
      <p:sp>
        <p:nvSpPr>
          <p:cNvPr id="57" name="Text 46"/>
          <p:cNvSpPr/>
          <p:nvPr/>
        </p:nvSpPr>
        <p:spPr>
          <a:xfrm>
            <a:off x="10293629" y="2761488"/>
            <a:ext cx="1239698" cy="438912"/>
          </a:xfrm>
          <a:prstGeom prst="rect">
            <a:avLst/>
          </a:prstGeom>
          <a:noFill/>
          <a:ln/>
        </p:spPr>
        <p:txBody>
          <a:bodyPr wrap="square" lIns="0" tIns="0" rIns="0" bIns="0" rtlCol="0" anchor="ctr"/>
          <a:lstStyle/>
          <a:p>
            <a:pPr indent="0" marL="0">
              <a:buNone/>
            </a:pPr>
            <a:r>
              <a:rPr lang="en-US" sz="1150" b="1" dirty="0">
                <a:solidFill>
                  <a:srgbClr val="172C2A"/>
                </a:solidFill>
                <a:latin typeface="Trebuchet MS" pitchFamily="34" charset="0"/>
                <a:ea typeface="Trebuchet MS" pitchFamily="34" charset="-122"/>
                <a:cs typeface="Trebuchet MS" pitchFamily="34" charset="-120"/>
              </a:rPr>
              <a:t>4 · Periksa</a:t>
            </a:r>
            <a:endParaRPr lang="en-US" sz="1150" dirty="0"/>
          </a:p>
        </p:txBody>
      </p:sp>
      <p:sp>
        <p:nvSpPr>
          <p:cNvPr id="58" name="Text 47"/>
          <p:cNvSpPr/>
          <p:nvPr/>
        </p:nvSpPr>
        <p:spPr>
          <a:xfrm>
            <a:off x="9818141" y="3236976"/>
            <a:ext cx="1696898" cy="411480"/>
          </a:xfrm>
          <a:prstGeom prst="rect">
            <a:avLst/>
          </a:prstGeom>
          <a:noFill/>
          <a:ln/>
        </p:spPr>
        <p:txBody>
          <a:bodyPr wrap="square" lIns="0" tIns="0" rIns="0" bIns="0" rtlCol="0" anchor="t"/>
          <a:lstStyle/>
          <a:p>
            <a:pPr indent="0" marL="0">
              <a:buNone/>
            </a:pPr>
            <a:r>
              <a:rPr lang="en-US" sz="950" dirty="0">
                <a:solidFill>
                  <a:srgbClr val="172C2A"/>
                </a:solidFill>
                <a:latin typeface="Calibri" pitchFamily="34" charset="0"/>
                <a:ea typeface="Calibri" pitchFamily="34" charset="-122"/>
                <a:cs typeface="Calibri" pitchFamily="34" charset="-120"/>
              </a:rPr>
              <a:t>Keluarga memperbaiki; benda tanpa kata dibuatkan kartu baru bersuara.</a:t>
            </a:r>
            <a:endParaRPr lang="en-US" sz="950" dirty="0"/>
          </a:p>
        </p:txBody>
      </p:sp>
      <p:sp>
        <p:nvSpPr>
          <p:cNvPr id="59" name="Shape 48"/>
          <p:cNvSpPr/>
          <p:nvPr/>
        </p:nvSpPr>
        <p:spPr>
          <a:xfrm>
            <a:off x="3337560" y="3867912"/>
            <a:ext cx="4817187" cy="1783080"/>
          </a:xfrm>
          <a:prstGeom prst="roundRect">
            <a:avLst>
              <a:gd name="adj" fmla="val 6154"/>
            </a:avLst>
          </a:prstGeom>
          <a:solidFill>
            <a:srgbClr val="FFFFFF"/>
          </a:solidFill>
          <a:ln w="9525">
            <a:solidFill>
              <a:srgbClr val="DCEEEC"/>
            </a:solidFill>
            <a:prstDash val="solid"/>
          </a:ln>
        </p:spPr>
      </p:sp>
      <p:sp>
        <p:nvSpPr>
          <p:cNvPr id="60" name="Text 49"/>
          <p:cNvSpPr/>
          <p:nvPr/>
        </p:nvSpPr>
        <p:spPr>
          <a:xfrm>
            <a:off x="3520440" y="3959352"/>
            <a:ext cx="4451427" cy="237744"/>
          </a:xfrm>
          <a:prstGeom prst="rect">
            <a:avLst/>
          </a:prstGeom>
          <a:noFill/>
          <a:ln/>
        </p:spPr>
        <p:txBody>
          <a:bodyPr wrap="square" lIns="0" tIns="0" rIns="0" bIns="0" rtlCol="0" anchor="ctr"/>
          <a:lstStyle/>
          <a:p>
            <a:pPr indent="0" marL="0">
              <a:buNone/>
            </a:pPr>
            <a:r>
              <a:rPr lang="en-US" sz="950" b="1" spc="120" kern="0" dirty="0">
                <a:solidFill>
                  <a:srgbClr val="026E65"/>
                </a:solidFill>
                <a:latin typeface="Calibri" pitchFamily="34" charset="0"/>
                <a:ea typeface="Calibri" pitchFamily="34" charset="-122"/>
                <a:cs typeface="Calibri" pitchFamily="34" charset="-120"/>
              </a:rPr>
              <a:t>PENGAMAN YANG SUDAH DIBANGUN</a:t>
            </a:r>
            <a:endParaRPr lang="en-US" sz="950" dirty="0"/>
          </a:p>
        </p:txBody>
      </p:sp>
      <p:sp>
        <p:nvSpPr>
          <p:cNvPr id="61" name="Text 50"/>
          <p:cNvSpPr/>
          <p:nvPr/>
        </p:nvSpPr>
        <p:spPr>
          <a:xfrm>
            <a:off x="3520440" y="4233672"/>
            <a:ext cx="4497147" cy="1344168"/>
          </a:xfrm>
          <a:prstGeom prst="rect">
            <a:avLst/>
          </a:prstGeom>
          <a:noFill/>
          <a:ln/>
        </p:spPr>
        <p:txBody>
          <a:bodyPr wrap="square" lIns="0" tIns="0" rIns="0" bIns="0" rtlCol="0" anchor="t"/>
          <a:lstStyle/>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Server tidak menyimpan foto; permintaan ke OpenAI tanpa penyimpanan (store: false)</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JPEG tanpa metadata, ≤ 2 MiB dan ≤ 1280 px; token perangkat dicek sebelum foto dibaca</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1 permintaan aktif, 10 analisis per anak per hari, batas waktu 30 detik</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Benda yang belum ada di kosakata dibuatkan kartu kata baru bersuara; bisa dihapus di Kelola kosakata</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Tanpa kunci, tautan, atau internet: editor manual tetap tersedia</a:t>
            </a:r>
            <a:endParaRPr lang="en-US" sz="950" dirty="0"/>
          </a:p>
        </p:txBody>
      </p:sp>
      <p:sp>
        <p:nvSpPr>
          <p:cNvPr id="62" name="Shape 51"/>
          <p:cNvSpPr/>
          <p:nvPr/>
        </p:nvSpPr>
        <p:spPr>
          <a:xfrm>
            <a:off x="8319339" y="3867912"/>
            <a:ext cx="3323716" cy="1783080"/>
          </a:xfrm>
          <a:prstGeom prst="roundRect">
            <a:avLst>
              <a:gd name="adj" fmla="val 6154"/>
            </a:avLst>
          </a:prstGeom>
          <a:solidFill>
            <a:srgbClr val="FDE1E2"/>
          </a:solidFill>
          <a:ln w="9525">
            <a:solidFill>
              <a:srgbClr val="FDE1E2"/>
            </a:solidFill>
            <a:prstDash val="solid"/>
          </a:ln>
        </p:spPr>
      </p:sp>
      <p:sp>
        <p:nvSpPr>
          <p:cNvPr id="63" name="Text 52"/>
          <p:cNvSpPr/>
          <p:nvPr/>
        </p:nvSpPr>
        <p:spPr>
          <a:xfrm>
            <a:off x="8502219" y="3959352"/>
            <a:ext cx="2957956" cy="237744"/>
          </a:xfrm>
          <a:prstGeom prst="rect">
            <a:avLst/>
          </a:prstGeom>
          <a:noFill/>
          <a:ln/>
        </p:spPr>
        <p:txBody>
          <a:bodyPr wrap="square" lIns="0" tIns="0" rIns="0" bIns="0" rtlCol="0" anchor="ctr"/>
          <a:lstStyle/>
          <a:p>
            <a:pPr indent="0" marL="0">
              <a:buNone/>
            </a:pPr>
            <a:r>
              <a:rPr lang="en-US" sz="950" b="1" spc="120" kern="0" dirty="0">
                <a:solidFill>
                  <a:srgbClr val="C23D42"/>
                </a:solidFill>
                <a:latin typeface="Calibri" pitchFamily="34" charset="0"/>
                <a:ea typeface="Calibri" pitchFamily="34" charset="-122"/>
                <a:cs typeface="Calibri" pitchFamily="34" charset="-120"/>
              </a:rPr>
              <a:t>BATAS JUJUR</a:t>
            </a:r>
            <a:endParaRPr lang="en-US" sz="950" dirty="0"/>
          </a:p>
        </p:txBody>
      </p:sp>
      <p:sp>
        <p:nvSpPr>
          <p:cNvPr id="64" name="Text 53"/>
          <p:cNvSpPr/>
          <p:nvPr/>
        </p:nvSpPr>
        <p:spPr>
          <a:xfrm>
            <a:off x="8502219" y="4233672"/>
            <a:ext cx="3003676" cy="1344168"/>
          </a:xfrm>
          <a:prstGeom prst="rect">
            <a:avLst/>
          </a:prstGeom>
          <a:noFill/>
          <a:ln/>
        </p:spPr>
        <p:txBody>
          <a:bodyPr wrap="square" lIns="0" tIns="0" rIns="0" bIns="0" rtlCol="0" anchor="t"/>
          <a:lstStyle/>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Bukan pengenal maksud, emosi, atau diagnosis</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Akurasi draf AI belum diukur; kartu kata baru belum bergambar</a:t>
            </a:r>
            <a:endParaRPr lang="en-US" sz="950" dirty="0"/>
          </a:p>
          <a:p>
            <a:pPr marL="152400" indent="-152400">
              <a:spcAft>
                <a:spcPts val="200"/>
              </a:spcAft>
              <a:buSzPct val="100000"/>
              <a:buChar char="•"/>
            </a:pPr>
            <a:r>
              <a:rPr lang="en-US" sz="950" dirty="0">
                <a:solidFill>
                  <a:srgbClr val="172C2A"/>
                </a:solidFill>
                <a:latin typeface="Calibri" pitchFamily="34" charset="0"/>
                <a:ea typeface="Calibri" pitchFamily="34" charset="-122"/>
                <a:cs typeface="Calibri" pitchFamily="34" charset="-120"/>
              </a:rPr>
              <a:t>Foto keluar HP hanya di alur AI yang disetujui</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YANG KAMI CIPTAKAN · UNTUK TERAPIS</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Terapis menerima konteks dan alasan, bukan tumpukan data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10</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Tangkapan layar asli papan pantau Nyambung dalam mode demo. Semua nama dan angka ilustratif, bukan data keluarga sungguhan.</a:t>
            </a:r>
            <a:endParaRPr lang="en-US" sz="850" dirty="0"/>
          </a:p>
        </p:txBody>
      </p:sp>
      <p:sp>
        <p:nvSpPr>
          <p:cNvPr id="12" name="Shape 8"/>
          <p:cNvSpPr/>
          <p:nvPr/>
        </p:nvSpPr>
        <p:spPr>
          <a:xfrm>
            <a:off x="548640" y="1746504"/>
            <a:ext cx="6382512" cy="3172968"/>
          </a:xfrm>
          <a:prstGeom prst="roundRect">
            <a:avLst>
              <a:gd name="adj" fmla="val 2305"/>
            </a:avLst>
          </a:prstGeom>
          <a:solidFill>
            <a:srgbClr val="FFFFFF"/>
          </a:solidFill>
          <a:ln w="12700">
            <a:solidFill>
              <a:srgbClr val="A0DDD7"/>
            </a:solidFill>
            <a:prstDash val="solid"/>
          </a:ln>
        </p:spPr>
      </p:sp>
      <p:pic>
        <p:nvPicPr>
          <p:cNvPr id="13" name="Image 1" descr="C:\Users\mikae\AppData\Local\Temp\claude\C--Users-mikae-OneDrive-Documents-Lomba-IFEST-Nyambung\5a0b5d3c-f3f7-4cfd-b1e4-12368b2fb354\scratchpad\deck\img\c_n_d1.jpg">    </p:cNvPr>
          <p:cNvPicPr>
            <a:picLocks noChangeAspect="1"/>
          </p:cNvPicPr>
          <p:nvPr/>
        </p:nvPicPr>
        <p:blipFill>
          <a:blip r:embed="rId2"/>
          <a:stretch>
            <a:fillRect/>
          </a:stretch>
        </p:blipFill>
        <p:spPr>
          <a:xfrm>
            <a:off x="585216" y="1783080"/>
            <a:ext cx="6309360" cy="3099816"/>
          </a:xfrm>
          <a:prstGeom prst="rect">
            <a:avLst/>
          </a:prstGeom>
        </p:spPr>
      </p:pic>
      <p:sp>
        <p:nvSpPr>
          <p:cNvPr id="14" name="Text 9"/>
          <p:cNvSpPr/>
          <p:nvPr/>
        </p:nvSpPr>
        <p:spPr>
          <a:xfrm>
            <a:off x="548640" y="4974336"/>
            <a:ext cx="6355080" cy="256032"/>
          </a:xfrm>
          <a:prstGeom prst="rect">
            <a:avLst/>
          </a:prstGeom>
          <a:noFill/>
          <a:ln/>
        </p:spPr>
        <p:txBody>
          <a:bodyPr wrap="square" lIns="0" tIns="0" rIns="0" bIns="0" rtlCol="0" anchor="ctr"/>
          <a:lstStyle/>
          <a:p>
            <a:pPr indent="0" marL="0">
              <a:buNone/>
            </a:pPr>
            <a:r>
              <a:rPr lang="en-US" sz="1050" b="1" dirty="0">
                <a:solidFill>
                  <a:srgbClr val="026E65"/>
                </a:solidFill>
                <a:latin typeface="Calibri" pitchFamily="34" charset="0"/>
                <a:ea typeface="Calibri" pitchFamily="34" charset="-122"/>
                <a:cs typeface="Calibri" pitchFamily="34" charset="-120"/>
              </a:rPr>
              <a:t>D1 · Keluarga binaan: triase dengan alasan tertulis</a:t>
            </a:r>
            <a:endParaRPr lang="en-US" sz="1050" dirty="0"/>
          </a:p>
        </p:txBody>
      </p:sp>
      <p:sp>
        <p:nvSpPr>
          <p:cNvPr id="15" name="Shape 10"/>
          <p:cNvSpPr/>
          <p:nvPr/>
        </p:nvSpPr>
        <p:spPr>
          <a:xfrm>
            <a:off x="7178040" y="1746504"/>
            <a:ext cx="4465015" cy="2888719"/>
          </a:xfrm>
          <a:prstGeom prst="roundRect">
            <a:avLst>
              <a:gd name="adj" fmla="val 2532"/>
            </a:avLst>
          </a:prstGeom>
          <a:solidFill>
            <a:srgbClr val="FFFFFF"/>
          </a:solidFill>
          <a:ln w="12700">
            <a:solidFill>
              <a:srgbClr val="A0DDD7"/>
            </a:solidFill>
            <a:prstDash val="solid"/>
          </a:ln>
        </p:spPr>
      </p:sp>
      <p:pic>
        <p:nvPicPr>
          <p:cNvPr id="16" name="Image 2" descr="C:\Users\mikae\AppData\Local\Temp\claude\C--Users-mikae-OneDrive-Documents-Lomba-IFEST-Nyambung\5a0b5d3c-f3f7-4cfd-b1e4-12368b2fb354\scratchpad\deck\img\c_n_d4.jpg">    </p:cNvPr>
          <p:cNvPicPr>
            <a:picLocks noChangeAspect="1"/>
          </p:cNvPicPr>
          <p:nvPr/>
        </p:nvPicPr>
        <p:blipFill>
          <a:blip r:embed="rId3"/>
          <a:stretch>
            <a:fillRect/>
          </a:stretch>
        </p:blipFill>
        <p:spPr>
          <a:xfrm>
            <a:off x="7214616" y="1783080"/>
            <a:ext cx="4391863" cy="2815567"/>
          </a:xfrm>
          <a:prstGeom prst="rect">
            <a:avLst/>
          </a:prstGeom>
        </p:spPr>
      </p:pic>
      <p:sp>
        <p:nvSpPr>
          <p:cNvPr id="17" name="Text 11"/>
          <p:cNvSpPr/>
          <p:nvPr/>
        </p:nvSpPr>
        <p:spPr>
          <a:xfrm>
            <a:off x="7178040" y="4690087"/>
            <a:ext cx="4465015" cy="256032"/>
          </a:xfrm>
          <a:prstGeom prst="rect">
            <a:avLst/>
          </a:prstGeom>
          <a:noFill/>
          <a:ln/>
        </p:spPr>
        <p:txBody>
          <a:bodyPr wrap="square" lIns="0" tIns="0" rIns="0" bIns="0" rtlCol="0" anchor="ctr"/>
          <a:lstStyle/>
          <a:p>
            <a:pPr indent="0" marL="0">
              <a:buNone/>
            </a:pPr>
            <a:r>
              <a:rPr lang="en-US" sz="1050" b="1" dirty="0">
                <a:solidFill>
                  <a:srgbClr val="026E65"/>
                </a:solidFill>
                <a:latin typeface="Calibri" pitchFamily="34" charset="0"/>
                <a:ea typeface="Calibri" pitchFamily="34" charset="-122"/>
                <a:cs typeface="Calibri" pitchFamily="34" charset="-120"/>
              </a:rPr>
              <a:t>D4 · Ringkasan dari rumah, tersusun sebelum sesi</a:t>
            </a:r>
            <a:endParaRPr lang="en-US" sz="1050" dirty="0"/>
          </a:p>
        </p:txBody>
      </p:sp>
      <p:sp>
        <p:nvSpPr>
          <p:cNvPr id="18" name="Text 12"/>
          <p:cNvSpPr/>
          <p:nvPr/>
        </p:nvSpPr>
        <p:spPr>
          <a:xfrm>
            <a:off x="548640" y="5394960"/>
            <a:ext cx="2743200" cy="420624"/>
          </a:xfrm>
          <a:prstGeom prst="roundRect">
            <a:avLst>
              <a:gd name="adj" fmla="val 50000"/>
            </a:avLst>
          </a:prstGeom>
          <a:solidFill>
            <a:srgbClr val="EDECFB"/>
          </a:solidFill>
          <a:ln>
            <a:solidFill>
              <a:srgbClr val="EDECFB"/>
            </a:solidFill>
          </a:ln>
        </p:spPr>
        <p:txBody>
          <a:bodyPr wrap="square" lIns="0" tIns="0" rIns="0" bIns="0" rtlCol="0" anchor="ctr"/>
          <a:lstStyle/>
          <a:p>
            <a:pPr algn="ctr" indent="0" marL="0">
              <a:buNone/>
            </a:pPr>
            <a:r>
              <a:rPr lang="en-US" sz="1100" b="1" dirty="0">
                <a:solidFill>
                  <a:srgbClr val="5B57A8"/>
                </a:solidFill>
                <a:latin typeface="Calibri" pitchFamily="34" charset="0"/>
                <a:ea typeface="Calibri" pitchFamily="34" charset="-122"/>
                <a:cs typeface="Calibri" pitchFamily="34" charset="-120"/>
              </a:rPr>
              <a:t>Terapis mengusulkan kata atau frasa</a:t>
            </a:r>
            <a:endParaRPr lang="en-US" sz="1100" dirty="0"/>
          </a:p>
        </p:txBody>
      </p:sp>
      <p:sp>
        <p:nvSpPr>
          <p:cNvPr id="19" name="Text 13"/>
          <p:cNvSpPr/>
          <p:nvPr/>
        </p:nvSpPr>
        <p:spPr>
          <a:xfrm>
            <a:off x="3291840" y="5394960"/>
            <a:ext cx="329184" cy="420624"/>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20" name="Text 14"/>
          <p:cNvSpPr/>
          <p:nvPr/>
        </p:nvSpPr>
        <p:spPr>
          <a:xfrm>
            <a:off x="3621024" y="5394960"/>
            <a:ext cx="3337560" cy="420624"/>
          </a:xfrm>
          <a:prstGeom prst="roundRect">
            <a:avLst>
              <a:gd name="adj" fmla="val 50000"/>
            </a:avLst>
          </a:prstGeom>
          <a:solidFill>
            <a:srgbClr val="FDE1E2"/>
          </a:solidFill>
          <a:ln>
            <a:solidFill>
              <a:srgbClr val="FDE1E2"/>
            </a:solidFill>
          </a:ln>
        </p:spPr>
        <p:txBody>
          <a:bodyPr wrap="square" lIns="0" tIns="0" rIns="0" bIns="0" rtlCol="0" anchor="ctr"/>
          <a:lstStyle/>
          <a:p>
            <a:pPr algn="ctr" indent="0" marL="0">
              <a:buNone/>
            </a:pPr>
            <a:r>
              <a:rPr lang="en-US" sz="1100" b="1" dirty="0">
                <a:solidFill>
                  <a:srgbClr val="C23D42"/>
                </a:solidFill>
                <a:latin typeface="Calibri" pitchFamily="34" charset="0"/>
                <a:ea typeface="Calibri" pitchFamily="34" charset="-122"/>
                <a:cs typeface="Calibri" pitchFamily="34" charset="-120"/>
              </a:rPr>
              <a:t>Keluarga: Terima atau Tolak, tanpa alasan</a:t>
            </a:r>
            <a:endParaRPr lang="en-US" sz="1100" dirty="0"/>
          </a:p>
        </p:txBody>
      </p:sp>
      <p:sp>
        <p:nvSpPr>
          <p:cNvPr id="21" name="Text 15"/>
          <p:cNvSpPr/>
          <p:nvPr/>
        </p:nvSpPr>
        <p:spPr>
          <a:xfrm>
            <a:off x="6958584" y="5394960"/>
            <a:ext cx="329184" cy="420624"/>
          </a:xfrm>
          <a:prstGeom prst="rect">
            <a:avLst/>
          </a:prstGeom>
          <a:noFill/>
          <a:ln/>
        </p:spPr>
        <p:txBody>
          <a:bodyPr wrap="square" lIns="0" tIns="0" rIns="0" bIns="0" rtlCol="0" anchor="ctr"/>
          <a:lstStyle/>
          <a:p>
            <a:pPr algn="ctr" indent="0" marL="0">
              <a:buNone/>
            </a:pPr>
            <a:r>
              <a:rPr lang="en-US" sz="1600" b="1" dirty="0">
                <a:solidFill>
                  <a:srgbClr val="14B3A6"/>
                </a:solidFill>
                <a:latin typeface="Calibri" pitchFamily="34" charset="0"/>
                <a:ea typeface="Calibri" pitchFamily="34" charset="-122"/>
                <a:cs typeface="Calibri" pitchFamily="34" charset="-120"/>
              </a:rPr>
              <a:t>→</a:t>
            </a:r>
            <a:endParaRPr lang="en-US" sz="1600" dirty="0"/>
          </a:p>
        </p:txBody>
      </p:sp>
      <p:sp>
        <p:nvSpPr>
          <p:cNvPr id="22" name="Text 16"/>
          <p:cNvSpPr/>
          <p:nvPr/>
        </p:nvSpPr>
        <p:spPr>
          <a:xfrm>
            <a:off x="7287768" y="5394960"/>
            <a:ext cx="2743200" cy="420624"/>
          </a:xfrm>
          <a:prstGeom prst="roundRect">
            <a:avLst>
              <a:gd name="adj" fmla="val 50000"/>
            </a:avLst>
          </a:prstGeom>
          <a:solidFill>
            <a:srgbClr val="DFF6F3"/>
          </a:solidFill>
          <a:ln>
            <a:solidFill>
              <a:srgbClr val="DFF6F3"/>
            </a:solidFill>
          </a:ln>
        </p:spPr>
        <p:txBody>
          <a:bodyPr wrap="square" lIns="0" tIns="0" rIns="0" bIns="0" rtlCol="0" anchor="ctr"/>
          <a:lstStyle/>
          <a:p>
            <a:pPr algn="ctr" indent="0" marL="0">
              <a:buNone/>
            </a:pPr>
            <a:r>
              <a:rPr lang="en-US" sz="1100" b="1" dirty="0">
                <a:solidFill>
                  <a:srgbClr val="026E65"/>
                </a:solidFill>
                <a:latin typeface="Calibri" pitchFamily="34" charset="0"/>
                <a:ea typeface="Calibri" pitchFamily="34" charset="-122"/>
                <a:cs typeface="Calibri" pitchFamily="34" charset="-120"/>
              </a:rPr>
              <a:t>Jawaban kembali sebagai peristiwa</a:t>
            </a:r>
            <a:endParaRPr lang="en-US" sz="1100" dirty="0"/>
          </a:p>
        </p:txBody>
      </p:sp>
      <p:sp>
        <p:nvSpPr>
          <p:cNvPr id="23" name="Text 17"/>
          <p:cNvSpPr/>
          <p:nvPr/>
        </p:nvSpPr>
        <p:spPr>
          <a:xfrm>
            <a:off x="10259568" y="5394960"/>
            <a:ext cx="1383487" cy="420624"/>
          </a:xfrm>
          <a:prstGeom prst="roundRect">
            <a:avLst>
              <a:gd name="adj" fmla="val 50000"/>
            </a:avLst>
          </a:prstGeom>
          <a:solidFill>
            <a:srgbClr val="098277"/>
          </a:solidFill>
          <a:ln>
            <a:solidFill>
              <a:srgbClr val="098277"/>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Aturan + alasan + keputusan manusia</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KETEPATAN TEKNOLOGI DAN ARSITEKTUR</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pilihan teknologi berangkat dari kondisi pengguna kami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11</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Kleppmann dkk. (2019), Local-first software · Richardson, pola Transactional Outbox &amp; Idempotent Consumer · server/app/auth.py (undangan, sesi, scrypt) · PERUBAHAN.md entri 9 dan 20.</a:t>
            </a:r>
            <a:endParaRPr lang="en-US" sz="850" dirty="0"/>
          </a:p>
        </p:txBody>
      </p:sp>
      <p:sp>
        <p:nvSpPr>
          <p:cNvPr id="12" name="Shape 8"/>
          <p:cNvSpPr/>
          <p:nvPr/>
        </p:nvSpPr>
        <p:spPr>
          <a:xfrm>
            <a:off x="548640" y="1783080"/>
            <a:ext cx="1847088" cy="1600200"/>
          </a:xfrm>
          <a:prstGeom prst="roundRect">
            <a:avLst>
              <a:gd name="adj" fmla="val 6857"/>
            </a:avLst>
          </a:prstGeom>
          <a:solidFill>
            <a:srgbClr val="FFFFFF"/>
          </a:solidFill>
          <a:ln w="9525">
            <a:solidFill>
              <a:srgbClr val="DCEEEC"/>
            </a:solidFill>
            <a:prstDash val="solid"/>
          </a:ln>
        </p:spPr>
      </p:sp>
      <p:sp>
        <p:nvSpPr>
          <p:cNvPr id="13" name="Shape 9"/>
          <p:cNvSpPr/>
          <p:nvPr/>
        </p:nvSpPr>
        <p:spPr>
          <a:xfrm>
            <a:off x="1170432" y="1920240"/>
            <a:ext cx="603504" cy="603504"/>
          </a:xfrm>
          <a:prstGeom prst="ellipse">
            <a:avLst/>
          </a:prstGeom>
          <a:solidFill>
            <a:srgbClr val="DFF6F3"/>
          </a:solidFill>
          <a:ln w="12700">
            <a:solidFill>
              <a:srgbClr val="DFF6F3"/>
            </a:solidFill>
            <a:prstDash val="solid"/>
          </a:ln>
        </p:spPr>
      </p:sp>
      <p:pic>
        <p:nvPicPr>
          <p:cNvPr id="14" name="Image 1" descr="preencoded.png">    </p:cNvPr>
          <p:cNvPicPr>
            <a:picLocks noChangeAspect="1"/>
          </p:cNvPicPr>
          <p:nvPr/>
        </p:nvPicPr>
        <p:blipFill>
          <a:blip r:embed="rId2"/>
          <a:stretch>
            <a:fillRect/>
          </a:stretch>
        </p:blipFill>
        <p:spPr>
          <a:xfrm>
            <a:off x="1315273" y="2065081"/>
            <a:ext cx="313822" cy="313822"/>
          </a:xfrm>
          <a:prstGeom prst="rect">
            <a:avLst/>
          </a:prstGeom>
        </p:spPr>
      </p:pic>
      <p:sp>
        <p:nvSpPr>
          <p:cNvPr id="15" name="Text 10"/>
          <p:cNvSpPr/>
          <p:nvPr/>
        </p:nvSpPr>
        <p:spPr>
          <a:xfrm>
            <a:off x="640080"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Ketukan</a:t>
            </a:r>
            <a:endParaRPr lang="en-US" sz="1350" dirty="0"/>
          </a:p>
        </p:txBody>
      </p:sp>
      <p:sp>
        <p:nvSpPr>
          <p:cNvPr id="16" name="Text 11"/>
          <p:cNvSpPr/>
          <p:nvPr/>
        </p:nvSpPr>
        <p:spPr>
          <a:xfrm>
            <a:off x="640080"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HP · Flutter</a:t>
            </a:r>
            <a:endParaRPr lang="en-US" sz="1050" dirty="0"/>
          </a:p>
        </p:txBody>
      </p:sp>
      <p:sp>
        <p:nvSpPr>
          <p:cNvPr id="17" name="Text 12"/>
          <p:cNvSpPr/>
          <p:nvPr/>
        </p:nvSpPr>
        <p:spPr>
          <a:xfrm>
            <a:off x="2395728"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18" name="Shape 13"/>
          <p:cNvSpPr/>
          <p:nvPr/>
        </p:nvSpPr>
        <p:spPr>
          <a:xfrm>
            <a:off x="2860472" y="1783080"/>
            <a:ext cx="1847088" cy="1600200"/>
          </a:xfrm>
          <a:prstGeom prst="roundRect">
            <a:avLst>
              <a:gd name="adj" fmla="val 6857"/>
            </a:avLst>
          </a:prstGeom>
          <a:solidFill>
            <a:srgbClr val="FFFFFF"/>
          </a:solidFill>
          <a:ln w="9525">
            <a:solidFill>
              <a:srgbClr val="DCEEEC"/>
            </a:solidFill>
            <a:prstDash val="solid"/>
          </a:ln>
        </p:spPr>
      </p:sp>
      <p:sp>
        <p:nvSpPr>
          <p:cNvPr id="19" name="Shape 14"/>
          <p:cNvSpPr/>
          <p:nvPr/>
        </p:nvSpPr>
        <p:spPr>
          <a:xfrm>
            <a:off x="3482264" y="1920240"/>
            <a:ext cx="603504" cy="603504"/>
          </a:xfrm>
          <a:prstGeom prst="ellipse">
            <a:avLst/>
          </a:prstGeom>
          <a:solidFill>
            <a:srgbClr val="DFF6F3"/>
          </a:solidFill>
          <a:ln w="12700">
            <a:solidFill>
              <a:srgbClr val="DFF6F3"/>
            </a:solidFill>
            <a:prstDash val="solid"/>
          </a:ln>
        </p:spPr>
      </p:sp>
      <p:pic>
        <p:nvPicPr>
          <p:cNvPr id="20" name="Image 2" descr="preencoded.png">    </p:cNvPr>
          <p:cNvPicPr>
            <a:picLocks noChangeAspect="1"/>
          </p:cNvPicPr>
          <p:nvPr/>
        </p:nvPicPr>
        <p:blipFill>
          <a:blip r:embed="rId3"/>
          <a:stretch>
            <a:fillRect/>
          </a:stretch>
        </p:blipFill>
        <p:spPr>
          <a:xfrm>
            <a:off x="3627105" y="2065081"/>
            <a:ext cx="313822" cy="313822"/>
          </a:xfrm>
          <a:prstGeom prst="rect">
            <a:avLst/>
          </a:prstGeom>
        </p:spPr>
      </p:pic>
      <p:sp>
        <p:nvSpPr>
          <p:cNvPr id="21" name="Text 15"/>
          <p:cNvSpPr/>
          <p:nvPr/>
        </p:nvSpPr>
        <p:spPr>
          <a:xfrm>
            <a:off x="2951912"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SQLite di HP</a:t>
            </a:r>
            <a:endParaRPr lang="en-US" sz="1350" dirty="0"/>
          </a:p>
        </p:txBody>
      </p:sp>
      <p:sp>
        <p:nvSpPr>
          <p:cNvPr id="22" name="Text 16"/>
          <p:cNvSpPr/>
          <p:nvPr/>
        </p:nvSpPr>
        <p:spPr>
          <a:xfrm>
            <a:off x="2951912"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log + antrean kirim</a:t>
            </a:r>
            <a:endParaRPr lang="en-US" sz="1050" dirty="0"/>
          </a:p>
        </p:txBody>
      </p:sp>
      <p:sp>
        <p:nvSpPr>
          <p:cNvPr id="23" name="Text 17"/>
          <p:cNvSpPr/>
          <p:nvPr/>
        </p:nvSpPr>
        <p:spPr>
          <a:xfrm>
            <a:off x="4707560"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24" name="Shape 18"/>
          <p:cNvSpPr/>
          <p:nvPr/>
        </p:nvSpPr>
        <p:spPr>
          <a:xfrm>
            <a:off x="5172304" y="1783080"/>
            <a:ext cx="1847088" cy="1600200"/>
          </a:xfrm>
          <a:prstGeom prst="roundRect">
            <a:avLst>
              <a:gd name="adj" fmla="val 6857"/>
            </a:avLst>
          </a:prstGeom>
          <a:solidFill>
            <a:srgbClr val="FFFFFF"/>
          </a:solidFill>
          <a:ln w="9525">
            <a:solidFill>
              <a:srgbClr val="DCEEEC"/>
            </a:solidFill>
            <a:prstDash val="solid"/>
          </a:ln>
        </p:spPr>
      </p:sp>
      <p:sp>
        <p:nvSpPr>
          <p:cNvPr id="25" name="Shape 19"/>
          <p:cNvSpPr/>
          <p:nvPr/>
        </p:nvSpPr>
        <p:spPr>
          <a:xfrm>
            <a:off x="5794096" y="1920240"/>
            <a:ext cx="603504" cy="603504"/>
          </a:xfrm>
          <a:prstGeom prst="ellipse">
            <a:avLst/>
          </a:prstGeom>
          <a:solidFill>
            <a:srgbClr val="FDF0D2"/>
          </a:solidFill>
          <a:ln w="12700">
            <a:solidFill>
              <a:srgbClr val="FDF0D2"/>
            </a:solidFill>
            <a:prstDash val="solid"/>
          </a:ln>
        </p:spPr>
      </p:sp>
      <p:pic>
        <p:nvPicPr>
          <p:cNvPr id="26" name="Image 3" descr="preencoded.png">    </p:cNvPr>
          <p:cNvPicPr>
            <a:picLocks noChangeAspect="1"/>
          </p:cNvPicPr>
          <p:nvPr/>
        </p:nvPicPr>
        <p:blipFill>
          <a:blip r:embed="rId4"/>
          <a:stretch>
            <a:fillRect/>
          </a:stretch>
        </p:blipFill>
        <p:spPr>
          <a:xfrm>
            <a:off x="5938937" y="2065081"/>
            <a:ext cx="313822" cy="313822"/>
          </a:xfrm>
          <a:prstGeom prst="rect">
            <a:avLst/>
          </a:prstGeom>
        </p:spPr>
      </p:pic>
      <p:sp>
        <p:nvSpPr>
          <p:cNvPr id="27" name="Text 20"/>
          <p:cNvSpPr/>
          <p:nvPr/>
        </p:nvSpPr>
        <p:spPr>
          <a:xfrm>
            <a:off x="5263744"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Sinkron otomatis</a:t>
            </a:r>
            <a:endParaRPr lang="en-US" sz="1350" dirty="0"/>
          </a:p>
        </p:txBody>
      </p:sp>
      <p:sp>
        <p:nvSpPr>
          <p:cNvPr id="28" name="Text 21"/>
          <p:cNvSpPr/>
          <p:nvPr/>
        </p:nvSpPr>
        <p:spPr>
          <a:xfrm>
            <a:off x="5263744"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tiap 20 dtk saat online</a:t>
            </a:r>
            <a:endParaRPr lang="en-US" sz="1050" dirty="0"/>
          </a:p>
        </p:txBody>
      </p:sp>
      <p:sp>
        <p:nvSpPr>
          <p:cNvPr id="29" name="Text 22"/>
          <p:cNvSpPr/>
          <p:nvPr/>
        </p:nvSpPr>
        <p:spPr>
          <a:xfrm>
            <a:off x="7019392"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30" name="Shape 23"/>
          <p:cNvSpPr/>
          <p:nvPr/>
        </p:nvSpPr>
        <p:spPr>
          <a:xfrm>
            <a:off x="7484135" y="1783080"/>
            <a:ext cx="1847088" cy="1600200"/>
          </a:xfrm>
          <a:prstGeom prst="roundRect">
            <a:avLst>
              <a:gd name="adj" fmla="val 6857"/>
            </a:avLst>
          </a:prstGeom>
          <a:solidFill>
            <a:srgbClr val="FFFFFF"/>
          </a:solidFill>
          <a:ln w="9525">
            <a:solidFill>
              <a:srgbClr val="DCEEEC"/>
            </a:solidFill>
            <a:prstDash val="solid"/>
          </a:ln>
        </p:spPr>
      </p:sp>
      <p:sp>
        <p:nvSpPr>
          <p:cNvPr id="31" name="Shape 24"/>
          <p:cNvSpPr/>
          <p:nvPr/>
        </p:nvSpPr>
        <p:spPr>
          <a:xfrm>
            <a:off x="8105927" y="1920240"/>
            <a:ext cx="603504" cy="603504"/>
          </a:xfrm>
          <a:prstGeom prst="ellipse">
            <a:avLst/>
          </a:prstGeom>
          <a:solidFill>
            <a:srgbClr val="EDECFB"/>
          </a:solidFill>
          <a:ln w="12700">
            <a:solidFill>
              <a:srgbClr val="EDECFB"/>
            </a:solidFill>
            <a:prstDash val="solid"/>
          </a:ln>
        </p:spPr>
      </p:sp>
      <p:pic>
        <p:nvPicPr>
          <p:cNvPr id="32" name="Image 4" descr="preencoded.png">    </p:cNvPr>
          <p:cNvPicPr>
            <a:picLocks noChangeAspect="1"/>
          </p:cNvPicPr>
          <p:nvPr/>
        </p:nvPicPr>
        <p:blipFill>
          <a:blip r:embed="rId5"/>
          <a:stretch>
            <a:fillRect/>
          </a:stretch>
        </p:blipFill>
        <p:spPr>
          <a:xfrm>
            <a:off x="8250768" y="2065081"/>
            <a:ext cx="313822" cy="313822"/>
          </a:xfrm>
          <a:prstGeom prst="rect">
            <a:avLst/>
          </a:prstGeom>
        </p:spPr>
      </p:pic>
      <p:sp>
        <p:nvSpPr>
          <p:cNvPr id="33" name="Text 25"/>
          <p:cNvSpPr/>
          <p:nvPr/>
        </p:nvSpPr>
        <p:spPr>
          <a:xfrm>
            <a:off x="7575575"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Server</a:t>
            </a:r>
            <a:endParaRPr lang="en-US" sz="1350" dirty="0"/>
          </a:p>
        </p:txBody>
      </p:sp>
      <p:sp>
        <p:nvSpPr>
          <p:cNvPr id="34" name="Text 26"/>
          <p:cNvSpPr/>
          <p:nvPr/>
        </p:nvSpPr>
        <p:spPr>
          <a:xfrm>
            <a:off x="7575575"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FastAPI + SQLite WAL</a:t>
            </a:r>
            <a:endParaRPr lang="en-US" sz="1050" dirty="0"/>
          </a:p>
        </p:txBody>
      </p:sp>
      <p:sp>
        <p:nvSpPr>
          <p:cNvPr id="35" name="Text 27"/>
          <p:cNvSpPr/>
          <p:nvPr/>
        </p:nvSpPr>
        <p:spPr>
          <a:xfrm>
            <a:off x="9331223" y="2286000"/>
            <a:ext cx="464744" cy="457200"/>
          </a:xfrm>
          <a:prstGeom prst="rect">
            <a:avLst/>
          </a:prstGeom>
          <a:noFill/>
          <a:ln/>
        </p:spPr>
        <p:txBody>
          <a:bodyPr wrap="square" lIns="0" tIns="0" rIns="0" bIns="0" rtlCol="0" anchor="ctr"/>
          <a:lstStyle/>
          <a:p>
            <a:pPr algn="ctr" indent="0" marL="0">
              <a:buNone/>
            </a:pPr>
            <a:r>
              <a:rPr lang="en-US" sz="2000" b="1" dirty="0">
                <a:solidFill>
                  <a:srgbClr val="14B3A6"/>
                </a:solidFill>
                <a:latin typeface="Calibri" pitchFamily="34" charset="0"/>
                <a:ea typeface="Calibri" pitchFamily="34" charset="-122"/>
                <a:cs typeface="Calibri" pitchFamily="34" charset="-120"/>
              </a:rPr>
              <a:t>→</a:t>
            </a:r>
            <a:endParaRPr lang="en-US" sz="2000" dirty="0"/>
          </a:p>
        </p:txBody>
      </p:sp>
      <p:sp>
        <p:nvSpPr>
          <p:cNvPr id="36" name="Shape 28"/>
          <p:cNvSpPr/>
          <p:nvPr/>
        </p:nvSpPr>
        <p:spPr>
          <a:xfrm>
            <a:off x="9795967" y="1783080"/>
            <a:ext cx="1847088" cy="1600200"/>
          </a:xfrm>
          <a:prstGeom prst="roundRect">
            <a:avLst>
              <a:gd name="adj" fmla="val 6857"/>
            </a:avLst>
          </a:prstGeom>
          <a:solidFill>
            <a:srgbClr val="FFFFFF"/>
          </a:solidFill>
          <a:ln w="9525">
            <a:solidFill>
              <a:srgbClr val="DCEEEC"/>
            </a:solidFill>
            <a:prstDash val="solid"/>
          </a:ln>
        </p:spPr>
      </p:sp>
      <p:sp>
        <p:nvSpPr>
          <p:cNvPr id="37" name="Shape 29"/>
          <p:cNvSpPr/>
          <p:nvPr/>
        </p:nvSpPr>
        <p:spPr>
          <a:xfrm>
            <a:off x="10417759" y="1920240"/>
            <a:ext cx="603504" cy="603504"/>
          </a:xfrm>
          <a:prstGeom prst="ellipse">
            <a:avLst/>
          </a:prstGeom>
          <a:solidFill>
            <a:srgbClr val="FDE1E2"/>
          </a:solidFill>
          <a:ln w="12700">
            <a:solidFill>
              <a:srgbClr val="FDE1E2"/>
            </a:solidFill>
            <a:prstDash val="solid"/>
          </a:ln>
        </p:spPr>
      </p:sp>
      <p:pic>
        <p:nvPicPr>
          <p:cNvPr id="38" name="Image 5" descr="preencoded.png">    </p:cNvPr>
          <p:cNvPicPr>
            <a:picLocks noChangeAspect="1"/>
          </p:cNvPicPr>
          <p:nvPr/>
        </p:nvPicPr>
        <p:blipFill>
          <a:blip r:embed="rId6"/>
          <a:stretch>
            <a:fillRect/>
          </a:stretch>
        </p:blipFill>
        <p:spPr>
          <a:xfrm>
            <a:off x="10562600" y="2065081"/>
            <a:ext cx="313822" cy="313822"/>
          </a:xfrm>
          <a:prstGeom prst="rect">
            <a:avLst/>
          </a:prstGeom>
        </p:spPr>
      </p:pic>
      <p:sp>
        <p:nvSpPr>
          <p:cNvPr id="39" name="Text 30"/>
          <p:cNvSpPr/>
          <p:nvPr/>
        </p:nvSpPr>
        <p:spPr>
          <a:xfrm>
            <a:off x="9887407" y="2596896"/>
            <a:ext cx="1664208" cy="329184"/>
          </a:xfrm>
          <a:prstGeom prst="rect">
            <a:avLst/>
          </a:prstGeom>
          <a:noFill/>
          <a:ln/>
        </p:spPr>
        <p:txBody>
          <a:bodyPr wrap="square" lIns="0" tIns="0" rIns="0" bIns="0" rtlCol="0" anchor="ctr"/>
          <a:lstStyle/>
          <a:p>
            <a:pPr algn="ctr" indent="0" marL="0">
              <a:buNone/>
            </a:pPr>
            <a:r>
              <a:rPr lang="en-US" sz="1350" b="1" dirty="0">
                <a:solidFill>
                  <a:srgbClr val="172C2A"/>
                </a:solidFill>
                <a:latin typeface="Trebuchet MS" pitchFamily="34" charset="0"/>
                <a:ea typeface="Trebuchet MS" pitchFamily="34" charset="-122"/>
                <a:cs typeface="Trebuchet MS" pitchFamily="34" charset="-120"/>
              </a:rPr>
              <a:t>Dasbor terapis</a:t>
            </a:r>
            <a:endParaRPr lang="en-US" sz="1350" dirty="0"/>
          </a:p>
        </p:txBody>
      </p:sp>
      <p:sp>
        <p:nvSpPr>
          <p:cNvPr id="40" name="Text 31"/>
          <p:cNvSpPr/>
          <p:nvPr/>
        </p:nvSpPr>
        <p:spPr>
          <a:xfrm>
            <a:off x="9887407" y="2907792"/>
            <a:ext cx="1664208" cy="365760"/>
          </a:xfrm>
          <a:prstGeom prst="rect">
            <a:avLst/>
          </a:prstGeom>
          <a:noFill/>
          <a:ln/>
        </p:spPr>
        <p:txBody>
          <a:bodyPr wrap="square" lIns="0" tIns="0" rIns="0" bIns="0" rtlCol="0" anchor="ctr"/>
          <a:lstStyle/>
          <a:p>
            <a:pPr algn="ctr" indent="0" marL="0">
              <a:buNone/>
            </a:pPr>
            <a:r>
              <a:rPr lang="en-US" sz="1050" dirty="0">
                <a:solidFill>
                  <a:srgbClr val="52706D"/>
                </a:solidFill>
                <a:latin typeface="Calibri" pitchFamily="34" charset="0"/>
                <a:ea typeface="Calibri" pitchFamily="34" charset="-122"/>
                <a:cs typeface="Calibri" pitchFamily="34" charset="-120"/>
              </a:rPr>
              <a:t>React + Vite + TS</a:t>
            </a:r>
            <a:endParaRPr lang="en-US" sz="1050" dirty="0"/>
          </a:p>
        </p:txBody>
      </p:sp>
      <p:sp>
        <p:nvSpPr>
          <p:cNvPr id="41" name="Shape 32"/>
          <p:cNvSpPr/>
          <p:nvPr/>
        </p:nvSpPr>
        <p:spPr>
          <a:xfrm>
            <a:off x="548640" y="3566160"/>
            <a:ext cx="3545738" cy="960120"/>
          </a:xfrm>
          <a:prstGeom prst="roundRect">
            <a:avLst>
              <a:gd name="adj" fmla="val 9524"/>
            </a:avLst>
          </a:prstGeom>
          <a:solidFill>
            <a:srgbClr val="098277"/>
          </a:solidFill>
          <a:ln w="12700">
            <a:solidFill>
              <a:srgbClr val="098277"/>
            </a:solidFill>
            <a:prstDash val="solid"/>
          </a:ln>
        </p:spPr>
      </p:sp>
      <p:sp>
        <p:nvSpPr>
          <p:cNvPr id="42" name="Text 33"/>
          <p:cNvSpPr/>
          <p:nvPr/>
        </p:nvSpPr>
        <p:spPr>
          <a:xfrm>
            <a:off x="749808" y="3639312"/>
            <a:ext cx="3143402" cy="292608"/>
          </a:xfrm>
          <a:prstGeom prst="rect">
            <a:avLst/>
          </a:prstGeom>
          <a:noFill/>
          <a:ln/>
        </p:spPr>
        <p:txBody>
          <a:bodyPr wrap="square" lIns="0" tIns="0" rIns="0" bIns="0" rtlCol="0" anchor="ctr"/>
          <a:lstStyle/>
          <a:p>
            <a:pPr indent="0" marL="0">
              <a:buNone/>
            </a:pPr>
            <a:r>
              <a:rPr lang="en-US" sz="1150" b="1" spc="150" kern="0" dirty="0">
                <a:solidFill>
                  <a:srgbClr val="BADE4A"/>
                </a:solidFill>
                <a:latin typeface="Calibri" pitchFamily="34" charset="0"/>
                <a:ea typeface="Calibri" pitchFamily="34" charset="-122"/>
                <a:cs typeface="Calibri" pitchFamily="34" charset="-120"/>
              </a:rPr>
              <a:t>APPEND-ONLY</a:t>
            </a:r>
            <a:endParaRPr lang="en-US" sz="1150" dirty="0"/>
          </a:p>
        </p:txBody>
      </p:sp>
      <p:sp>
        <p:nvSpPr>
          <p:cNvPr id="43" name="Text 34"/>
          <p:cNvSpPr/>
          <p:nvPr/>
        </p:nvSpPr>
        <p:spPr>
          <a:xfrm>
            <a:off x="749808" y="3931920"/>
            <a:ext cx="3143402"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Isi peristiwa tidak pernah diubah atau dihapus; ditegakkan trigger di HP dan server.</a:t>
            </a:r>
            <a:endParaRPr lang="en-US" sz="1100" dirty="0"/>
          </a:p>
        </p:txBody>
      </p:sp>
      <p:sp>
        <p:nvSpPr>
          <p:cNvPr id="44" name="Shape 35"/>
          <p:cNvSpPr/>
          <p:nvPr/>
        </p:nvSpPr>
        <p:spPr>
          <a:xfrm>
            <a:off x="4322978" y="3566160"/>
            <a:ext cx="3545738" cy="960120"/>
          </a:xfrm>
          <a:prstGeom prst="roundRect">
            <a:avLst>
              <a:gd name="adj" fmla="val 9524"/>
            </a:avLst>
          </a:prstGeom>
          <a:solidFill>
            <a:srgbClr val="098277"/>
          </a:solidFill>
          <a:ln w="12700">
            <a:solidFill>
              <a:srgbClr val="098277"/>
            </a:solidFill>
            <a:prstDash val="solid"/>
          </a:ln>
        </p:spPr>
      </p:sp>
      <p:sp>
        <p:nvSpPr>
          <p:cNvPr id="45" name="Text 36"/>
          <p:cNvSpPr/>
          <p:nvPr/>
        </p:nvSpPr>
        <p:spPr>
          <a:xfrm>
            <a:off x="4524146" y="3639312"/>
            <a:ext cx="3143402" cy="292608"/>
          </a:xfrm>
          <a:prstGeom prst="rect">
            <a:avLst/>
          </a:prstGeom>
          <a:noFill/>
          <a:ln/>
        </p:spPr>
        <p:txBody>
          <a:bodyPr wrap="square" lIns="0" tIns="0" rIns="0" bIns="0" rtlCol="0" anchor="ctr"/>
          <a:lstStyle/>
          <a:p>
            <a:pPr indent="0" marL="0">
              <a:buNone/>
            </a:pPr>
            <a:r>
              <a:rPr lang="en-US" sz="1150" b="1" spc="150" kern="0" dirty="0">
                <a:solidFill>
                  <a:srgbClr val="BADE4A"/>
                </a:solidFill>
                <a:latin typeface="Calibri" pitchFamily="34" charset="0"/>
                <a:ea typeface="Calibri" pitchFamily="34" charset="-122"/>
                <a:cs typeface="Calibri" pitchFamily="34" charset="-120"/>
              </a:rPr>
              <a:t>TRANSACTIONAL OUTBOX</a:t>
            </a:r>
            <a:endParaRPr lang="en-US" sz="1150" dirty="0"/>
          </a:p>
        </p:txBody>
      </p:sp>
      <p:sp>
        <p:nvSpPr>
          <p:cNvPr id="46" name="Text 37"/>
          <p:cNvSpPr/>
          <p:nvPr/>
        </p:nvSpPr>
        <p:spPr>
          <a:xfrm>
            <a:off x="4524146" y="3931920"/>
            <a:ext cx="3143402"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Peristiwa dan antrean kirim ditulis dalam satu transaksi. Mati listrik tidak menghilangkan data.</a:t>
            </a:r>
            <a:endParaRPr lang="en-US" sz="1100" dirty="0"/>
          </a:p>
        </p:txBody>
      </p:sp>
      <p:sp>
        <p:nvSpPr>
          <p:cNvPr id="47" name="Shape 38"/>
          <p:cNvSpPr/>
          <p:nvPr/>
        </p:nvSpPr>
        <p:spPr>
          <a:xfrm>
            <a:off x="8097317" y="3566160"/>
            <a:ext cx="3545738" cy="960120"/>
          </a:xfrm>
          <a:prstGeom prst="roundRect">
            <a:avLst>
              <a:gd name="adj" fmla="val 9524"/>
            </a:avLst>
          </a:prstGeom>
          <a:solidFill>
            <a:srgbClr val="098277"/>
          </a:solidFill>
          <a:ln w="12700">
            <a:solidFill>
              <a:srgbClr val="098277"/>
            </a:solidFill>
            <a:prstDash val="solid"/>
          </a:ln>
        </p:spPr>
      </p:sp>
      <p:sp>
        <p:nvSpPr>
          <p:cNvPr id="48" name="Text 39"/>
          <p:cNvSpPr/>
          <p:nvPr/>
        </p:nvSpPr>
        <p:spPr>
          <a:xfrm>
            <a:off x="8298485" y="3639312"/>
            <a:ext cx="3143402" cy="292608"/>
          </a:xfrm>
          <a:prstGeom prst="rect">
            <a:avLst/>
          </a:prstGeom>
          <a:noFill/>
          <a:ln/>
        </p:spPr>
        <p:txBody>
          <a:bodyPr wrap="square" lIns="0" tIns="0" rIns="0" bIns="0" rtlCol="0" anchor="ctr"/>
          <a:lstStyle/>
          <a:p>
            <a:pPr indent="0" marL="0">
              <a:buNone/>
            </a:pPr>
            <a:r>
              <a:rPr lang="en-US" sz="1150" b="1" spc="150" kern="0" dirty="0">
                <a:solidFill>
                  <a:srgbClr val="BADE4A"/>
                </a:solidFill>
                <a:latin typeface="Calibri" pitchFamily="34" charset="0"/>
                <a:ea typeface="Calibri" pitchFamily="34" charset="-122"/>
                <a:cs typeface="Calibri" pitchFamily="34" charset="-120"/>
              </a:rPr>
              <a:t>IDEMPOTENT SYNC</a:t>
            </a:r>
            <a:endParaRPr lang="en-US" sz="1150" dirty="0"/>
          </a:p>
        </p:txBody>
      </p:sp>
      <p:sp>
        <p:nvSpPr>
          <p:cNvPr id="49" name="Text 40"/>
          <p:cNvSpPr/>
          <p:nvPr/>
        </p:nvSpPr>
        <p:spPr>
          <a:xfrm>
            <a:off x="8298485" y="3931920"/>
            <a:ext cx="3143402"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Server mengenali event_id yang sama. Kirim ulang tidak membuat data ganda.</a:t>
            </a:r>
            <a:endParaRPr lang="en-US" sz="1100" dirty="0"/>
          </a:p>
        </p:txBody>
      </p:sp>
      <p:sp>
        <p:nvSpPr>
          <p:cNvPr id="50" name="Shape 41"/>
          <p:cNvSpPr/>
          <p:nvPr/>
        </p:nvSpPr>
        <p:spPr>
          <a:xfrm>
            <a:off x="548640" y="4681728"/>
            <a:ext cx="5432908" cy="1261872"/>
          </a:xfrm>
          <a:prstGeom prst="roundRect">
            <a:avLst>
              <a:gd name="adj" fmla="val 8696"/>
            </a:avLst>
          </a:prstGeom>
          <a:solidFill>
            <a:srgbClr val="FFFFFF"/>
          </a:solidFill>
          <a:ln w="9525">
            <a:solidFill>
              <a:srgbClr val="DCEEEC"/>
            </a:solidFill>
            <a:prstDash val="solid"/>
          </a:ln>
        </p:spPr>
      </p:sp>
      <p:sp>
        <p:nvSpPr>
          <p:cNvPr id="51" name="Text 42"/>
          <p:cNvSpPr/>
          <p:nvPr/>
        </p:nvSpPr>
        <p:spPr>
          <a:xfrm>
            <a:off x="749808" y="4754880"/>
            <a:ext cx="5067148"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KENAPA TEKNOLOGI INI TEPAT</a:t>
            </a:r>
            <a:endParaRPr lang="en-US" sz="1000" dirty="0"/>
          </a:p>
        </p:txBody>
      </p:sp>
      <p:sp>
        <p:nvSpPr>
          <p:cNvPr id="52" name="Text 43"/>
          <p:cNvSpPr/>
          <p:nvPr/>
        </p:nvSpPr>
        <p:spPr>
          <a:xfrm>
            <a:off x="749808" y="4974336"/>
            <a:ext cx="5067148" cy="950976"/>
          </a:xfrm>
          <a:prstGeom prst="rect">
            <a:avLst/>
          </a:prstGeom>
          <a:noFill/>
          <a:ln/>
        </p:spPr>
        <p:txBody>
          <a:bodyPr wrap="square" lIns="0" tIns="0" rIns="0" bIns="0" rtlCol="0" anchor="t"/>
          <a:lstStyle/>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Sinyal tak menentu → data utama di HP; luring jadi keadaan normal</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HP keluarga sederhana → Flutter untuk Android 8, RAM 2 GB</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Pilot satu klinik → FastAPI + SQLite WAL, ringan tanpa Docker</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Keputusan klinis harus bisa diperiksa → triase aturan tetap, bukan ML</a:t>
            </a:r>
            <a:endParaRPr lang="en-US" sz="1050" dirty="0"/>
          </a:p>
        </p:txBody>
      </p:sp>
      <p:sp>
        <p:nvSpPr>
          <p:cNvPr id="53" name="Shape 44"/>
          <p:cNvSpPr/>
          <p:nvPr/>
        </p:nvSpPr>
        <p:spPr>
          <a:xfrm>
            <a:off x="6210148" y="4681728"/>
            <a:ext cx="5432908" cy="1261872"/>
          </a:xfrm>
          <a:prstGeom prst="roundRect">
            <a:avLst>
              <a:gd name="adj" fmla="val 8696"/>
            </a:avLst>
          </a:prstGeom>
          <a:solidFill>
            <a:srgbClr val="FFFFFF"/>
          </a:solidFill>
          <a:ln w="9525">
            <a:solidFill>
              <a:srgbClr val="DCEEEC"/>
            </a:solidFill>
            <a:prstDash val="solid"/>
          </a:ln>
        </p:spPr>
      </p:sp>
      <p:sp>
        <p:nvSpPr>
          <p:cNvPr id="54" name="Text 45"/>
          <p:cNvSpPr/>
          <p:nvPr/>
        </p:nvSpPr>
        <p:spPr>
          <a:xfrm>
            <a:off x="6411316" y="4754880"/>
            <a:ext cx="5067148" cy="237744"/>
          </a:xfrm>
          <a:prstGeom prst="rect">
            <a:avLst/>
          </a:prstGeom>
          <a:noFill/>
          <a:ln/>
        </p:spPr>
        <p:txBody>
          <a:bodyPr wrap="square" lIns="0" tIns="0" rIns="0" bIns="0" rtlCol="0" anchor="ctr"/>
          <a:lstStyle/>
          <a:p>
            <a:pPr indent="0" marL="0">
              <a:buNone/>
            </a:pPr>
            <a:r>
              <a:rPr lang="en-US" sz="1000" b="1" spc="150" kern="0" dirty="0">
                <a:solidFill>
                  <a:srgbClr val="C23D42"/>
                </a:solidFill>
                <a:latin typeface="Calibri" pitchFamily="34" charset="0"/>
                <a:ea typeface="Calibri" pitchFamily="34" charset="-122"/>
                <a:cs typeface="Calibri" pitchFamily="34" charset="-120"/>
              </a:rPr>
              <a:t>KEAMANAN YANG SUDAH DIBANGUN</a:t>
            </a:r>
            <a:endParaRPr lang="en-US" sz="1000" dirty="0"/>
          </a:p>
        </p:txBody>
      </p:sp>
      <p:sp>
        <p:nvSpPr>
          <p:cNvPr id="55" name="Text 46"/>
          <p:cNvSpPr/>
          <p:nvPr/>
        </p:nvSpPr>
        <p:spPr>
          <a:xfrm>
            <a:off x="6411316" y="4974336"/>
            <a:ext cx="5067148" cy="950976"/>
          </a:xfrm>
          <a:prstGeom prst="rect">
            <a:avLst/>
          </a:prstGeom>
          <a:noFill/>
          <a:ln/>
        </p:spPr>
        <p:txBody>
          <a:bodyPr wrap="square" lIns="0" tIns="0" rIns="0" bIns="0" rtlCol="0" anchor="t"/>
          <a:lstStyle/>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Kode undangan 8 karakter, sekali pakai, kedaluwarsa 7 hari</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Sesi terapis kedaluwarsa 30 hari; kata sandi scrypt; server hanya menyimpan hash token</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Terapis hanya melihat anak yang tertaut; masukan dengan medan asing ditolak (422)</a:t>
            </a:r>
            <a:endParaRPr lang="en-US" sz="1050" dirty="0"/>
          </a:p>
          <a:p>
            <a:pPr marL="177800" indent="-177800">
              <a:spcAft>
                <a:spcPts val="100"/>
              </a:spcAft>
              <a:buSzPct val="100000"/>
              <a:buChar char="•"/>
            </a:pPr>
            <a:r>
              <a:rPr lang="en-US" sz="1050" dirty="0">
                <a:solidFill>
                  <a:srgbClr val="172C2A"/>
                </a:solidFill>
                <a:latin typeface="Calibri" pitchFamily="34" charset="0"/>
                <a:ea typeface="Calibri" pitchFamily="34" charset="-122"/>
                <a:cs typeface="Calibri" pitchFamily="34" charset="-120"/>
              </a:rPr>
              <a:t>PIN orang tua bergaram di HP, jeda 30 detik sesudah salah berulang; akses dicabut satu tombol</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BASIS ILMIAH DAN VALIDASI</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Papannya berbasis bukti; validasi klinisnya kami jalankan bertahap</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12</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Kasari dkk. (2014), JAACAP · Millar, Light &amp; Schlosser (2006), JSLHR · Thistle dkk. (2018), AJSLP · Banajee dkk. (2003) · Hill &amp; Romich (2001). Tingkat: A uji acak/meta-analisis · B studi terbatas · C standar praktik · D asumsi tim.</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812280" cy="914400"/>
        </p:xfrm>
        <a:graphic>
          <a:graphicData uri="http://schemas.openxmlformats.org/drawingml/2006/table">
            <a:tbl>
              <a:tblPr/>
              <a:tblGrid>
                <a:gridCol w="2331720"/>
                <a:gridCol w="3749040"/>
                <a:gridCol w="731520"/>
              </a:tblGrid>
              <a:tr h="329184">
                <a:tc>
                  <a:txBody>
                    <a:bodyPr/>
                    <a:lstStyle/>
                    <a:p>
                      <a:pPr indent="0" marL="0">
                        <a:buNone/>
                      </a:pPr>
                      <a:r>
                        <a:rPr lang="en-US" sz="1100" b="1" dirty="0">
                          <a:solidFill>
                            <a:srgbClr val="52706D"/>
                          </a:solidFill>
                          <a:latin typeface="Calibri" pitchFamily="34" charset="0"/>
                          <a:ea typeface="Calibri" pitchFamily="34" charset="-122"/>
                          <a:cs typeface="Calibri" pitchFamily="34" charset="-120"/>
                        </a:rPr>
                        <a:t>Komponen</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100" b="1" dirty="0">
                          <a:solidFill>
                            <a:srgbClr val="52706D"/>
                          </a:solidFill>
                          <a:latin typeface="Calibri" pitchFamily="34" charset="0"/>
                          <a:ea typeface="Calibri" pitchFamily="34" charset="-122"/>
                          <a:cs typeface="Calibri" pitchFamily="34" charset="-120"/>
                        </a:rPr>
                        <a:t>Dasar</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ctr" indent="0" marL="0">
                        <a:buNone/>
                      </a:pPr>
                      <a:r>
                        <a:rPr lang="en-US" sz="1100" b="1" dirty="0">
                          <a:solidFill>
                            <a:srgbClr val="52706D"/>
                          </a:solidFill>
                          <a:latin typeface="Calibri" pitchFamily="34" charset="0"/>
                          <a:ea typeface="Calibri" pitchFamily="34" charset="-122"/>
                          <a:cs typeface="Calibri" pitchFamily="34" charset="-120"/>
                        </a:rPr>
                        <a:t>Tingkat</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603504">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Papan elektronik untuk anak minimally verbal</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Kasari 2014 (SMART, 61 anak): +19 ujaran komunikatif di pekan 12, +22 di pekan 24</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AAC tidak menghambat bicara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Millar 2006: tinjauan 23 studi; AAC tidak menghambat dan bisa menambah bicara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26E65"/>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DFF6F3"/>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Posisi simbol tetap</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Thistle 2018: 3,3 dtk vs 6,0 dtk menemukan simbol</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26E65"/>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DFF6F3"/>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12 kata inti</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Banajee 2003 dan Project Core: 9 dari 12 kata</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26E65"/>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DFF6F3"/>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Pencatatan dari pemakaian</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Hill &amp; Romich 2001, Language Activity Monitoring</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5B57A8"/>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DECFB"/>
                    </a:solidFill>
                  </a:tcPr>
                </a:tc>
              </a:tr>
              <a:tr h="548640">
                <a:tc>
                  <a:txBody>
                    <a:bodyPr/>
                    <a:lstStyle/>
                    <a:p>
                      <a:pPr indent="0" marL="0">
                        <a:buNone/>
                      </a:pPr>
                      <a:r>
                        <a:rPr lang="en-US" sz="1100" b="1" dirty="0">
                          <a:solidFill>
                            <a:srgbClr val="172C2A"/>
                          </a:solidFill>
                          <a:latin typeface="Calibri" pitchFamily="34" charset="0"/>
                          <a:ea typeface="Calibri" pitchFamily="34" charset="-122"/>
                          <a:cs typeface="Calibri" pitchFamily="34" charset="-120"/>
                        </a:rPr>
                        <a:t>Jendela "tanpa contoh" 60 detik</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00" dirty="0">
                          <a:solidFill>
                            <a:srgbClr val="172C2A"/>
                          </a:solidFill>
                          <a:latin typeface="Calibri" pitchFamily="34" charset="0"/>
                          <a:ea typeface="Calibri" pitchFamily="34" charset="-122"/>
                          <a:cs typeface="Calibri" pitchFamily="34" charset="-120"/>
                        </a:rPr>
                        <a:t>Definisi operasional tim, dikalibrasi bersama terapis di pilot</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8A5B0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64008" marR="64008" marT="64008" marB="64008"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DF0D2"/>
                    </a:solidFill>
                  </a:tcPr>
                </a:tc>
              </a:tr>
            </a:tbl>
          </a:graphicData>
        </a:graphic>
      </p:graphicFrame>
      <p:sp>
        <p:nvSpPr>
          <p:cNvPr id="13" name="Shape 8"/>
          <p:cNvSpPr/>
          <p:nvPr/>
        </p:nvSpPr>
        <p:spPr>
          <a:xfrm>
            <a:off x="7635240" y="1783080"/>
            <a:ext cx="4007815" cy="2487168"/>
          </a:xfrm>
          <a:prstGeom prst="roundRect">
            <a:avLst>
              <a:gd name="adj" fmla="val 5147"/>
            </a:avLst>
          </a:prstGeom>
          <a:solidFill>
            <a:srgbClr val="098277"/>
          </a:solidFill>
          <a:ln w="12700">
            <a:solidFill>
              <a:srgbClr val="098277"/>
            </a:solidFill>
            <a:prstDash val="solid"/>
          </a:ln>
        </p:spPr>
      </p:sp>
      <p:pic>
        <p:nvPicPr>
          <p:cNvPr id="14" name="Image 1" descr="preencoded.png">    </p:cNvPr>
          <p:cNvPicPr>
            <a:picLocks noChangeAspect="1"/>
          </p:cNvPicPr>
          <p:nvPr/>
        </p:nvPicPr>
        <p:blipFill>
          <a:blip r:embed="rId2"/>
          <a:stretch>
            <a:fillRect/>
          </a:stretch>
        </p:blipFill>
        <p:spPr>
          <a:xfrm>
            <a:off x="7863840" y="1938528"/>
            <a:ext cx="384048" cy="384048"/>
          </a:xfrm>
          <a:prstGeom prst="rect">
            <a:avLst/>
          </a:prstGeom>
        </p:spPr>
      </p:pic>
      <p:sp>
        <p:nvSpPr>
          <p:cNvPr id="15" name="Text 9"/>
          <p:cNvSpPr/>
          <p:nvPr/>
        </p:nvSpPr>
        <p:spPr>
          <a:xfrm>
            <a:off x="8366760" y="1993392"/>
            <a:ext cx="3093415" cy="274320"/>
          </a:xfrm>
          <a:prstGeom prst="rect">
            <a:avLst/>
          </a:prstGeom>
          <a:noFill/>
          <a:ln/>
        </p:spPr>
        <p:txBody>
          <a:bodyPr wrap="square" lIns="0" tIns="0" rIns="0" bIns="0" rtlCol="0" anchor="ctr"/>
          <a:lstStyle/>
          <a:p>
            <a:pPr indent="0" marL="0">
              <a:buNone/>
            </a:pPr>
            <a:r>
              <a:rPr lang="en-US" sz="1000" b="1" spc="150" kern="0" dirty="0">
                <a:solidFill>
                  <a:srgbClr val="A0DDD7"/>
                </a:solidFill>
                <a:latin typeface="Calibri" pitchFamily="34" charset="0"/>
                <a:ea typeface="Calibri" pitchFamily="34" charset="-122"/>
                <a:cs typeface="Calibri" pitchFamily="34" charset="-120"/>
              </a:rPr>
              <a:t>OPINI PRAKTISI</a:t>
            </a:r>
            <a:endParaRPr lang="en-US" sz="1000" dirty="0"/>
          </a:p>
        </p:txBody>
      </p:sp>
      <p:sp>
        <p:nvSpPr>
          <p:cNvPr id="16" name="Text 10"/>
          <p:cNvSpPr/>
          <p:nvPr/>
        </p:nvSpPr>
        <p:spPr>
          <a:xfrm>
            <a:off x="7863840" y="2395728"/>
            <a:ext cx="3550615" cy="1005840"/>
          </a:xfrm>
          <a:prstGeom prst="rect">
            <a:avLst/>
          </a:prstGeom>
          <a:noFill/>
          <a:ln/>
        </p:spPr>
        <p:txBody>
          <a:bodyPr wrap="square" lIns="0" tIns="0" rIns="0" bIns="0" rtlCol="0" anchor="t"/>
          <a:lstStyle/>
          <a:p>
            <a:pPr indent="0" marL="0">
              <a:buNone/>
            </a:pPr>
            <a:r>
              <a:rPr lang="en-US" sz="1400" b="1" i="1" dirty="0">
                <a:solidFill>
                  <a:srgbClr val="FFFFFF"/>
                </a:solidFill>
                <a:latin typeface="Trebuchet MS" pitchFamily="34" charset="0"/>
                <a:ea typeface="Trebuchet MS" pitchFamily="34" charset="-122"/>
                <a:cs typeface="Trebuchet MS" pitchFamily="34" charset="-120"/>
              </a:rPr>
              <a:t>"[Kutipan asli dari A, ≤ 25 kata. Isi sebelum tampil; jangan mengarang.]"</a:t>
            </a:r>
            <a:endParaRPr lang="en-US" sz="1400" dirty="0"/>
          </a:p>
        </p:txBody>
      </p:sp>
      <p:sp>
        <p:nvSpPr>
          <p:cNvPr id="17" name="Text 11"/>
          <p:cNvSpPr/>
          <p:nvPr/>
        </p:nvSpPr>
        <p:spPr>
          <a:xfrm>
            <a:off x="7863840" y="3474720"/>
            <a:ext cx="3550615" cy="68580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[Nama A]</a:t>
            </a:r>
            <a:endParaRPr lang="en-US" sz="1100" dirty="0"/>
          </a:p>
          <a:p>
            <a:pPr indent="0" marL="0">
              <a:buNone/>
            </a:pPr>
            <a:r>
              <a:rPr lang="en-US" sz="1100" dirty="0">
                <a:solidFill>
                  <a:srgbClr val="DFF6F3"/>
                </a:solidFill>
                <a:latin typeface="Calibri" pitchFamily="34" charset="0"/>
                <a:ea typeface="Calibri" pitchFamily="34" charset="-122"/>
                <a:cs typeface="Calibri" pitchFamily="34" charset="-120"/>
              </a:rPr>
              <a:t>Ketua Umum FORMAPI Universitas Brawijaya · pendamping anak berkebutuhan khusus</a:t>
            </a:r>
            <a:endParaRPr lang="en-US" sz="1100" dirty="0"/>
          </a:p>
        </p:txBody>
      </p:sp>
      <p:sp>
        <p:nvSpPr>
          <p:cNvPr id="18" name="Shape 12"/>
          <p:cNvSpPr/>
          <p:nvPr/>
        </p:nvSpPr>
        <p:spPr>
          <a:xfrm>
            <a:off x="7635240" y="4407408"/>
            <a:ext cx="4007815" cy="1536192"/>
          </a:xfrm>
          <a:prstGeom prst="roundRect">
            <a:avLst>
              <a:gd name="adj" fmla="val 7143"/>
            </a:avLst>
          </a:prstGeom>
          <a:solidFill>
            <a:srgbClr val="FFFFFF"/>
          </a:solidFill>
          <a:ln w="9525">
            <a:solidFill>
              <a:srgbClr val="DCEEEC"/>
            </a:solidFill>
            <a:prstDash val="solid"/>
          </a:ln>
        </p:spPr>
      </p:sp>
      <p:sp>
        <p:nvSpPr>
          <p:cNvPr id="19" name="Text 13"/>
          <p:cNvSpPr/>
          <p:nvPr/>
        </p:nvSpPr>
        <p:spPr>
          <a:xfrm>
            <a:off x="7836408" y="4480560"/>
            <a:ext cx="3642055"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TANGGA VALIDASI</a:t>
            </a:r>
            <a:endParaRPr lang="en-US" sz="1000" dirty="0"/>
          </a:p>
        </p:txBody>
      </p:sp>
      <p:sp>
        <p:nvSpPr>
          <p:cNvPr id="20" name="Text 14"/>
          <p:cNvSpPr/>
          <p:nvPr/>
        </p:nvSpPr>
        <p:spPr>
          <a:xfrm>
            <a:off x="7836408" y="4754880"/>
            <a:ext cx="274320" cy="329184"/>
          </a:xfrm>
          <a:prstGeom prst="rect">
            <a:avLst/>
          </a:prstGeom>
          <a:noFill/>
          <a:ln/>
        </p:spPr>
        <p:txBody>
          <a:bodyPr wrap="square" lIns="0" tIns="0" rIns="0" bIns="0" rtlCol="0" anchor="ctr"/>
          <a:lstStyle/>
          <a:p>
            <a:pPr indent="0" marL="0">
              <a:buNone/>
            </a:pPr>
            <a:r>
              <a:rPr lang="en-US" sz="1300" b="1" dirty="0">
                <a:solidFill>
                  <a:srgbClr val="098277"/>
                </a:solidFill>
                <a:latin typeface="Calibri" pitchFamily="34" charset="0"/>
                <a:ea typeface="Calibri" pitchFamily="34" charset="-122"/>
                <a:cs typeface="Calibri" pitchFamily="34" charset="-120"/>
              </a:rPr>
              <a:t>✓</a:t>
            </a:r>
            <a:endParaRPr lang="en-US" sz="1300" dirty="0"/>
          </a:p>
        </p:txBody>
      </p:sp>
      <p:sp>
        <p:nvSpPr>
          <p:cNvPr id="21" name="Text 15"/>
          <p:cNvSpPr/>
          <p:nvPr/>
        </p:nvSpPr>
        <p:spPr>
          <a:xfrm>
            <a:off x="8110728" y="4754880"/>
            <a:ext cx="3349447" cy="329184"/>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Literatur, dengan alasan tertulis per kata</a:t>
            </a:r>
            <a:endParaRPr lang="en-US" sz="1100" dirty="0"/>
          </a:p>
        </p:txBody>
      </p:sp>
      <p:sp>
        <p:nvSpPr>
          <p:cNvPr id="22" name="Text 16"/>
          <p:cNvSpPr/>
          <p:nvPr/>
        </p:nvSpPr>
        <p:spPr>
          <a:xfrm>
            <a:off x="7836408" y="5120640"/>
            <a:ext cx="274320" cy="329184"/>
          </a:xfrm>
          <a:prstGeom prst="rect">
            <a:avLst/>
          </a:prstGeom>
          <a:noFill/>
          <a:ln/>
        </p:spPr>
        <p:txBody>
          <a:bodyPr wrap="square" lIns="0" tIns="0" rIns="0" bIns="0" rtlCol="0" anchor="ctr"/>
          <a:lstStyle/>
          <a:p>
            <a:pPr indent="0" marL="0">
              <a:buNone/>
            </a:pPr>
            <a:r>
              <a:rPr lang="en-US" sz="1300" b="1" dirty="0">
                <a:solidFill>
                  <a:srgbClr val="098277"/>
                </a:solidFill>
                <a:latin typeface="Calibri" pitchFamily="34" charset="0"/>
                <a:ea typeface="Calibri" pitchFamily="34" charset="-122"/>
                <a:cs typeface="Calibri" pitchFamily="34" charset="-120"/>
              </a:rPr>
              <a:t>✓</a:t>
            </a:r>
            <a:endParaRPr lang="en-US" sz="1300" dirty="0"/>
          </a:p>
        </p:txBody>
      </p:sp>
      <p:sp>
        <p:nvSpPr>
          <p:cNvPr id="23" name="Text 17"/>
          <p:cNvSpPr/>
          <p:nvPr/>
        </p:nvSpPr>
        <p:spPr>
          <a:xfrm>
            <a:off x="8110728" y="5120640"/>
            <a:ext cx="3349447" cy="329184"/>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Konsultasi FORMAPI UB: pemilihan kata dan alur pendampingan</a:t>
            </a:r>
            <a:endParaRPr lang="en-US" sz="1100" dirty="0"/>
          </a:p>
        </p:txBody>
      </p:sp>
      <p:sp>
        <p:nvSpPr>
          <p:cNvPr id="24" name="Text 18"/>
          <p:cNvSpPr/>
          <p:nvPr/>
        </p:nvSpPr>
        <p:spPr>
          <a:xfrm>
            <a:off x="7836408" y="5486400"/>
            <a:ext cx="274320" cy="329184"/>
          </a:xfrm>
          <a:prstGeom prst="rect">
            <a:avLst/>
          </a:prstGeom>
          <a:noFill/>
          <a:ln/>
        </p:spPr>
        <p:txBody>
          <a:bodyPr wrap="square" lIns="0" tIns="0" rIns="0" bIns="0" rtlCol="0" anchor="ctr"/>
          <a:lstStyle/>
          <a:p>
            <a:pPr indent="0" marL="0">
              <a:buNone/>
            </a:pPr>
            <a:r>
              <a:rPr lang="en-US" sz="1300" b="1" dirty="0">
                <a:solidFill>
                  <a:srgbClr val="8A5B0A"/>
                </a:solidFill>
                <a:latin typeface="Calibri" pitchFamily="34" charset="0"/>
                <a:ea typeface="Calibri" pitchFamily="34" charset="-122"/>
                <a:cs typeface="Calibri" pitchFamily="34" charset="-120"/>
              </a:rPr>
              <a:t>→</a:t>
            </a:r>
            <a:endParaRPr lang="en-US" sz="1300" dirty="0"/>
          </a:p>
        </p:txBody>
      </p:sp>
      <p:sp>
        <p:nvSpPr>
          <p:cNvPr id="25" name="Text 19"/>
          <p:cNvSpPr/>
          <p:nvPr/>
        </p:nvSpPr>
        <p:spPr>
          <a:xfrm>
            <a:off x="8110728" y="5486400"/>
            <a:ext cx="3349447" cy="329184"/>
          </a:xfrm>
          <a:prstGeom prst="rect">
            <a:avLst/>
          </a:prstGeom>
          <a:noFill/>
          <a:ln/>
        </p:spPr>
        <p:txBody>
          <a:bodyPr wrap="square" lIns="0" tIns="0" rIns="0" bIns="0" rtlCol="0" anchor="ctr"/>
          <a:lstStyle/>
          <a:p>
            <a:pPr indent="0" marL="0">
              <a:buNone/>
            </a:pPr>
            <a:r>
              <a:rPr lang="en-US" sz="1100" dirty="0">
                <a:solidFill>
                  <a:srgbClr val="172C2A"/>
                </a:solidFill>
                <a:latin typeface="Calibri" pitchFamily="34" charset="0"/>
                <a:ea typeface="Calibri" pitchFamily="34" charset="-122"/>
                <a:cs typeface="Calibri" pitchFamily="34" charset="-120"/>
              </a:rPr>
              <a:t>Validasi klinis bersama terapis wicara: pilot 6 pekan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KELAYAKAN</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Layak dijalankan: sudah berjalan, keluarga gratis, institusi yang membayar</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13</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Tes: pytest 18 Sep 21:45 (64) + status jalur 1 (49). APK: README. Model bisnis dan biaya: deck/model-bisnis.md. *Hipotesis tim (tingkat D), divalidasi di pilot; add-on suara murah butuh klon sementara yang belum dibangun.</a:t>
            </a:r>
            <a:endParaRPr lang="en-US" sz="850" dirty="0"/>
          </a:p>
        </p:txBody>
      </p:sp>
      <p:sp>
        <p:nvSpPr>
          <p:cNvPr id="12" name="Shape 8"/>
          <p:cNvSpPr/>
          <p:nvPr/>
        </p:nvSpPr>
        <p:spPr>
          <a:xfrm>
            <a:off x="548640" y="1783080"/>
            <a:ext cx="3545738" cy="3657600"/>
          </a:xfrm>
          <a:prstGeom prst="roundRect">
            <a:avLst>
              <a:gd name="adj" fmla="val 3095"/>
            </a:avLst>
          </a:prstGeom>
          <a:solidFill>
            <a:srgbClr val="FFFFFF"/>
          </a:solidFill>
          <a:ln w="9525">
            <a:solidFill>
              <a:srgbClr val="DCEEEC"/>
            </a:solidFill>
            <a:prstDash val="solid"/>
          </a:ln>
        </p:spPr>
      </p:sp>
      <p:sp>
        <p:nvSpPr>
          <p:cNvPr id="13" name="Text 9"/>
          <p:cNvSpPr/>
          <p:nvPr/>
        </p:nvSpPr>
        <p:spPr>
          <a:xfrm>
            <a:off x="749808" y="1892808"/>
            <a:ext cx="3179978" cy="237744"/>
          </a:xfrm>
          <a:prstGeom prst="rect">
            <a:avLst/>
          </a:prstGeom>
          <a:noFill/>
          <a:ln/>
        </p:spPr>
        <p:txBody>
          <a:bodyPr wrap="square" lIns="0" tIns="0" rIns="0" bIns="0" rtlCol="0" anchor="ctr"/>
          <a:lstStyle/>
          <a:p>
            <a:pPr indent="0" marL="0">
              <a:buNone/>
            </a:pPr>
            <a:r>
              <a:rPr lang="en-US" sz="1000" b="1" spc="120" kern="0" dirty="0">
                <a:solidFill>
                  <a:srgbClr val="026E65"/>
                </a:solidFill>
                <a:latin typeface="Calibri" pitchFamily="34" charset="0"/>
                <a:ea typeface="Calibri" pitchFamily="34" charset="-122"/>
                <a:cs typeface="Calibri" pitchFamily="34" charset="-120"/>
              </a:rPr>
              <a:t>TEKNIS · TERBANGUN DALAM 24 JAM</a:t>
            </a:r>
            <a:endParaRPr lang="en-US" sz="1000" dirty="0"/>
          </a:p>
        </p:txBody>
      </p:sp>
      <p:sp>
        <p:nvSpPr>
          <p:cNvPr id="14" name="Text 10"/>
          <p:cNvSpPr/>
          <p:nvPr/>
        </p:nvSpPr>
        <p:spPr>
          <a:xfrm>
            <a:off x="749808" y="224028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113</a:t>
            </a:r>
            <a:endParaRPr lang="en-US" sz="2400" dirty="0"/>
          </a:p>
        </p:txBody>
      </p:sp>
      <p:sp>
        <p:nvSpPr>
          <p:cNvPr id="15" name="Text 11"/>
          <p:cNvSpPr/>
          <p:nvPr/>
        </p:nvSpPr>
        <p:spPr>
          <a:xfrm>
            <a:off x="749808" y="278892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tes otomatis lulus (64 server, 49 aplikasi)</a:t>
            </a:r>
            <a:endParaRPr lang="en-US" sz="1050" dirty="0"/>
          </a:p>
        </p:txBody>
      </p:sp>
      <p:sp>
        <p:nvSpPr>
          <p:cNvPr id="16" name="Text 12"/>
          <p:cNvSpPr/>
          <p:nvPr/>
        </p:nvSpPr>
        <p:spPr>
          <a:xfrm>
            <a:off x="2321509" y="224028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18–21 MB</a:t>
            </a:r>
            <a:endParaRPr lang="en-US" sz="2400" dirty="0"/>
          </a:p>
        </p:txBody>
      </p:sp>
      <p:sp>
        <p:nvSpPr>
          <p:cNvPr id="17" name="Text 13"/>
          <p:cNvSpPr/>
          <p:nvPr/>
        </p:nvSpPr>
        <p:spPr>
          <a:xfrm>
            <a:off x="2321509" y="278892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APK rilis per ABI*</a:t>
            </a:r>
            <a:endParaRPr lang="en-US" sz="1050" dirty="0"/>
          </a:p>
        </p:txBody>
      </p:sp>
      <p:sp>
        <p:nvSpPr>
          <p:cNvPr id="18" name="Text 14"/>
          <p:cNvSpPr/>
          <p:nvPr/>
        </p:nvSpPr>
        <p:spPr>
          <a:xfrm>
            <a:off x="749808" y="333756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Android 8</a:t>
            </a:r>
            <a:endParaRPr lang="en-US" sz="2400" dirty="0"/>
          </a:p>
        </p:txBody>
      </p:sp>
      <p:sp>
        <p:nvSpPr>
          <p:cNvPr id="19" name="Text 15"/>
          <p:cNvSpPr/>
          <p:nvPr/>
        </p:nvSpPr>
        <p:spPr>
          <a:xfrm>
            <a:off x="749808" y="388620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RAM 2 GB, layar 7 inci</a:t>
            </a:r>
            <a:endParaRPr lang="en-US" sz="1050" dirty="0"/>
          </a:p>
        </p:txBody>
      </p:sp>
      <p:sp>
        <p:nvSpPr>
          <p:cNvPr id="20" name="Text 16"/>
          <p:cNvSpPr/>
          <p:nvPr/>
        </p:nvSpPr>
        <p:spPr>
          <a:xfrm>
            <a:off x="2321509" y="3337560"/>
            <a:ext cx="1571701" cy="548640"/>
          </a:xfrm>
          <a:prstGeom prst="rect">
            <a:avLst/>
          </a:prstGeom>
          <a:noFill/>
          <a:ln/>
        </p:spPr>
        <p:txBody>
          <a:bodyPr wrap="square" lIns="0" tIns="0" rIns="0" bIns="0" rtlCol="0" anchor="b"/>
          <a:lstStyle/>
          <a:p>
            <a:pPr indent="0" marL="0">
              <a:buNone/>
            </a:pPr>
            <a:r>
              <a:rPr lang="en-US" sz="2400" b="1" dirty="0">
                <a:solidFill>
                  <a:srgbClr val="098277"/>
                </a:solidFill>
                <a:latin typeface="Trebuchet MS" pitchFamily="34" charset="0"/>
                <a:ea typeface="Trebuchet MS" pitchFamily="34" charset="-122"/>
                <a:cs typeface="Trebuchet MS" pitchFamily="34" charset="-120"/>
              </a:rPr>
              <a:t>Identik</a:t>
            </a:r>
            <a:endParaRPr lang="en-US" sz="2400" dirty="0"/>
          </a:p>
        </p:txBody>
      </p:sp>
      <p:sp>
        <p:nvSpPr>
          <p:cNvPr id="21" name="Text 17"/>
          <p:cNvSpPr/>
          <p:nvPr/>
        </p:nvSpPr>
        <p:spPr>
          <a:xfrm>
            <a:off x="2321509" y="3886200"/>
            <a:ext cx="1544269" cy="45720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data sesudah proses dimatikan paksa</a:t>
            </a:r>
            <a:endParaRPr lang="en-US" sz="1050" dirty="0"/>
          </a:p>
        </p:txBody>
      </p:sp>
      <p:sp>
        <p:nvSpPr>
          <p:cNvPr id="22" name="Text 18"/>
          <p:cNvSpPr/>
          <p:nvPr/>
        </p:nvSpPr>
        <p:spPr>
          <a:xfrm>
            <a:off x="749808" y="4434840"/>
            <a:ext cx="3179978" cy="201168"/>
          </a:xfrm>
          <a:prstGeom prst="rect">
            <a:avLst/>
          </a:prstGeom>
          <a:noFill/>
          <a:ln/>
        </p:spPr>
        <p:txBody>
          <a:bodyPr wrap="square" lIns="0" tIns="0" rIns="0" bIns="0" rtlCol="0" anchor="ctr"/>
          <a:lstStyle/>
          <a:p>
            <a:pPr indent="0" marL="0">
              <a:buNone/>
            </a:pPr>
            <a:r>
              <a:rPr lang="en-US" sz="850" i="1" dirty="0">
                <a:solidFill>
                  <a:srgbClr val="52706D"/>
                </a:solidFill>
                <a:latin typeface="Calibri" pitchFamily="34" charset="0"/>
                <a:ea typeface="Calibri" pitchFamily="34" charset="-122"/>
                <a:cs typeface="Calibri" pitchFamily="34" charset="-120"/>
              </a:rPr>
              <a:t>*diukur sebelum fitur malam; belum dari HP fisik</a:t>
            </a:r>
            <a:endParaRPr lang="en-US" sz="850" dirty="0"/>
          </a:p>
        </p:txBody>
      </p:sp>
      <p:sp>
        <p:nvSpPr>
          <p:cNvPr id="23" name="Text 19"/>
          <p:cNvSpPr/>
          <p:nvPr/>
        </p:nvSpPr>
        <p:spPr>
          <a:xfrm>
            <a:off x="731520" y="4690872"/>
            <a:ext cx="3179978" cy="585216"/>
          </a:xfrm>
          <a:prstGeom prst="roundRect">
            <a:avLst>
              <a:gd name="adj" fmla="val 12500"/>
            </a:avLst>
          </a:prstGeom>
          <a:solidFill>
            <a:srgbClr val="DFF6F3"/>
          </a:solidFill>
          <a:ln>
            <a:solidFill>
              <a:srgbClr val="DFF6F3"/>
            </a:solidFill>
          </a:ln>
        </p:spPr>
        <p:txBody>
          <a:bodyPr wrap="square" lIns="76200" tIns="76200" rIns="76200" bIns="76200" rtlCol="0" anchor="ctr"/>
          <a:lstStyle/>
          <a:p>
            <a:pPr indent="0" marL="0">
              <a:buNone/>
            </a:pPr>
            <a:r>
              <a:rPr lang="en-US" sz="1050" b="1" dirty="0">
                <a:solidFill>
                  <a:srgbClr val="172C2A"/>
                </a:solidFill>
                <a:latin typeface="Calibri" pitchFamily="34" charset="0"/>
                <a:ea typeface="Calibri" pitchFamily="34" charset="-122"/>
                <a:cs typeface="Calibri" pitchFamily="34" charset="-120"/>
              </a:rPr>
              <a:t>24 perubahan dari proposal </a:t>
            </a:r>
            <a:pPr indent="0" marL="0">
              <a:buNone/>
            </a:pPr>
            <a:r>
              <a:rPr lang="en-US" sz="1050" dirty="0">
                <a:solidFill>
                  <a:srgbClr val="172C2A"/>
                </a:solidFill>
                <a:latin typeface="Calibri" pitchFamily="34" charset="0"/>
                <a:ea typeface="Calibri" pitchFamily="34" charset="-122"/>
                <a:cs typeface="Calibri" pitchFamily="34" charset="-120"/>
              </a:rPr>
              <a:t>tercatat beserta alasannya di PERUBAHAN.md</a:t>
            </a:r>
            <a:endParaRPr lang="en-US" sz="1050" dirty="0"/>
          </a:p>
        </p:txBody>
      </p:sp>
      <p:sp>
        <p:nvSpPr>
          <p:cNvPr id="24" name="Shape 20"/>
          <p:cNvSpPr/>
          <p:nvPr/>
        </p:nvSpPr>
        <p:spPr>
          <a:xfrm>
            <a:off x="4322978" y="1783080"/>
            <a:ext cx="3545738" cy="3657600"/>
          </a:xfrm>
          <a:prstGeom prst="roundRect">
            <a:avLst>
              <a:gd name="adj" fmla="val 3095"/>
            </a:avLst>
          </a:prstGeom>
          <a:solidFill>
            <a:srgbClr val="FFFFFF"/>
          </a:solidFill>
          <a:ln w="9525">
            <a:solidFill>
              <a:srgbClr val="DCEEEC"/>
            </a:solidFill>
            <a:prstDash val="solid"/>
          </a:ln>
        </p:spPr>
      </p:sp>
      <p:sp>
        <p:nvSpPr>
          <p:cNvPr id="25" name="Text 21"/>
          <p:cNvSpPr/>
          <p:nvPr/>
        </p:nvSpPr>
        <p:spPr>
          <a:xfrm>
            <a:off x="4524146" y="1892808"/>
            <a:ext cx="3179978" cy="237744"/>
          </a:xfrm>
          <a:prstGeom prst="rect">
            <a:avLst/>
          </a:prstGeom>
          <a:noFill/>
          <a:ln/>
        </p:spPr>
        <p:txBody>
          <a:bodyPr wrap="square" lIns="0" tIns="0" rIns="0" bIns="0" rtlCol="0" anchor="ctr"/>
          <a:lstStyle/>
          <a:p>
            <a:pPr indent="0" marL="0">
              <a:buNone/>
            </a:pPr>
            <a:r>
              <a:rPr lang="en-US" sz="1000" b="1" spc="120" kern="0" dirty="0">
                <a:solidFill>
                  <a:srgbClr val="026E65"/>
                </a:solidFill>
                <a:latin typeface="Calibri" pitchFamily="34" charset="0"/>
                <a:ea typeface="Calibri" pitchFamily="34" charset="-122"/>
                <a:cs typeface="Calibri" pitchFamily="34" charset="-120"/>
              </a:rPr>
              <a:t>MODEL BISNIS DAN BIAYA</a:t>
            </a:r>
            <a:endParaRPr lang="en-US" sz="1000" dirty="0"/>
          </a:p>
        </p:txBody>
      </p:sp>
      <p:sp>
        <p:nvSpPr>
          <p:cNvPr id="26" name="Text 22"/>
          <p:cNvSpPr/>
          <p:nvPr/>
        </p:nvSpPr>
        <p:spPr>
          <a:xfrm>
            <a:off x="4524146" y="2240280"/>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Keluarga</a:t>
            </a:r>
            <a:endParaRPr lang="en-US" sz="1150" dirty="0"/>
          </a:p>
        </p:txBody>
      </p:sp>
      <p:sp>
        <p:nvSpPr>
          <p:cNvPr id="27" name="Text 23"/>
          <p:cNvSpPr/>
          <p:nvPr/>
        </p:nvSpPr>
        <p:spPr>
          <a:xfrm>
            <a:off x="6243218" y="2240280"/>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Gratis</a:t>
            </a:r>
            <a:endParaRPr lang="en-US" sz="1300" dirty="0"/>
          </a:p>
        </p:txBody>
      </p:sp>
      <p:sp>
        <p:nvSpPr>
          <p:cNvPr id="28" name="Text 24"/>
          <p:cNvSpPr/>
          <p:nvPr/>
        </p:nvSpPr>
        <p:spPr>
          <a:xfrm>
            <a:off x="4524146" y="2514600"/>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papan, suara, misi, sinkron: selamanya</a:t>
            </a:r>
            <a:endParaRPr lang="en-US" sz="1000" dirty="0"/>
          </a:p>
        </p:txBody>
      </p:sp>
      <p:sp>
        <p:nvSpPr>
          <p:cNvPr id="29" name="Text 25"/>
          <p:cNvSpPr/>
          <p:nvPr/>
        </p:nvSpPr>
        <p:spPr>
          <a:xfrm>
            <a:off x="4524146" y="3008376"/>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Terapis / institusi</a:t>
            </a:r>
            <a:endParaRPr lang="en-US" sz="1150" dirty="0"/>
          </a:p>
        </p:txBody>
      </p:sp>
      <p:sp>
        <p:nvSpPr>
          <p:cNvPr id="30" name="Text 26"/>
          <p:cNvSpPr/>
          <p:nvPr/>
        </p:nvSpPr>
        <p:spPr>
          <a:xfrm>
            <a:off x="6243218" y="3008376"/>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Rp150–250 rb*</a:t>
            </a:r>
            <a:endParaRPr lang="en-US" sz="1300" dirty="0"/>
          </a:p>
        </p:txBody>
      </p:sp>
      <p:sp>
        <p:nvSpPr>
          <p:cNvPr id="31" name="Text 27"/>
          <p:cNvSpPr/>
          <p:nvPr/>
        </p:nvSpPr>
        <p:spPr>
          <a:xfrm>
            <a:off x="4524146" y="3282696"/>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per terapis per bulan: dasbor, usulan, catatan</a:t>
            </a:r>
            <a:endParaRPr lang="en-US" sz="1000" dirty="0"/>
          </a:p>
        </p:txBody>
      </p:sp>
      <p:sp>
        <p:nvSpPr>
          <p:cNvPr id="32" name="Text 28"/>
          <p:cNvSpPr/>
          <p:nvPr/>
        </p:nvSpPr>
        <p:spPr>
          <a:xfrm>
            <a:off x="4524146" y="3776472"/>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Biaya inti / keluarga</a:t>
            </a:r>
            <a:endParaRPr lang="en-US" sz="1150" dirty="0"/>
          </a:p>
        </p:txBody>
      </p:sp>
      <p:sp>
        <p:nvSpPr>
          <p:cNvPr id="33" name="Text 29"/>
          <p:cNvSpPr/>
          <p:nvPr/>
        </p:nvSpPr>
        <p:spPr>
          <a:xfrm>
            <a:off x="6243218" y="3776472"/>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 Rp0</a:t>
            </a:r>
            <a:endParaRPr lang="en-US" sz="1300" dirty="0"/>
          </a:p>
        </p:txBody>
      </p:sp>
      <p:sp>
        <p:nvSpPr>
          <p:cNvPr id="34" name="Text 30"/>
          <p:cNvSpPr/>
          <p:nvPr/>
        </p:nvSpPr>
        <p:spPr>
          <a:xfrm>
            <a:off x="4524146" y="4050792"/>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luring di HP; suara 120 kata &lt; US$0,20 sekali</a:t>
            </a:r>
            <a:endParaRPr lang="en-US" sz="1000" dirty="0"/>
          </a:p>
        </p:txBody>
      </p:sp>
      <p:sp>
        <p:nvSpPr>
          <p:cNvPr id="35" name="Text 31"/>
          <p:cNvSpPr/>
          <p:nvPr/>
        </p:nvSpPr>
        <p:spPr>
          <a:xfrm>
            <a:off x="4524146" y="4544568"/>
            <a:ext cx="1828800"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Add-on suara</a:t>
            </a:r>
            <a:endParaRPr lang="en-US" sz="1150" dirty="0"/>
          </a:p>
        </p:txBody>
      </p:sp>
      <p:sp>
        <p:nvSpPr>
          <p:cNvPr id="36" name="Text 32"/>
          <p:cNvSpPr/>
          <p:nvPr/>
        </p:nvSpPr>
        <p:spPr>
          <a:xfrm>
            <a:off x="6243218" y="4544568"/>
            <a:ext cx="1424330" cy="274320"/>
          </a:xfrm>
          <a:prstGeom prst="rect">
            <a:avLst/>
          </a:prstGeom>
          <a:noFill/>
          <a:ln/>
        </p:spPr>
        <p:txBody>
          <a:bodyPr wrap="square" lIns="0" tIns="0" rIns="0" bIns="0" rtlCol="0" anchor="ctr"/>
          <a:lstStyle/>
          <a:p>
            <a:pPr algn="r" indent="0" marL="0">
              <a:buNone/>
            </a:pPr>
            <a:r>
              <a:rPr lang="en-US" sz="1300" b="1" dirty="0">
                <a:solidFill>
                  <a:srgbClr val="C23D42"/>
                </a:solidFill>
                <a:latin typeface="Trebuchet MS" pitchFamily="34" charset="0"/>
                <a:ea typeface="Trebuchet MS" pitchFamily="34" charset="-122"/>
                <a:cs typeface="Trebuchet MS" pitchFamily="34" charset="-120"/>
              </a:rPr>
              <a:t>Rp2–4 rb*</a:t>
            </a:r>
            <a:endParaRPr lang="en-US" sz="1300" dirty="0"/>
          </a:p>
        </p:txBody>
      </p:sp>
      <p:sp>
        <p:nvSpPr>
          <p:cNvPr id="37" name="Text 33"/>
          <p:cNvSpPr/>
          <p:nvPr/>
        </p:nvSpPr>
        <p:spPr>
          <a:xfrm>
            <a:off x="4524146" y="4818888"/>
            <a:ext cx="3143402" cy="384048"/>
          </a:xfrm>
          <a:prstGeom prst="rect">
            <a:avLst/>
          </a:prstGeom>
          <a:noFill/>
          <a:ln/>
        </p:spPr>
        <p:txBody>
          <a:bodyPr wrap="square" lIns="0" tIns="0" rIns="0" bIns="0" rtlCol="0" anchor="t"/>
          <a:lstStyle/>
          <a:p>
            <a:pPr indent="0" marL="0">
              <a:buNone/>
            </a:pPr>
            <a:r>
              <a:rPr lang="en-US" sz="1000" dirty="0">
                <a:solidFill>
                  <a:srgbClr val="52706D"/>
                </a:solidFill>
                <a:latin typeface="Calibri" pitchFamily="34" charset="0"/>
                <a:ea typeface="Calibri" pitchFamily="34" charset="-122"/>
                <a:cs typeface="Calibri" pitchFamily="34" charset="-120"/>
              </a:rPr>
              <a:t>per keluarga per bulan, dibayar institusi/CSR</a:t>
            </a:r>
            <a:endParaRPr lang="en-US" sz="1000" dirty="0"/>
          </a:p>
        </p:txBody>
      </p:sp>
      <p:sp>
        <p:nvSpPr>
          <p:cNvPr id="38" name="Shape 34"/>
          <p:cNvSpPr/>
          <p:nvPr/>
        </p:nvSpPr>
        <p:spPr>
          <a:xfrm>
            <a:off x="8097317" y="1783080"/>
            <a:ext cx="3545738" cy="3657600"/>
          </a:xfrm>
          <a:prstGeom prst="roundRect">
            <a:avLst>
              <a:gd name="adj" fmla="val 3095"/>
            </a:avLst>
          </a:prstGeom>
          <a:solidFill>
            <a:srgbClr val="FFFFFF"/>
          </a:solidFill>
          <a:ln w="9525">
            <a:solidFill>
              <a:srgbClr val="DCEEEC"/>
            </a:solidFill>
            <a:prstDash val="solid"/>
          </a:ln>
        </p:spPr>
      </p:sp>
      <p:sp>
        <p:nvSpPr>
          <p:cNvPr id="39" name="Text 35"/>
          <p:cNvSpPr/>
          <p:nvPr/>
        </p:nvSpPr>
        <p:spPr>
          <a:xfrm>
            <a:off x="8298485" y="1892808"/>
            <a:ext cx="3179978" cy="237744"/>
          </a:xfrm>
          <a:prstGeom prst="rect">
            <a:avLst/>
          </a:prstGeom>
          <a:noFill/>
          <a:ln/>
        </p:spPr>
        <p:txBody>
          <a:bodyPr wrap="square" lIns="0" tIns="0" rIns="0" bIns="0" rtlCol="0" anchor="ctr"/>
          <a:lstStyle/>
          <a:p>
            <a:pPr indent="0" marL="0">
              <a:buNone/>
            </a:pPr>
            <a:r>
              <a:rPr lang="en-US" sz="1000" b="1" spc="120" kern="0" dirty="0">
                <a:solidFill>
                  <a:srgbClr val="026E65"/>
                </a:solidFill>
                <a:latin typeface="Calibri" pitchFamily="34" charset="0"/>
                <a:ea typeface="Calibri" pitchFamily="34" charset="-122"/>
                <a:cs typeface="Calibri" pitchFamily="34" charset="-120"/>
              </a:rPr>
              <a:t>RENCANA PENERAPAN</a:t>
            </a:r>
            <a:endParaRPr lang="en-US" sz="1000" dirty="0"/>
          </a:p>
        </p:txBody>
      </p:sp>
      <p:sp>
        <p:nvSpPr>
          <p:cNvPr id="40" name="Shape 36"/>
          <p:cNvSpPr/>
          <p:nvPr/>
        </p:nvSpPr>
        <p:spPr>
          <a:xfrm>
            <a:off x="8316773" y="2295144"/>
            <a:ext cx="182880" cy="182880"/>
          </a:xfrm>
          <a:prstGeom prst="ellipse">
            <a:avLst/>
          </a:prstGeom>
          <a:solidFill>
            <a:srgbClr val="D34349"/>
          </a:solidFill>
          <a:ln w="12700">
            <a:solidFill>
              <a:srgbClr val="D34349"/>
            </a:solidFill>
            <a:prstDash val="solid"/>
          </a:ln>
        </p:spPr>
      </p:sp>
      <p:sp>
        <p:nvSpPr>
          <p:cNvPr id="41" name="Shape 37"/>
          <p:cNvSpPr/>
          <p:nvPr/>
        </p:nvSpPr>
        <p:spPr>
          <a:xfrm>
            <a:off x="8408213" y="2496312"/>
            <a:ext cx="0" cy="548640"/>
          </a:xfrm>
          <a:prstGeom prst="line">
            <a:avLst/>
          </a:prstGeom>
          <a:noFill/>
          <a:ln w="19050">
            <a:solidFill>
              <a:srgbClr val="A0DDD7"/>
            </a:solidFill>
            <a:prstDash val="solid"/>
          </a:ln>
        </p:spPr>
      </p:sp>
      <p:sp>
        <p:nvSpPr>
          <p:cNvPr id="42" name="Text 38"/>
          <p:cNvSpPr/>
          <p:nvPr/>
        </p:nvSpPr>
        <p:spPr>
          <a:xfrm>
            <a:off x="8609381" y="2240280"/>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0 · Pilot 6 pekan</a:t>
            </a:r>
            <a:endParaRPr lang="en-US" sz="1150" dirty="0"/>
          </a:p>
        </p:txBody>
      </p:sp>
      <p:sp>
        <p:nvSpPr>
          <p:cNvPr id="43" name="Text 39"/>
          <p:cNvSpPr/>
          <p:nvPr/>
        </p:nvSpPr>
        <p:spPr>
          <a:xfrm>
            <a:off x="8609381" y="2496312"/>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1 terapis wicara + keluarga mitra; ukur retensi hari ke-14.</a:t>
            </a:r>
            <a:endParaRPr lang="en-US" sz="1050" dirty="0"/>
          </a:p>
        </p:txBody>
      </p:sp>
      <p:sp>
        <p:nvSpPr>
          <p:cNvPr id="44" name="Shape 40"/>
          <p:cNvSpPr/>
          <p:nvPr/>
        </p:nvSpPr>
        <p:spPr>
          <a:xfrm>
            <a:off x="8316773" y="3081528"/>
            <a:ext cx="182880" cy="182880"/>
          </a:xfrm>
          <a:prstGeom prst="ellipse">
            <a:avLst/>
          </a:prstGeom>
          <a:solidFill>
            <a:srgbClr val="098277"/>
          </a:solidFill>
          <a:ln w="12700">
            <a:solidFill>
              <a:srgbClr val="098277"/>
            </a:solidFill>
            <a:prstDash val="solid"/>
          </a:ln>
        </p:spPr>
      </p:sp>
      <p:sp>
        <p:nvSpPr>
          <p:cNvPr id="45" name="Shape 41"/>
          <p:cNvSpPr/>
          <p:nvPr/>
        </p:nvSpPr>
        <p:spPr>
          <a:xfrm>
            <a:off x="8408213" y="3282696"/>
            <a:ext cx="0" cy="548640"/>
          </a:xfrm>
          <a:prstGeom prst="line">
            <a:avLst/>
          </a:prstGeom>
          <a:noFill/>
          <a:ln w="19050">
            <a:solidFill>
              <a:srgbClr val="A0DDD7"/>
            </a:solidFill>
            <a:prstDash val="solid"/>
          </a:ln>
        </p:spPr>
      </p:sp>
      <p:sp>
        <p:nvSpPr>
          <p:cNvPr id="46" name="Text 42"/>
          <p:cNvSpPr/>
          <p:nvPr/>
        </p:nvSpPr>
        <p:spPr>
          <a:xfrm>
            <a:off x="8609381" y="3026664"/>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1 · B2I awal</a:t>
            </a:r>
            <a:endParaRPr lang="en-US" sz="1150" dirty="0"/>
          </a:p>
        </p:txBody>
      </p:sp>
      <p:sp>
        <p:nvSpPr>
          <p:cNvPr id="47" name="Text 43"/>
          <p:cNvSpPr/>
          <p:nvPr/>
        </p:nvSpPr>
        <p:spPr>
          <a:xfrm>
            <a:off x="8609381" y="3282696"/>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Klinik tumbuh kembang dan praktik terapis wicara (berbayar).</a:t>
            </a:r>
            <a:endParaRPr lang="en-US" sz="1050" dirty="0"/>
          </a:p>
        </p:txBody>
      </p:sp>
      <p:sp>
        <p:nvSpPr>
          <p:cNvPr id="48" name="Shape 44"/>
          <p:cNvSpPr/>
          <p:nvPr/>
        </p:nvSpPr>
        <p:spPr>
          <a:xfrm>
            <a:off x="8316773" y="3867912"/>
            <a:ext cx="182880" cy="182880"/>
          </a:xfrm>
          <a:prstGeom prst="ellipse">
            <a:avLst/>
          </a:prstGeom>
          <a:solidFill>
            <a:srgbClr val="098277"/>
          </a:solidFill>
          <a:ln w="12700">
            <a:solidFill>
              <a:srgbClr val="098277"/>
            </a:solidFill>
            <a:prstDash val="solid"/>
          </a:ln>
        </p:spPr>
      </p:sp>
      <p:sp>
        <p:nvSpPr>
          <p:cNvPr id="49" name="Shape 45"/>
          <p:cNvSpPr/>
          <p:nvPr/>
        </p:nvSpPr>
        <p:spPr>
          <a:xfrm>
            <a:off x="8408213" y="4069080"/>
            <a:ext cx="0" cy="548640"/>
          </a:xfrm>
          <a:prstGeom prst="line">
            <a:avLst/>
          </a:prstGeom>
          <a:noFill/>
          <a:ln w="19050">
            <a:solidFill>
              <a:srgbClr val="A0DDD7"/>
            </a:solidFill>
            <a:prstDash val="solid"/>
          </a:ln>
        </p:spPr>
      </p:sp>
      <p:sp>
        <p:nvSpPr>
          <p:cNvPr id="50" name="Text 46"/>
          <p:cNvSpPr/>
          <p:nvPr/>
        </p:nvSpPr>
        <p:spPr>
          <a:xfrm>
            <a:off x="8609381" y="3813048"/>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2 · B2I luas</a:t>
            </a:r>
            <a:endParaRPr lang="en-US" sz="1150" dirty="0"/>
          </a:p>
        </p:txBody>
      </p:sp>
      <p:sp>
        <p:nvSpPr>
          <p:cNvPr id="51" name="Text 47"/>
          <p:cNvSpPr/>
          <p:nvPr/>
        </p:nvSpPr>
        <p:spPr>
          <a:xfrm>
            <a:off x="8609381" y="4069080"/>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SLB, sekolah inklusi, yayasan. Syarat: HTTPS, enkripsi, Postgres.</a:t>
            </a:r>
            <a:endParaRPr lang="en-US" sz="1050" dirty="0"/>
          </a:p>
        </p:txBody>
      </p:sp>
      <p:sp>
        <p:nvSpPr>
          <p:cNvPr id="52" name="Shape 48"/>
          <p:cNvSpPr/>
          <p:nvPr/>
        </p:nvSpPr>
        <p:spPr>
          <a:xfrm>
            <a:off x="8316773" y="4654296"/>
            <a:ext cx="182880" cy="182880"/>
          </a:xfrm>
          <a:prstGeom prst="ellipse">
            <a:avLst/>
          </a:prstGeom>
          <a:solidFill>
            <a:srgbClr val="098277"/>
          </a:solidFill>
          <a:ln w="12700">
            <a:solidFill>
              <a:srgbClr val="098277"/>
            </a:solidFill>
            <a:prstDash val="solid"/>
          </a:ln>
        </p:spPr>
      </p:sp>
      <p:sp>
        <p:nvSpPr>
          <p:cNvPr id="53" name="Text 49"/>
          <p:cNvSpPr/>
          <p:nvPr/>
        </p:nvSpPr>
        <p:spPr>
          <a:xfrm>
            <a:off x="8609381" y="4599432"/>
            <a:ext cx="2832506" cy="274320"/>
          </a:xfrm>
          <a:prstGeom prst="rect">
            <a:avLst/>
          </a:prstGeom>
          <a:noFill/>
          <a:ln/>
        </p:spPr>
        <p:txBody>
          <a:bodyPr wrap="square" lIns="0" tIns="0" rIns="0" bIns="0" rtlCol="0" anchor="ctr"/>
          <a:lstStyle/>
          <a:p>
            <a:pPr indent="0" marL="0">
              <a:buNone/>
            </a:pPr>
            <a:r>
              <a:rPr lang="en-US" sz="1150" b="1" dirty="0">
                <a:solidFill>
                  <a:srgbClr val="172C2A"/>
                </a:solidFill>
                <a:latin typeface="Calibri" pitchFamily="34" charset="0"/>
                <a:ea typeface="Calibri" pitchFamily="34" charset="-122"/>
                <a:cs typeface="Calibri" pitchFamily="34" charset="-120"/>
              </a:rPr>
              <a:t>3 · B2G + CSR</a:t>
            </a:r>
            <a:endParaRPr lang="en-US" sz="1150" dirty="0"/>
          </a:p>
        </p:txBody>
      </p:sp>
      <p:sp>
        <p:nvSpPr>
          <p:cNvPr id="54" name="Text 50"/>
          <p:cNvSpPr/>
          <p:nvPr/>
        </p:nvSpPr>
        <p:spPr>
          <a:xfrm>
            <a:off x="8609381" y="4855464"/>
            <a:ext cx="2832506"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Program daerah dan sponsor, setelah ada data multi-institusi.</a:t>
            </a:r>
            <a:endParaRPr lang="en-US" sz="1050" dirty="0"/>
          </a:p>
        </p:txBody>
      </p:sp>
      <p:sp>
        <p:nvSpPr>
          <p:cNvPr id="55" name="Text 51"/>
          <p:cNvSpPr/>
          <p:nvPr/>
        </p:nvSpPr>
        <p:spPr>
          <a:xfrm>
            <a:off x="548640" y="5559552"/>
            <a:ext cx="11094415" cy="420624"/>
          </a:xfrm>
          <a:prstGeom prst="roundRect">
            <a:avLst>
              <a:gd name="adj" fmla="val 17391"/>
            </a:avLst>
          </a:prstGeom>
          <a:solidFill>
            <a:srgbClr val="FDE1E2"/>
          </a:solidFill>
          <a:ln>
            <a:solidFill>
              <a:srgbClr val="FDE1E2"/>
            </a:solidFill>
          </a:ln>
        </p:spPr>
        <p:txBody>
          <a:bodyPr wrap="square" lIns="101600" tIns="101600" rIns="101600" bIns="101600" rtlCol="0" anchor="ctr"/>
          <a:lstStyle/>
          <a:p>
            <a:pPr indent="0" marL="0">
              <a:buNone/>
            </a:pPr>
            <a:r>
              <a:rPr lang="en-US" sz="1050" b="1" dirty="0">
                <a:solidFill>
                  <a:srgbClr val="C23D42"/>
                </a:solidFill>
                <a:latin typeface="Calibri" pitchFamily="34" charset="0"/>
                <a:ea typeface="Calibri" pitchFamily="34" charset="-122"/>
                <a:cs typeface="Calibri" pitchFamily="34" charset="-120"/>
              </a:rPr>
              <a:t>Batasan yang kami akui:  </a:t>
            </a:r>
            <a:pPr indent="0" marL="0">
              <a:buNone/>
            </a:pPr>
            <a:r>
              <a:rPr lang="en-US" sz="1050" dirty="0">
                <a:solidFill>
                  <a:srgbClr val="172C2A"/>
                </a:solidFill>
                <a:latin typeface="Calibri" pitchFamily="34" charset="0"/>
                <a:ea typeface="Calibri" pitchFamily="34" charset="-122"/>
                <a:cs typeface="Calibri" pitchFamily="34" charset="-120"/>
              </a:rPr>
              <a:t>belum HTTPS · belum diuji di HP fisik 2 GB · tiruan suara disimpan penyedia selama belum dicabut · harga dan simbol tim belum divalidasi</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DAMPAK DAN METRIK KEBERHASILAN</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Dampak diukur dari kebiasaan yang bertahan, bukan dari klaim kemampuan anak</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873252"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Masalah</a:t>
            </a:r>
            <a:endParaRPr lang="en-US" sz="950" dirty="0"/>
          </a:p>
        </p:txBody>
      </p:sp>
      <p:sp>
        <p:nvSpPr>
          <p:cNvPr id="6" name="Text 3"/>
          <p:cNvSpPr/>
          <p:nvPr/>
        </p:nvSpPr>
        <p:spPr>
          <a:xfrm>
            <a:off x="1513332" y="6382512"/>
            <a:ext cx="795528"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Solusi</a:t>
            </a:r>
            <a:endParaRPr lang="en-US" sz="950" dirty="0"/>
          </a:p>
        </p:txBody>
      </p:sp>
      <p:sp>
        <p:nvSpPr>
          <p:cNvPr id="7" name="Text 4"/>
          <p:cNvSpPr/>
          <p:nvPr/>
        </p:nvSpPr>
        <p:spPr>
          <a:xfrm>
            <a:off x="2400300" y="6382512"/>
            <a:ext cx="1028700" cy="256032"/>
          </a:xfrm>
          <a:prstGeom prst="roundRect">
            <a:avLst>
              <a:gd name="adj" fmla="val 46429"/>
            </a:avLst>
          </a:prstGeom>
          <a:solidFill>
            <a:srgbClr val="F1FAFA"/>
          </a:solidFill>
          <a:ln w="9525">
            <a:solidFill>
              <a:srgbClr val="DCEEEC"/>
            </a:solidFill>
          </a:ln>
        </p:spPr>
        <p:txBody>
          <a:bodyPr wrap="square" lIns="0" tIns="0" rIns="0" bIns="0" rtlCol="0" anchor="ctr"/>
          <a:lstStyle/>
          <a:p>
            <a:pPr algn="ctr" indent="0" marL="0">
              <a:buNone/>
            </a:pPr>
            <a:r>
              <a:rPr lang="en-US" sz="950" dirty="0">
                <a:solidFill>
                  <a:srgbClr val="52706D"/>
                </a:solidFill>
                <a:latin typeface="Calibri" pitchFamily="34" charset="0"/>
                <a:ea typeface="Calibri" pitchFamily="34" charset="-122"/>
                <a:cs typeface="Calibri" pitchFamily="34" charset="-120"/>
              </a:rPr>
              <a:t>Kelayakan</a:t>
            </a:r>
            <a:endParaRPr lang="en-US" sz="950" dirty="0"/>
          </a:p>
        </p:txBody>
      </p:sp>
      <p:sp>
        <p:nvSpPr>
          <p:cNvPr id="8" name="Text 5"/>
          <p:cNvSpPr/>
          <p:nvPr/>
        </p:nvSpPr>
        <p:spPr>
          <a:xfrm>
            <a:off x="3520440" y="6382512"/>
            <a:ext cx="795528"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Dampak</a:t>
            </a:r>
            <a:endParaRPr lang="en-US" sz="950" dirty="0"/>
          </a:p>
        </p:txBody>
      </p:sp>
      <p:sp>
        <p:nvSpPr>
          <p:cNvPr id="9" name="Text 6"/>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14</a:t>
            </a:r>
            <a:endParaRPr lang="en-US" sz="1000" dirty="0"/>
          </a:p>
        </p:txBody>
      </p:sp>
      <p:sp>
        <p:nvSpPr>
          <p:cNvPr id="10" name="Text 7"/>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Metrik utama pilot: 03-basis-ilmiah §6, berangkat dari Phillips &amp; Zhao (1993). Sasaran tinjauan &lt; 5 menit per anak adalah sasaran rancangan dasbor; model kapasitas adalah asumsi yang diuji di pilot.</a:t>
            </a:r>
            <a:endParaRPr lang="en-US" sz="850" dirty="0"/>
          </a:p>
        </p:txBody>
      </p:sp>
      <p:sp>
        <p:nvSpPr>
          <p:cNvPr id="12" name="Shape 8"/>
          <p:cNvSpPr/>
          <p:nvPr/>
        </p:nvSpPr>
        <p:spPr>
          <a:xfrm>
            <a:off x="548640" y="1783080"/>
            <a:ext cx="4206240" cy="1078992"/>
          </a:xfrm>
          <a:prstGeom prst="roundRect">
            <a:avLst>
              <a:gd name="adj" fmla="val 10169"/>
            </a:avLst>
          </a:prstGeom>
          <a:solidFill>
            <a:srgbClr val="FFFFFF"/>
          </a:solidFill>
          <a:ln w="9525">
            <a:solidFill>
              <a:srgbClr val="DCEEEC"/>
            </a:solidFill>
            <a:prstDash val="solid"/>
          </a:ln>
        </p:spPr>
      </p:sp>
      <p:sp>
        <p:nvSpPr>
          <p:cNvPr id="13" name="Shape 9"/>
          <p:cNvSpPr/>
          <p:nvPr/>
        </p:nvSpPr>
        <p:spPr>
          <a:xfrm>
            <a:off x="731520" y="2020824"/>
            <a:ext cx="603504" cy="603504"/>
          </a:xfrm>
          <a:prstGeom prst="ellipse">
            <a:avLst/>
          </a:prstGeom>
          <a:solidFill>
            <a:srgbClr val="098277"/>
          </a:solidFill>
          <a:ln w="12700">
            <a:solidFill>
              <a:srgbClr val="098277"/>
            </a:solidFill>
            <a:prstDash val="solid"/>
          </a:ln>
        </p:spPr>
      </p:sp>
      <p:pic>
        <p:nvPicPr>
          <p:cNvPr id="14" name="Image 1" descr="preencoded.png">    </p:cNvPr>
          <p:cNvPicPr>
            <a:picLocks noChangeAspect="1"/>
          </p:cNvPicPr>
          <p:nvPr/>
        </p:nvPicPr>
        <p:blipFill>
          <a:blip r:embed="rId2"/>
          <a:stretch>
            <a:fillRect/>
          </a:stretch>
        </p:blipFill>
        <p:spPr>
          <a:xfrm>
            <a:off x="876361" y="2165665"/>
            <a:ext cx="313822" cy="313822"/>
          </a:xfrm>
          <a:prstGeom prst="rect">
            <a:avLst/>
          </a:prstGeom>
        </p:spPr>
      </p:pic>
      <p:sp>
        <p:nvSpPr>
          <p:cNvPr id="15" name="Text 10"/>
          <p:cNvSpPr/>
          <p:nvPr/>
        </p:nvSpPr>
        <p:spPr>
          <a:xfrm>
            <a:off x="1481328" y="1856232"/>
            <a:ext cx="3108960" cy="932688"/>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Anak</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Punya suara yang sama di rumah dan di mana saja, tanpa sinyal.</a:t>
            </a:r>
            <a:endParaRPr lang="en-US" sz="1450" dirty="0"/>
          </a:p>
        </p:txBody>
      </p:sp>
      <p:sp>
        <p:nvSpPr>
          <p:cNvPr id="16" name="Shape 11"/>
          <p:cNvSpPr/>
          <p:nvPr/>
        </p:nvSpPr>
        <p:spPr>
          <a:xfrm>
            <a:off x="548640" y="2990088"/>
            <a:ext cx="4206240" cy="1078992"/>
          </a:xfrm>
          <a:prstGeom prst="roundRect">
            <a:avLst>
              <a:gd name="adj" fmla="val 10169"/>
            </a:avLst>
          </a:prstGeom>
          <a:solidFill>
            <a:srgbClr val="FFFFFF"/>
          </a:solidFill>
          <a:ln w="9525">
            <a:solidFill>
              <a:srgbClr val="DCEEEC"/>
            </a:solidFill>
            <a:prstDash val="solid"/>
          </a:ln>
        </p:spPr>
      </p:sp>
      <p:sp>
        <p:nvSpPr>
          <p:cNvPr id="17" name="Shape 12"/>
          <p:cNvSpPr/>
          <p:nvPr/>
        </p:nvSpPr>
        <p:spPr>
          <a:xfrm>
            <a:off x="731520" y="3227832"/>
            <a:ext cx="603504" cy="603504"/>
          </a:xfrm>
          <a:prstGeom prst="ellipse">
            <a:avLst/>
          </a:prstGeom>
          <a:solidFill>
            <a:srgbClr val="D34349"/>
          </a:solidFill>
          <a:ln w="12700">
            <a:solidFill>
              <a:srgbClr val="D34349"/>
            </a:solidFill>
            <a:prstDash val="solid"/>
          </a:ln>
        </p:spPr>
      </p:sp>
      <p:pic>
        <p:nvPicPr>
          <p:cNvPr id="18" name="Image 2" descr="preencoded.png">    </p:cNvPr>
          <p:cNvPicPr>
            <a:picLocks noChangeAspect="1"/>
          </p:cNvPicPr>
          <p:nvPr/>
        </p:nvPicPr>
        <p:blipFill>
          <a:blip r:embed="rId3"/>
          <a:stretch>
            <a:fillRect/>
          </a:stretch>
        </p:blipFill>
        <p:spPr>
          <a:xfrm>
            <a:off x="876361" y="3372673"/>
            <a:ext cx="313822" cy="313822"/>
          </a:xfrm>
          <a:prstGeom prst="rect">
            <a:avLst/>
          </a:prstGeom>
        </p:spPr>
      </p:pic>
      <p:sp>
        <p:nvSpPr>
          <p:cNvPr id="19" name="Text 13"/>
          <p:cNvSpPr/>
          <p:nvPr/>
        </p:nvSpPr>
        <p:spPr>
          <a:xfrm>
            <a:off x="1481328" y="3063240"/>
            <a:ext cx="3108960" cy="932688"/>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Keluarga</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Belajar 'bicara balik' &lt; 5 menit sehari, tanpa jurnal, dan berhak menolak usulan.</a:t>
            </a:r>
            <a:endParaRPr lang="en-US" sz="1450" dirty="0"/>
          </a:p>
        </p:txBody>
      </p:sp>
      <p:sp>
        <p:nvSpPr>
          <p:cNvPr id="20" name="Shape 14"/>
          <p:cNvSpPr/>
          <p:nvPr/>
        </p:nvSpPr>
        <p:spPr>
          <a:xfrm>
            <a:off x="548640" y="4197096"/>
            <a:ext cx="4206240" cy="1078992"/>
          </a:xfrm>
          <a:prstGeom prst="roundRect">
            <a:avLst>
              <a:gd name="adj" fmla="val 10169"/>
            </a:avLst>
          </a:prstGeom>
          <a:solidFill>
            <a:srgbClr val="FFFFFF"/>
          </a:solidFill>
          <a:ln w="9525">
            <a:solidFill>
              <a:srgbClr val="DCEEEC"/>
            </a:solidFill>
            <a:prstDash val="solid"/>
          </a:ln>
        </p:spPr>
      </p:sp>
      <p:sp>
        <p:nvSpPr>
          <p:cNvPr id="21" name="Shape 15"/>
          <p:cNvSpPr/>
          <p:nvPr/>
        </p:nvSpPr>
        <p:spPr>
          <a:xfrm>
            <a:off x="731520" y="4434840"/>
            <a:ext cx="603504" cy="603504"/>
          </a:xfrm>
          <a:prstGeom prst="ellipse">
            <a:avLst/>
          </a:prstGeom>
          <a:solidFill>
            <a:srgbClr val="5B57A8"/>
          </a:solidFill>
          <a:ln w="12700">
            <a:solidFill>
              <a:srgbClr val="5B57A8"/>
            </a:solidFill>
            <a:prstDash val="solid"/>
          </a:ln>
        </p:spPr>
      </p:sp>
      <p:pic>
        <p:nvPicPr>
          <p:cNvPr id="22" name="Image 3" descr="preencoded.png">    </p:cNvPr>
          <p:cNvPicPr>
            <a:picLocks noChangeAspect="1"/>
          </p:cNvPicPr>
          <p:nvPr/>
        </p:nvPicPr>
        <p:blipFill>
          <a:blip r:embed="rId4"/>
          <a:stretch>
            <a:fillRect/>
          </a:stretch>
        </p:blipFill>
        <p:spPr>
          <a:xfrm>
            <a:off x="876361" y="4579681"/>
            <a:ext cx="313822" cy="313822"/>
          </a:xfrm>
          <a:prstGeom prst="rect">
            <a:avLst/>
          </a:prstGeom>
        </p:spPr>
      </p:pic>
      <p:sp>
        <p:nvSpPr>
          <p:cNvPr id="23" name="Text 16"/>
          <p:cNvSpPr/>
          <p:nvPr/>
        </p:nvSpPr>
        <p:spPr>
          <a:xfrm>
            <a:off x="1481328" y="4270248"/>
            <a:ext cx="3108960" cy="932688"/>
          </a:xfrm>
          <a:prstGeom prst="rect">
            <a:avLst/>
          </a:prstGeom>
          <a:noFill/>
          <a:ln/>
        </p:spPr>
        <p:txBody>
          <a:bodyPr wrap="square" lIns="0" tIns="0" rIns="0" bIns="0" rtlCol="0" anchor="ctr"/>
          <a:lstStyle/>
          <a:p>
            <a:pPr indent="0" marL="0">
              <a:buNone/>
            </a:pPr>
            <a:r>
              <a:rPr lang="en-US" sz="1450" b="1" dirty="0">
                <a:solidFill>
                  <a:srgbClr val="172C2A"/>
                </a:solidFill>
                <a:latin typeface="Trebuchet MS" pitchFamily="34" charset="0"/>
                <a:ea typeface="Trebuchet MS" pitchFamily="34" charset="-122"/>
                <a:cs typeface="Trebuchet MS" pitchFamily="34" charset="-120"/>
              </a:rPr>
              <a:t>Terapis</a:t>
            </a:r>
            <a:endParaRPr lang="en-US" sz="1450" dirty="0"/>
          </a:p>
          <a:p>
            <a:pPr indent="0" marL="0">
              <a:buNone/>
            </a:pPr>
            <a:r>
              <a:rPr lang="en-US" sz="1150" dirty="0">
                <a:solidFill>
                  <a:srgbClr val="172C2A"/>
                </a:solidFill>
                <a:latin typeface="Calibri" pitchFamily="34" charset="0"/>
                <a:ea typeface="Calibri" pitchFamily="34" charset="-122"/>
                <a:cs typeface="Calibri" pitchFamily="34" charset="-120"/>
              </a:rPr>
              <a:t>Datang ke sesi dengan konteks dari rumah; triase menunjukkan siapa yang perlu dilihat dulu.</a:t>
            </a:r>
            <a:endParaRPr lang="en-US" sz="14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0" y="1783080"/>
          <a:ext cx="6613855" cy="914400"/>
        </p:xfrm>
        <a:graphic>
          <a:graphicData uri="http://schemas.openxmlformats.org/drawingml/2006/table">
            <a:tbl>
              <a:tblPr/>
              <a:tblGrid>
                <a:gridCol w="2514600"/>
                <a:gridCol w="2331720"/>
                <a:gridCol w="1767535"/>
              </a:tblGrid>
              <a:tr h="429768">
                <a:tc>
                  <a:txBody>
                    <a:bodyPr/>
                    <a:lstStyle/>
                    <a:p>
                      <a:pPr algn="l" indent="0" marL="0">
                        <a:buNone/>
                      </a:pPr>
                      <a:r>
                        <a:rPr lang="en-US" sz="1150" b="1" dirty="0">
                          <a:solidFill>
                            <a:srgbClr val="52706D"/>
                          </a:solidFill>
                          <a:latin typeface="Calibri" pitchFamily="34" charset="0"/>
                          <a:ea typeface="Calibri" pitchFamily="34" charset="-122"/>
                          <a:cs typeface="Calibri" pitchFamily="34" charset="-120"/>
                        </a:rPr>
                        <a:t>Metrik</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l" indent="0" marL="0">
                        <a:buNone/>
                      </a:pPr>
                      <a:r>
                        <a:rPr lang="en-US" sz="1150" b="1" dirty="0">
                          <a:solidFill>
                            <a:srgbClr val="52706D"/>
                          </a:solidFill>
                          <a:latin typeface="Calibri" pitchFamily="34" charset="0"/>
                          <a:ea typeface="Calibri" pitchFamily="34" charset="-122"/>
                          <a:cs typeface="Calibri" pitchFamily="34" charset="-120"/>
                        </a:rPr>
                        <a:t>Sasaran pilot</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algn="l" indent="0" marL="0">
                        <a:buNone/>
                      </a:pPr>
                      <a:r>
                        <a:rPr lang="en-US" sz="1150" b="1" dirty="0">
                          <a:solidFill>
                            <a:srgbClr val="52706D"/>
                          </a:solidFill>
                          <a:latin typeface="Calibri" pitchFamily="34" charset="0"/>
                          <a:ea typeface="Calibri" pitchFamily="34" charset="-122"/>
                          <a:cs typeface="Calibri" pitchFamily="34" charset="-120"/>
                        </a:rPr>
                        <a:t>Diukur dari</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42976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Retensi hari ke-14  ·  UTAMA</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 60% keluarga masih memakai</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c>
                  <a:txBody>
                    <a:bodyPr/>
                    <a:lstStyle/>
                    <a:p>
                      <a:pPr indent="0" marL="0">
                        <a:buNone/>
                      </a:pPr>
                      <a:r>
                        <a:rPr lang="en-US" sz="1150" dirty="0">
                          <a:solidFill>
                            <a:srgbClr val="FFFFFF"/>
                          </a:solidFill>
                          <a:latin typeface="Calibri" pitchFamily="34" charset="0"/>
                          <a:ea typeface="Calibri" pitchFamily="34" charset="-122"/>
                          <a:cs typeface="Calibri" pitchFamily="34" charset="-120"/>
                        </a:rPr>
                        <a:t>peristiwa di server</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098277"/>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Hari misi terlaksana</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dipantau per pekan</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peristiwa MIS</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Usulan terapis dijawab keluarga</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dipantau per usulan</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peristiwa TGT</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Waktu tinjauan terapis</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&lt; 5 menit per anak</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diukur otomatis di dasbor</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429768">
                <a:tc>
                  <a:txBody>
                    <a:bodyPr/>
                    <a:lstStyle/>
                    <a:p>
                      <a:pPr indent="0" marL="0">
                        <a:buNone/>
                      </a:pPr>
                      <a:r>
                        <a:rPr lang="en-US" sz="1150" b="1" dirty="0">
                          <a:solidFill>
                            <a:srgbClr val="172C2A"/>
                          </a:solidFill>
                          <a:latin typeface="Calibri" pitchFamily="34" charset="0"/>
                          <a:ea typeface="Calibri" pitchFamily="34" charset="-122"/>
                          <a:cs typeface="Calibri" pitchFamily="34" charset="-120"/>
                        </a:rPr>
                        <a:t>Kata berbeda per pekan</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pola pemakaian, bukan skor</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150" dirty="0">
                          <a:solidFill>
                            <a:srgbClr val="172C2A"/>
                          </a:solidFill>
                          <a:latin typeface="Calibri" pitchFamily="34" charset="0"/>
                          <a:ea typeface="Calibri" pitchFamily="34" charset="-122"/>
                          <a:cs typeface="Calibri" pitchFamily="34" charset="-120"/>
                        </a:rPr>
                        <a:t>ketukan anak</a:t>
                      </a:r>
                      <a:endParaRPr lang="en-US" sz="1150" dirty="0">
                        <a:latin typeface="Calibri" charset="0"/>
                        <a:ea typeface="Calibri" charset="0"/>
                        <a:cs typeface="Calibri" charset="0"/>
                      </a:endParaRPr>
                    </a:p>
                  </a:txBody>
                  <a:tcPr marL="73152" marR="73152" marT="73152" marB="73152"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bl>
          </a:graphicData>
        </a:graphic>
      </p:graphicFrame>
      <p:sp>
        <p:nvSpPr>
          <p:cNvPr id="25" name="Shape 17"/>
          <p:cNvSpPr/>
          <p:nvPr/>
        </p:nvSpPr>
        <p:spPr>
          <a:xfrm>
            <a:off x="5029200" y="4572000"/>
            <a:ext cx="6613855" cy="1353312"/>
          </a:xfrm>
          <a:prstGeom prst="roundRect">
            <a:avLst>
              <a:gd name="adj" fmla="val 8108"/>
            </a:avLst>
          </a:prstGeom>
          <a:solidFill>
            <a:srgbClr val="FDF0D2"/>
          </a:solidFill>
          <a:ln w="12700">
            <a:solidFill>
              <a:srgbClr val="F5C862"/>
            </a:solidFill>
            <a:prstDash val="dash"/>
          </a:ln>
        </p:spPr>
      </p:sp>
      <p:sp>
        <p:nvSpPr>
          <p:cNvPr id="26" name="Text 18"/>
          <p:cNvSpPr/>
          <p:nvPr/>
        </p:nvSpPr>
        <p:spPr>
          <a:xfrm>
            <a:off x="5257800" y="4663440"/>
            <a:ext cx="3657600" cy="237744"/>
          </a:xfrm>
          <a:prstGeom prst="rect">
            <a:avLst/>
          </a:prstGeom>
          <a:noFill/>
          <a:ln/>
        </p:spPr>
        <p:txBody>
          <a:bodyPr wrap="square" lIns="0" tIns="0" rIns="0" bIns="0" rtlCol="0" anchor="ctr"/>
          <a:lstStyle/>
          <a:p>
            <a:pPr indent="0" marL="0">
              <a:buNone/>
            </a:pPr>
            <a:r>
              <a:rPr lang="en-US" sz="1000" b="1" spc="150" kern="0" dirty="0">
                <a:solidFill>
                  <a:srgbClr val="8A5B0A"/>
                </a:solidFill>
                <a:latin typeface="Calibri" pitchFamily="34" charset="0"/>
                <a:ea typeface="Calibri" pitchFamily="34" charset="-122"/>
                <a:cs typeface="Calibri" pitchFamily="34" charset="-120"/>
              </a:rPr>
              <a:t>MODEL KAPASITAS TERAPIS</a:t>
            </a:r>
            <a:endParaRPr lang="en-US" sz="1000" dirty="0"/>
          </a:p>
        </p:txBody>
      </p:sp>
      <p:sp>
        <p:nvSpPr>
          <p:cNvPr id="27" name="Text 19"/>
          <p:cNvSpPr/>
          <p:nvPr/>
        </p:nvSpPr>
        <p:spPr>
          <a:xfrm>
            <a:off x="9402775" y="4663440"/>
            <a:ext cx="2011680" cy="256032"/>
          </a:xfrm>
          <a:prstGeom prst="roundRect">
            <a:avLst>
              <a:gd name="adj" fmla="val 50000"/>
            </a:avLst>
          </a:prstGeom>
          <a:solidFill>
            <a:srgbClr val="8A5B0A"/>
          </a:solidFill>
          <a:ln>
            <a:solidFill>
              <a:srgbClr val="8A5B0A"/>
            </a:solid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ASUMSI · DIUJI DI PILOT</a:t>
            </a:r>
            <a:endParaRPr lang="en-US" sz="850" dirty="0"/>
          </a:p>
        </p:txBody>
      </p:sp>
      <p:sp>
        <p:nvSpPr>
          <p:cNvPr id="28" name="Text 20"/>
          <p:cNvSpPr/>
          <p:nvPr/>
        </p:nvSpPr>
        <p:spPr>
          <a:xfrm>
            <a:off x="5257800" y="4956048"/>
            <a:ext cx="6156655" cy="502920"/>
          </a:xfrm>
          <a:prstGeom prst="rect">
            <a:avLst/>
          </a:prstGeom>
          <a:noFill/>
          <a:ln/>
        </p:spPr>
        <p:txBody>
          <a:bodyPr wrap="square" lIns="0" tIns="0" rIns="0" bIns="0" rtlCol="0" anchor="ctr"/>
          <a:lstStyle/>
          <a:p>
            <a:pPr indent="0" marL="0">
              <a:buNone/>
            </a:pPr>
            <a:r>
              <a:rPr lang="en-US" sz="1550" b="1" dirty="0">
                <a:solidFill>
                  <a:srgbClr val="172C2A"/>
                </a:solidFill>
                <a:latin typeface="Trebuchet MS" pitchFamily="34" charset="0"/>
                <a:ea typeface="Trebuchet MS" pitchFamily="34" charset="-122"/>
                <a:cs typeface="Trebuchet MS" pitchFamily="34" charset="-120"/>
              </a:rPr>
              <a:t>60 menit</a:t>
            </a:r>
            <a:pPr indent="0" marL="0">
              <a:buNone/>
            </a:pPr>
            <a:r>
              <a:rPr lang="en-US" sz="1550" dirty="0">
                <a:solidFill>
                  <a:srgbClr val="52706D"/>
                </a:solidFill>
                <a:latin typeface="Trebuchet MS" pitchFamily="34" charset="0"/>
                <a:ea typeface="Trebuchet MS" pitchFamily="34" charset="-122"/>
                <a:cs typeface="Trebuchet MS" pitchFamily="34" charset="-120"/>
              </a:rPr>
              <a:t>  ÷  </a:t>
            </a:r>
            <a:pPr indent="0" marL="0">
              <a:buNone/>
            </a:pPr>
            <a:r>
              <a:rPr lang="en-US" sz="1550" b="1" dirty="0">
                <a:solidFill>
                  <a:srgbClr val="172C2A"/>
                </a:solidFill>
                <a:latin typeface="Trebuchet MS" pitchFamily="34" charset="0"/>
                <a:ea typeface="Trebuchet MS" pitchFamily="34" charset="-122"/>
                <a:cs typeface="Trebuchet MS" pitchFamily="34" charset="-120"/>
              </a:rPr>
              <a:t>5 menit per anak</a:t>
            </a:r>
            <a:pPr indent="0" marL="0">
              <a:buNone/>
            </a:pPr>
            <a:r>
              <a:rPr lang="en-US" sz="1550" dirty="0">
                <a:solidFill>
                  <a:srgbClr val="52706D"/>
                </a:solidFill>
                <a:latin typeface="Trebuchet MS" pitchFamily="34" charset="0"/>
                <a:ea typeface="Trebuchet MS" pitchFamily="34" charset="-122"/>
                <a:cs typeface="Trebuchet MS" pitchFamily="34" charset="-120"/>
              </a:rPr>
              <a:t>  =  </a:t>
            </a:r>
            <a:pPr indent="0" marL="0">
              <a:buNone/>
            </a:pPr>
            <a:r>
              <a:rPr lang="en-US" sz="1550" b="1" dirty="0">
                <a:solidFill>
                  <a:srgbClr val="C23D42"/>
                </a:solidFill>
                <a:latin typeface="Trebuchet MS" pitchFamily="34" charset="0"/>
                <a:ea typeface="Trebuchet MS" pitchFamily="34" charset="-122"/>
                <a:cs typeface="Trebuchet MS" pitchFamily="34" charset="-120"/>
              </a:rPr>
              <a:t>12 keluarga</a:t>
            </a:r>
            <a:pPr indent="0" marL="0">
              <a:buNone/>
            </a:pPr>
            <a:r>
              <a:rPr lang="en-US" sz="1550" dirty="0">
                <a:solidFill>
                  <a:srgbClr val="172C2A"/>
                </a:solidFill>
                <a:latin typeface="Trebuchet MS" pitchFamily="34" charset="0"/>
                <a:ea typeface="Trebuchet MS" pitchFamily="34" charset="-122"/>
                <a:cs typeface="Trebuchet MS" pitchFamily="34" charset="-120"/>
              </a:rPr>
              <a:t> per jam terapis</a:t>
            </a:r>
            <a:endParaRPr lang="en-US" sz="1550" dirty="0"/>
          </a:p>
        </p:txBody>
      </p:sp>
      <p:sp>
        <p:nvSpPr>
          <p:cNvPr id="29" name="Text 21"/>
          <p:cNvSpPr/>
          <p:nvPr/>
        </p:nvSpPr>
        <p:spPr>
          <a:xfrm>
            <a:off x="5257800" y="5486400"/>
            <a:ext cx="6156655" cy="347472"/>
          </a:xfrm>
          <a:prstGeom prst="rect">
            <a:avLst/>
          </a:prstGeom>
          <a:noFill/>
          <a:ln/>
        </p:spPr>
        <p:txBody>
          <a:bodyPr wrap="square" lIns="0" tIns="0" rIns="0" bIns="0" rtlCol="0" anchor="ctr"/>
          <a:lstStyle/>
          <a:p>
            <a:pPr indent="0" marL="0">
              <a:buNone/>
            </a:pPr>
            <a:r>
              <a:rPr lang="en-US" sz="1050" i="1" dirty="0">
                <a:solidFill>
                  <a:srgbClr val="8A5B0A"/>
                </a:solidFill>
                <a:latin typeface="Calibri" pitchFamily="34" charset="0"/>
                <a:ea typeface="Calibri" pitchFamily="34" charset="-122"/>
                <a:cs typeface="Calibri" pitchFamily="34" charset="-120"/>
              </a:rPr>
              <a:t>Waktu tinjauan diukur otomatis di dasbor, jadi angka ini bisa dibuktikan atau dibantah di pilot.</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98277"/>
        </a:solidFill>
      </p:bgPr>
    </p:bg>
    <p:spTree>
      <p:nvGrpSpPr>
        <p:cNvPr id="1" name=""/>
        <p:cNvGrpSpPr/>
        <p:nvPr/>
      </p:nvGrpSpPr>
      <p:grpSpPr>
        <a:xfrm>
          <a:off x="0" y="0"/>
          <a:ext cx="0" cy="0"/>
          <a:chOff x="0" y="0"/>
          <a:chExt cx="0" cy="0"/>
        </a:xfrm>
      </p:grpSpPr>
      <p:sp>
        <p:nvSpPr>
          <p:cNvPr id="2" name="Shape 0"/>
          <p:cNvSpPr/>
          <p:nvPr/>
        </p:nvSpPr>
        <p:spPr>
          <a:xfrm>
            <a:off x="5272888" y="868680"/>
            <a:ext cx="1645920" cy="1645920"/>
          </a:xfrm>
          <a:prstGeom prst="ellipse">
            <a:avLst/>
          </a:prstGeom>
          <a:solidFill>
            <a:srgbClr val="FFFFFF"/>
          </a:solidFill>
          <a:ln w="12700">
            <a:solidFill>
              <a:srgbClr val="FFFFFF"/>
            </a:solidFill>
            <a:prstDash val="solid"/>
          </a:ln>
        </p:spPr>
      </p:sp>
      <p:pic>
        <p:nvPicPr>
          <p:cNvPr id="3" name="Image 0" descr="C:\Users\mikae\OneDrive\Documents\Lomba\IFEST\Nyambung\app\assets\brand\logo_mark.png">    </p:cNvPr>
          <p:cNvPicPr>
            <a:picLocks noChangeAspect="1"/>
          </p:cNvPicPr>
          <p:nvPr/>
        </p:nvPicPr>
        <p:blipFill>
          <a:blip r:embed="rId1"/>
          <a:stretch>
            <a:fillRect/>
          </a:stretch>
        </p:blipFill>
        <p:spPr>
          <a:xfrm>
            <a:off x="5528920" y="1124712"/>
            <a:ext cx="1133856" cy="1133856"/>
          </a:xfrm>
          <a:prstGeom prst="rect">
            <a:avLst/>
          </a:prstGeom>
        </p:spPr>
      </p:pic>
      <p:sp>
        <p:nvSpPr>
          <p:cNvPr id="4" name="Text 1"/>
          <p:cNvSpPr/>
          <p:nvPr/>
        </p:nvSpPr>
        <p:spPr>
          <a:xfrm>
            <a:off x="0" y="2697480"/>
            <a:ext cx="12191695"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Trebuchet MS" pitchFamily="34" charset="0"/>
                <a:ea typeface="Trebuchet MS" pitchFamily="34" charset="-122"/>
                <a:cs typeface="Trebuchet MS" pitchFamily="34" charset="-120"/>
              </a:rPr>
              <a:t>Nyambung</a:t>
            </a:r>
            <a:endParaRPr lang="en-US" sz="3600" dirty="0"/>
          </a:p>
        </p:txBody>
      </p:sp>
      <p:sp>
        <p:nvSpPr>
          <p:cNvPr id="5" name="Text 2"/>
          <p:cNvSpPr/>
          <p:nvPr/>
        </p:nvSpPr>
        <p:spPr>
          <a:xfrm>
            <a:off x="0" y="3474720"/>
            <a:ext cx="12191695" cy="548640"/>
          </a:xfrm>
          <a:prstGeom prst="rect">
            <a:avLst/>
          </a:prstGeom>
          <a:noFill/>
          <a:ln/>
        </p:spPr>
        <p:txBody>
          <a:bodyPr wrap="square" lIns="0" tIns="0" rIns="0" bIns="0" rtlCol="0" anchor="ctr"/>
          <a:lstStyle/>
          <a:p>
            <a:pPr algn="ctr" indent="0" marL="0">
              <a:buNone/>
            </a:pPr>
            <a:r>
              <a:rPr lang="en-US" sz="2400" i="1" dirty="0">
                <a:solidFill>
                  <a:srgbClr val="DFF6F3"/>
                </a:solidFill>
                <a:latin typeface="Trebuchet MS" pitchFamily="34" charset="0"/>
                <a:ea typeface="Trebuchet MS" pitchFamily="34" charset="-122"/>
                <a:cs typeface="Trebuchet MS" pitchFamily="34" charset="-120"/>
              </a:rPr>
              <a:t>Hubungan dimulai saat seseorang bisa dipahami.</a:t>
            </a:r>
            <a:endParaRPr lang="en-US" sz="2400" dirty="0"/>
          </a:p>
        </p:txBody>
      </p:sp>
      <p:sp>
        <p:nvSpPr>
          <p:cNvPr id="6" name="Text 3"/>
          <p:cNvSpPr/>
          <p:nvPr/>
        </p:nvSpPr>
        <p:spPr>
          <a:xfrm>
            <a:off x="0" y="4343400"/>
            <a:ext cx="12191695" cy="411480"/>
          </a:xfrm>
          <a:prstGeom prst="rect">
            <a:avLst/>
          </a:prstGeom>
          <a:noFill/>
          <a:ln/>
        </p:spPr>
        <p:txBody>
          <a:bodyPr wrap="square" lIns="0" tIns="0" rIns="0" bIns="0" rtlCol="0" anchor="ctr"/>
          <a:lstStyle/>
          <a:p>
            <a:pPr algn="ctr" indent="0" marL="0">
              <a:buNone/>
            </a:pPr>
            <a:r>
              <a:rPr lang="en-US" sz="1800" b="1" spc="400" kern="0" dirty="0">
                <a:solidFill>
                  <a:srgbClr val="BADE4A"/>
                </a:solidFill>
                <a:latin typeface="Calibri" pitchFamily="34" charset="0"/>
                <a:ea typeface="Calibri" pitchFamily="34" charset="-122"/>
                <a:cs typeface="Calibri" pitchFamily="34" charset="-120"/>
              </a:rPr>
              <a:t>ANAK  •  KELUARGA  •  TERAPIS</a:t>
            </a:r>
            <a:endParaRPr lang="en-US" sz="1800" dirty="0"/>
          </a:p>
        </p:txBody>
      </p:sp>
      <p:sp>
        <p:nvSpPr>
          <p:cNvPr id="7" name="Text 4"/>
          <p:cNvSpPr/>
          <p:nvPr/>
        </p:nvSpPr>
        <p:spPr>
          <a:xfrm>
            <a:off x="0" y="4754880"/>
            <a:ext cx="12191695" cy="365760"/>
          </a:xfrm>
          <a:prstGeom prst="rect">
            <a:avLst/>
          </a:prstGeom>
          <a:noFill/>
          <a:ln/>
        </p:spPr>
        <p:txBody>
          <a:bodyPr wrap="square" lIns="0" tIns="0" rIns="0" bIns="0" rtlCol="0" anchor="ctr"/>
          <a:lstStyle/>
          <a:p>
            <a:pPr algn="ctr" indent="0" marL="0">
              <a:buNone/>
            </a:pPr>
            <a:r>
              <a:rPr lang="en-US" sz="1300" b="1" spc="600" kern="0" dirty="0">
                <a:solidFill>
                  <a:srgbClr val="A0DDD7"/>
                </a:solidFill>
                <a:latin typeface="Calibri" pitchFamily="34" charset="0"/>
                <a:ea typeface="Calibri" pitchFamily="34" charset="-122"/>
                <a:cs typeface="Calibri" pitchFamily="34" charset="-120"/>
              </a:rPr>
              <a:t>TERSAMBUNG</a:t>
            </a:r>
            <a:endParaRPr lang="en-US" sz="1300" dirty="0"/>
          </a:p>
        </p:txBody>
      </p:sp>
      <p:sp>
        <p:nvSpPr>
          <p:cNvPr id="8" name="Text 5"/>
          <p:cNvSpPr/>
          <p:nvPr/>
        </p:nvSpPr>
        <p:spPr>
          <a:xfrm>
            <a:off x="0" y="6172200"/>
            <a:ext cx="12191695" cy="320040"/>
          </a:xfrm>
          <a:prstGeom prst="rect">
            <a:avLst/>
          </a:prstGeom>
          <a:noFill/>
          <a:ln/>
        </p:spPr>
        <p:txBody>
          <a:bodyPr wrap="square" lIns="0" tIns="0" rIns="0" bIns="0" rtlCol="0" anchor="ctr"/>
          <a:lstStyle/>
          <a:p>
            <a:pPr algn="ctr" indent="0" marL="0">
              <a:buNone/>
            </a:pPr>
            <a:r>
              <a:rPr lang="en-US" sz="1100" dirty="0">
                <a:solidFill>
                  <a:srgbClr val="A0DDD7"/>
                </a:solidFill>
                <a:latin typeface="Calibri" pitchFamily="34" charset="0"/>
                <a:ea typeface="Calibri" pitchFamily="34" charset="-122"/>
                <a:cs typeface="Calibri" pitchFamily="34" charset="-120"/>
              </a:rPr>
              <a:t>Teen Tensors · Hackathon IFEST 2026 · Tech for Human Connections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 ASET DAN SUMBERNYA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simbol, kata, dan suara berlisensi jelas dan tercatat asal-usulnya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mulberrysymbols.org · Mizuko (1987), AAC 3(3) · Goossens', Crain &amp; Elder (1992) · WCAG 2.2 1.4.1 · assets/PROVENANCE.md (175 berkas diverifikasi SHA-256).</a:t>
            </a:r>
            <a:endParaRPr lang="en-US" sz="850" dirty="0"/>
          </a:p>
        </p:txBody>
      </p:sp>
      <p:sp>
        <p:nvSpPr>
          <p:cNvPr id="9" name="Shape 5"/>
          <p:cNvSpPr/>
          <p:nvPr/>
        </p:nvSpPr>
        <p:spPr>
          <a:xfrm>
            <a:off x="548640" y="1783080"/>
            <a:ext cx="3931920" cy="4114800"/>
          </a:xfrm>
          <a:prstGeom prst="roundRect">
            <a:avLst>
              <a:gd name="adj" fmla="val 2791"/>
            </a:avLst>
          </a:prstGeom>
          <a:solidFill>
            <a:srgbClr val="FFFFFF"/>
          </a:solidFill>
          <a:ln w="9525">
            <a:solidFill>
              <a:srgbClr val="DCEEEC"/>
            </a:solidFill>
            <a:prstDash val="solid"/>
          </a:ln>
        </p:spPr>
      </p:sp>
      <p:sp>
        <p:nvSpPr>
          <p:cNvPr id="10" name="Text 6"/>
          <p:cNvSpPr/>
          <p:nvPr/>
        </p:nvSpPr>
        <p:spPr>
          <a:xfrm>
            <a:off x="777240" y="1901952"/>
            <a:ext cx="3474720" cy="237744"/>
          </a:xfrm>
          <a:prstGeom prst="rect">
            <a:avLst/>
          </a:prstGeom>
          <a:noFill/>
          <a:ln/>
        </p:spPr>
        <p:txBody>
          <a:bodyPr wrap="square" lIns="0" tIns="0" rIns="0" bIns="0" rtlCol="0" anchor="ctr"/>
          <a:lstStyle/>
          <a:p>
            <a:pPr indent="0" marL="0">
              <a:buNone/>
            </a:pPr>
            <a:r>
              <a:rPr lang="en-US" sz="1000" b="1" spc="150" kern="0" dirty="0">
                <a:solidFill>
                  <a:srgbClr val="026E65"/>
                </a:solidFill>
                <a:latin typeface="Calibri" pitchFamily="34" charset="0"/>
                <a:ea typeface="Calibri" pitchFamily="34" charset="-122"/>
                <a:cs typeface="Calibri" pitchFamily="34" charset="-120"/>
              </a:rPr>
              <a:t>SIMBOL UTAMA</a:t>
            </a:r>
            <a:endParaRPr lang="en-US" sz="1000" dirty="0"/>
          </a:p>
        </p:txBody>
      </p:sp>
      <p:sp>
        <p:nvSpPr>
          <p:cNvPr id="11" name="Shape 7"/>
          <p:cNvSpPr/>
          <p:nvPr/>
        </p:nvSpPr>
        <p:spPr>
          <a:xfrm>
            <a:off x="777240" y="2240280"/>
            <a:ext cx="1024128" cy="1024128"/>
          </a:xfrm>
          <a:prstGeom prst="roundRect">
            <a:avLst>
              <a:gd name="adj" fmla="val 5357"/>
            </a:avLst>
          </a:prstGeom>
          <a:solidFill>
            <a:srgbClr val="E1F4E7"/>
          </a:solidFill>
          <a:ln w="12700">
            <a:solidFill>
              <a:srgbClr val="6FC08F"/>
            </a:solidFill>
            <a:prstDash val="solid"/>
          </a:ln>
        </p:spPr>
      </p:sp>
      <p:pic>
        <p:nvPicPr>
          <p:cNvPr id="12" name="Image 1" descr="C:\Users\mikae\OneDrive\Documents\Lomba\IFEST\Nyambung\assets\symbols\png\mau.png">    </p:cNvPr>
          <p:cNvPicPr>
            <a:picLocks noChangeAspect="1"/>
          </p:cNvPicPr>
          <p:nvPr/>
        </p:nvPicPr>
        <p:blipFill>
          <a:blip r:embed="rId2"/>
          <a:stretch>
            <a:fillRect/>
          </a:stretch>
        </p:blipFill>
        <p:spPr>
          <a:xfrm>
            <a:off x="1002548" y="2322210"/>
            <a:ext cx="573512" cy="573512"/>
          </a:xfrm>
          <a:prstGeom prst="rect">
            <a:avLst/>
          </a:prstGeom>
        </p:spPr>
      </p:pic>
      <p:sp>
        <p:nvSpPr>
          <p:cNvPr id="13" name="Text 8"/>
          <p:cNvSpPr/>
          <p:nvPr/>
        </p:nvSpPr>
        <p:spPr>
          <a:xfrm>
            <a:off x="777240" y="2916204"/>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MAU</a:t>
            </a:r>
            <a:endParaRPr lang="en-US" sz="750" dirty="0"/>
          </a:p>
        </p:txBody>
      </p:sp>
      <p:sp>
        <p:nvSpPr>
          <p:cNvPr id="14" name="Shape 9"/>
          <p:cNvSpPr/>
          <p:nvPr/>
        </p:nvSpPr>
        <p:spPr>
          <a:xfrm>
            <a:off x="1929384" y="2240280"/>
            <a:ext cx="1024128" cy="1024128"/>
          </a:xfrm>
          <a:prstGeom prst="roundRect">
            <a:avLst>
              <a:gd name="adj" fmla="val 5357"/>
            </a:avLst>
          </a:prstGeom>
          <a:solidFill>
            <a:srgbClr val="E1F4E7"/>
          </a:solidFill>
          <a:ln w="12700">
            <a:solidFill>
              <a:srgbClr val="6FC08F"/>
            </a:solidFill>
            <a:prstDash val="solid"/>
          </a:ln>
        </p:spPr>
      </p:sp>
      <p:pic>
        <p:nvPicPr>
          <p:cNvPr id="15" name="Image 2" descr="C:\Users\mikae\OneDrive\Documents\Lomba\IFEST\Nyambung\assets\symbols\png\bantu.png">    </p:cNvPr>
          <p:cNvPicPr>
            <a:picLocks noChangeAspect="1"/>
          </p:cNvPicPr>
          <p:nvPr/>
        </p:nvPicPr>
        <p:blipFill>
          <a:blip r:embed="rId3"/>
          <a:stretch>
            <a:fillRect/>
          </a:stretch>
        </p:blipFill>
        <p:spPr>
          <a:xfrm>
            <a:off x="2154692" y="2322210"/>
            <a:ext cx="573512" cy="573512"/>
          </a:xfrm>
          <a:prstGeom prst="rect">
            <a:avLst/>
          </a:prstGeom>
        </p:spPr>
      </p:pic>
      <p:sp>
        <p:nvSpPr>
          <p:cNvPr id="16" name="Text 10"/>
          <p:cNvSpPr/>
          <p:nvPr/>
        </p:nvSpPr>
        <p:spPr>
          <a:xfrm>
            <a:off x="1929384" y="2916204"/>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BANTU</a:t>
            </a:r>
            <a:endParaRPr lang="en-US" sz="750" dirty="0"/>
          </a:p>
        </p:txBody>
      </p:sp>
      <p:sp>
        <p:nvSpPr>
          <p:cNvPr id="17" name="Shape 11"/>
          <p:cNvSpPr/>
          <p:nvPr/>
        </p:nvSpPr>
        <p:spPr>
          <a:xfrm>
            <a:off x="3081528" y="2240280"/>
            <a:ext cx="1024128" cy="1024128"/>
          </a:xfrm>
          <a:prstGeom prst="roundRect">
            <a:avLst>
              <a:gd name="adj" fmla="val 5357"/>
            </a:avLst>
          </a:prstGeom>
          <a:solidFill>
            <a:srgbClr val="E1F4E7"/>
          </a:solidFill>
          <a:ln w="12700">
            <a:solidFill>
              <a:srgbClr val="6FC08F"/>
            </a:solidFill>
            <a:prstDash val="solid"/>
          </a:ln>
        </p:spPr>
      </p:sp>
      <p:pic>
        <p:nvPicPr>
          <p:cNvPr id="18" name="Image 3" descr="C:\Users\mikae\OneDrive\Documents\Lomba\IFEST\Nyambung\assets\symbols\png\makan.png">    </p:cNvPr>
          <p:cNvPicPr>
            <a:picLocks noChangeAspect="1"/>
          </p:cNvPicPr>
          <p:nvPr/>
        </p:nvPicPr>
        <p:blipFill>
          <a:blip r:embed="rId4"/>
          <a:stretch>
            <a:fillRect/>
          </a:stretch>
        </p:blipFill>
        <p:spPr>
          <a:xfrm>
            <a:off x="3306836" y="2322210"/>
            <a:ext cx="573512" cy="573512"/>
          </a:xfrm>
          <a:prstGeom prst="rect">
            <a:avLst/>
          </a:prstGeom>
        </p:spPr>
      </p:pic>
      <p:sp>
        <p:nvSpPr>
          <p:cNvPr id="19" name="Text 12"/>
          <p:cNvSpPr/>
          <p:nvPr/>
        </p:nvSpPr>
        <p:spPr>
          <a:xfrm>
            <a:off x="3081528" y="2916204"/>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MAKAN</a:t>
            </a:r>
            <a:endParaRPr lang="en-US" sz="750" dirty="0"/>
          </a:p>
        </p:txBody>
      </p:sp>
      <p:sp>
        <p:nvSpPr>
          <p:cNvPr id="20" name="Shape 13"/>
          <p:cNvSpPr/>
          <p:nvPr/>
        </p:nvSpPr>
        <p:spPr>
          <a:xfrm>
            <a:off x="777240" y="3392424"/>
            <a:ext cx="1024128" cy="1024128"/>
          </a:xfrm>
          <a:prstGeom prst="roundRect">
            <a:avLst>
              <a:gd name="adj" fmla="val 5357"/>
            </a:avLst>
          </a:prstGeom>
          <a:solidFill>
            <a:srgbClr val="E1F4E7"/>
          </a:solidFill>
          <a:ln w="12700">
            <a:solidFill>
              <a:srgbClr val="6FC08F"/>
            </a:solidFill>
            <a:prstDash val="solid"/>
          </a:ln>
        </p:spPr>
      </p:sp>
      <p:pic>
        <p:nvPicPr>
          <p:cNvPr id="21" name="Image 4" descr="C:\Users\mikae\OneDrive\Documents\Lomba\IFEST\Nyambung\assets\symbols\png\minum.png">    </p:cNvPr>
          <p:cNvPicPr>
            <a:picLocks noChangeAspect="1"/>
          </p:cNvPicPr>
          <p:nvPr/>
        </p:nvPicPr>
        <p:blipFill>
          <a:blip r:embed="rId5"/>
          <a:stretch>
            <a:fillRect/>
          </a:stretch>
        </p:blipFill>
        <p:spPr>
          <a:xfrm>
            <a:off x="1002548" y="3474354"/>
            <a:ext cx="573512" cy="573512"/>
          </a:xfrm>
          <a:prstGeom prst="rect">
            <a:avLst/>
          </a:prstGeom>
        </p:spPr>
      </p:pic>
      <p:sp>
        <p:nvSpPr>
          <p:cNvPr id="22" name="Text 14"/>
          <p:cNvSpPr/>
          <p:nvPr/>
        </p:nvSpPr>
        <p:spPr>
          <a:xfrm>
            <a:off x="777240" y="4068348"/>
            <a:ext cx="1024128" cy="307238"/>
          </a:xfrm>
          <a:prstGeom prst="rect">
            <a:avLst/>
          </a:prstGeom>
          <a:noFill/>
          <a:ln/>
        </p:spPr>
        <p:txBody>
          <a:bodyPr wrap="square" lIns="0" tIns="0" rIns="0" bIns="0" rtlCol="0" anchor="ctr"/>
          <a:lstStyle/>
          <a:p>
            <a:pPr algn="ctr" indent="0" marL="0">
              <a:buNone/>
            </a:pPr>
            <a:r>
              <a:rPr lang="en-US" sz="750" b="1" dirty="0">
                <a:solidFill>
                  <a:srgbClr val="2A7445"/>
                </a:solidFill>
                <a:latin typeface="Calibri" pitchFamily="34" charset="0"/>
                <a:ea typeface="Calibri" pitchFamily="34" charset="-122"/>
                <a:cs typeface="Calibri" pitchFamily="34" charset="-120"/>
              </a:rPr>
              <a:t>MINUM</a:t>
            </a:r>
            <a:endParaRPr lang="en-US" sz="750" dirty="0"/>
          </a:p>
        </p:txBody>
      </p:sp>
      <p:sp>
        <p:nvSpPr>
          <p:cNvPr id="23" name="Shape 15"/>
          <p:cNvSpPr/>
          <p:nvPr/>
        </p:nvSpPr>
        <p:spPr>
          <a:xfrm>
            <a:off x="1929384" y="3392424"/>
            <a:ext cx="1024128" cy="1024128"/>
          </a:xfrm>
          <a:prstGeom prst="roundRect">
            <a:avLst>
              <a:gd name="adj" fmla="val 5357"/>
            </a:avLst>
          </a:prstGeom>
          <a:solidFill>
            <a:srgbClr val="E8F6F5"/>
          </a:solidFill>
          <a:ln w="12700">
            <a:solidFill>
              <a:srgbClr val="C7C7D2"/>
            </a:solidFill>
            <a:prstDash val="solid"/>
          </a:ln>
        </p:spPr>
      </p:sp>
      <p:pic>
        <p:nvPicPr>
          <p:cNvPr id="24" name="Image 5" descr="C:\Users\mikae\OneDrive\Documents\Lomba\IFEST\Nyambung\assets\symbols\png\lagi.png">    </p:cNvPr>
          <p:cNvPicPr>
            <a:picLocks noChangeAspect="1"/>
          </p:cNvPicPr>
          <p:nvPr/>
        </p:nvPicPr>
        <p:blipFill>
          <a:blip r:embed="rId6"/>
          <a:stretch>
            <a:fillRect/>
          </a:stretch>
        </p:blipFill>
        <p:spPr>
          <a:xfrm>
            <a:off x="2154692" y="3474354"/>
            <a:ext cx="573512" cy="573512"/>
          </a:xfrm>
          <a:prstGeom prst="rect">
            <a:avLst/>
          </a:prstGeom>
        </p:spPr>
      </p:pic>
      <p:sp>
        <p:nvSpPr>
          <p:cNvPr id="25" name="Text 16"/>
          <p:cNvSpPr/>
          <p:nvPr/>
        </p:nvSpPr>
        <p:spPr>
          <a:xfrm>
            <a:off x="1929384" y="4068348"/>
            <a:ext cx="1024128" cy="30723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LAGI</a:t>
            </a:r>
            <a:endParaRPr lang="en-US" sz="750" dirty="0"/>
          </a:p>
        </p:txBody>
      </p:sp>
      <p:sp>
        <p:nvSpPr>
          <p:cNvPr id="26" name="Shape 17"/>
          <p:cNvSpPr/>
          <p:nvPr/>
        </p:nvSpPr>
        <p:spPr>
          <a:xfrm>
            <a:off x="3081528" y="3392424"/>
            <a:ext cx="1024128" cy="1024128"/>
          </a:xfrm>
          <a:prstGeom prst="roundRect">
            <a:avLst>
              <a:gd name="adj" fmla="val 5357"/>
            </a:avLst>
          </a:prstGeom>
          <a:solidFill>
            <a:srgbClr val="E8F6F5"/>
          </a:solidFill>
          <a:ln w="12700">
            <a:solidFill>
              <a:srgbClr val="C7C7D2"/>
            </a:solidFill>
            <a:prstDash val="solid"/>
          </a:ln>
        </p:spPr>
      </p:sp>
      <p:pic>
        <p:nvPicPr>
          <p:cNvPr id="27" name="Image 6" descr="C:\Users\mikae\OneDrive\Documents\Lomba\IFEST\Nyambung\assets\symbols\png\selesai.png">    </p:cNvPr>
          <p:cNvPicPr>
            <a:picLocks noChangeAspect="1"/>
          </p:cNvPicPr>
          <p:nvPr/>
        </p:nvPicPr>
        <p:blipFill>
          <a:blip r:embed="rId7"/>
          <a:stretch>
            <a:fillRect/>
          </a:stretch>
        </p:blipFill>
        <p:spPr>
          <a:xfrm>
            <a:off x="3306836" y="3474354"/>
            <a:ext cx="573512" cy="573512"/>
          </a:xfrm>
          <a:prstGeom prst="rect">
            <a:avLst/>
          </a:prstGeom>
        </p:spPr>
      </p:pic>
      <p:sp>
        <p:nvSpPr>
          <p:cNvPr id="28" name="Text 18"/>
          <p:cNvSpPr/>
          <p:nvPr/>
        </p:nvSpPr>
        <p:spPr>
          <a:xfrm>
            <a:off x="3081528" y="4068348"/>
            <a:ext cx="1024128" cy="307238"/>
          </a:xfrm>
          <a:prstGeom prst="rect">
            <a:avLst/>
          </a:prstGeom>
          <a:noFill/>
          <a:ln/>
        </p:spPr>
        <p:txBody>
          <a:bodyPr wrap="square" lIns="0" tIns="0" rIns="0" bIns="0" rtlCol="0" anchor="ctr"/>
          <a:lstStyle/>
          <a:p>
            <a:pPr algn="ctr" indent="0" marL="0">
              <a:buNone/>
            </a:pPr>
            <a:r>
              <a:rPr lang="en-US" sz="750" b="1" dirty="0">
                <a:solidFill>
                  <a:srgbClr val="172C2A"/>
                </a:solidFill>
                <a:latin typeface="Calibri" pitchFamily="34" charset="0"/>
                <a:ea typeface="Calibri" pitchFamily="34" charset="-122"/>
                <a:cs typeface="Calibri" pitchFamily="34" charset="-120"/>
              </a:rPr>
              <a:t>SELESAI</a:t>
            </a:r>
            <a:endParaRPr lang="en-US" sz="750" dirty="0"/>
          </a:p>
        </p:txBody>
      </p:sp>
      <p:sp>
        <p:nvSpPr>
          <p:cNvPr id="29" name="Text 19"/>
          <p:cNvSpPr/>
          <p:nvPr/>
        </p:nvSpPr>
        <p:spPr>
          <a:xfrm>
            <a:off x="777240" y="4617720"/>
            <a:ext cx="3474720" cy="1188720"/>
          </a:xfrm>
          <a:prstGeom prst="rect">
            <a:avLst/>
          </a:prstGeom>
          <a:noFill/>
          <a:ln/>
        </p:spPr>
        <p:txBody>
          <a:bodyPr wrap="square" lIns="0" tIns="0" rIns="0" bIns="0" rtlCol="0" anchor="t"/>
          <a:lstStyle/>
          <a:p>
            <a:pPr indent="0" marL="0">
              <a:spcAft>
                <a:spcPts val="200"/>
              </a:spcAft>
              <a:buNone/>
            </a:pPr>
            <a:r>
              <a:rPr lang="en-US" sz="1500" b="1" dirty="0">
                <a:solidFill>
                  <a:srgbClr val="172C2A"/>
                </a:solidFill>
                <a:latin typeface="Trebuchet MS" pitchFamily="34" charset="0"/>
                <a:ea typeface="Trebuchet MS" pitchFamily="34" charset="-122"/>
                <a:cs typeface="Trebuchet MS" pitchFamily="34" charset="-120"/>
              </a:rPr>
              <a:t>Mulberry Symbols</a:t>
            </a:r>
            <a:endParaRPr lang="en-US" sz="1500" dirty="0"/>
          </a:p>
          <a:p>
            <a:pPr indent="0" marL="0">
              <a:spcAft>
                <a:spcPts val="200"/>
              </a:spcAft>
              <a:buNone/>
            </a:pPr>
            <a:r>
              <a:rPr lang="en-US" sz="1150" b="1" dirty="0">
                <a:solidFill>
                  <a:srgbClr val="026E65"/>
                </a:solidFill>
                <a:latin typeface="Calibri" pitchFamily="34" charset="0"/>
                <a:ea typeface="Calibri" pitchFamily="34" charset="-122"/>
                <a:cs typeface="Calibri" pitchFamily="34" charset="-120"/>
              </a:rPr>
              <a:t>© Steve Lee · CC BY-SA 4.0</a:t>
            </a:r>
            <a:endParaRPr lang="en-US" sz="1500" dirty="0"/>
          </a:p>
          <a:p>
            <a:pPr indent="0" marL="0">
              <a:spcAft>
                <a:spcPts val="200"/>
              </a:spcAft>
              <a:buNone/>
            </a:pPr>
            <a:r>
              <a:rPr lang="en-US" sz="1050" dirty="0">
                <a:solidFill>
                  <a:srgbClr val="172C2A"/>
                </a:solidFill>
                <a:latin typeface="Calibri" pitchFamily="34" charset="0"/>
                <a:ea typeface="Calibri" pitchFamily="34" charset="-122"/>
                <a:cs typeface="Calibri" pitchFamily="34" charset="-120"/>
              </a:rPr>
              <a:t>Digambar Claire Barge, ditinjau terapis wicara. 99 simbol dipakai; berkas asli tidak diubah, hanya dirasterkan 256 px berwarna.</a:t>
            </a:r>
            <a:endParaRPr lang="en-US" sz="1500" dirty="0"/>
          </a:p>
        </p:txBody>
      </p:sp>
      <p:sp>
        <p:nvSpPr>
          <p:cNvPr id="30" name="Shape 20"/>
          <p:cNvSpPr/>
          <p:nvPr/>
        </p:nvSpPr>
        <p:spPr>
          <a:xfrm>
            <a:off x="4709160" y="1783080"/>
            <a:ext cx="3352648" cy="1481328"/>
          </a:xfrm>
          <a:prstGeom prst="roundRect">
            <a:avLst>
              <a:gd name="adj" fmla="val 7407"/>
            </a:avLst>
          </a:prstGeom>
          <a:solidFill>
            <a:srgbClr val="FFFFFF"/>
          </a:solidFill>
          <a:ln w="9525">
            <a:solidFill>
              <a:srgbClr val="DCEEEC"/>
            </a:solidFill>
            <a:prstDash val="solid"/>
          </a:ln>
        </p:spPr>
      </p:sp>
      <p:sp>
        <p:nvSpPr>
          <p:cNvPr id="31" name="Shape 21"/>
          <p:cNvSpPr/>
          <p:nvPr/>
        </p:nvSpPr>
        <p:spPr>
          <a:xfrm>
            <a:off x="4892040" y="1965960"/>
            <a:ext cx="475488" cy="475488"/>
          </a:xfrm>
          <a:prstGeom prst="ellipse">
            <a:avLst/>
          </a:prstGeom>
          <a:solidFill>
            <a:srgbClr val="DFF6F3"/>
          </a:solidFill>
          <a:ln w="12700">
            <a:solidFill>
              <a:srgbClr val="DFF6F3"/>
            </a:solidFill>
            <a:prstDash val="solid"/>
          </a:ln>
        </p:spPr>
      </p:sp>
      <p:pic>
        <p:nvPicPr>
          <p:cNvPr id="32" name="Image 7" descr="preencoded.png">    </p:cNvPr>
          <p:cNvPicPr>
            <a:picLocks noChangeAspect="1"/>
          </p:cNvPicPr>
          <p:nvPr/>
        </p:nvPicPr>
        <p:blipFill>
          <a:blip r:embed="rId8"/>
          <a:stretch>
            <a:fillRect/>
          </a:stretch>
        </p:blipFill>
        <p:spPr>
          <a:xfrm>
            <a:off x="5006157" y="2080077"/>
            <a:ext cx="247254" cy="247254"/>
          </a:xfrm>
          <a:prstGeom prst="rect">
            <a:avLst/>
          </a:prstGeom>
        </p:spPr>
      </p:pic>
      <p:sp>
        <p:nvSpPr>
          <p:cNvPr id="33" name="Text 22"/>
          <p:cNvSpPr/>
          <p:nvPr/>
        </p:nvSpPr>
        <p:spPr>
          <a:xfrm>
            <a:off x="5486400" y="1965960"/>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Simbol buatan tim</a:t>
            </a:r>
            <a:endParaRPr lang="en-US" sz="1400" dirty="0"/>
          </a:p>
        </p:txBody>
      </p:sp>
      <p:sp>
        <p:nvSpPr>
          <p:cNvPr id="34" name="Text 23"/>
          <p:cNvSpPr/>
          <p:nvPr/>
        </p:nvSpPr>
        <p:spPr>
          <a:xfrm>
            <a:off x="4892040" y="2514600"/>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21 kata tanpa padanan jujur di Mulberry (mis. BERHENTI, AKU) digambar tim dengan gaya dan konvensi yang sama.</a:t>
            </a:r>
            <a:endParaRPr lang="en-US" sz="1050" dirty="0"/>
          </a:p>
        </p:txBody>
      </p:sp>
      <p:sp>
        <p:nvSpPr>
          <p:cNvPr id="35" name="Text 24"/>
          <p:cNvSpPr/>
          <p:nvPr/>
        </p:nvSpPr>
        <p:spPr>
          <a:xfrm>
            <a:off x="4892040" y="2990088"/>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CC BY-SA 4.0 · belum diuji pada anak</a:t>
            </a:r>
            <a:endParaRPr lang="en-US" sz="950" dirty="0"/>
          </a:p>
        </p:txBody>
      </p:sp>
      <p:sp>
        <p:nvSpPr>
          <p:cNvPr id="36" name="Shape 25"/>
          <p:cNvSpPr/>
          <p:nvPr/>
        </p:nvSpPr>
        <p:spPr>
          <a:xfrm>
            <a:off x="8290408" y="1783080"/>
            <a:ext cx="3352648" cy="1481328"/>
          </a:xfrm>
          <a:prstGeom prst="roundRect">
            <a:avLst>
              <a:gd name="adj" fmla="val 7407"/>
            </a:avLst>
          </a:prstGeom>
          <a:solidFill>
            <a:srgbClr val="FFFFFF"/>
          </a:solidFill>
          <a:ln w="9525">
            <a:solidFill>
              <a:srgbClr val="DCEEEC"/>
            </a:solidFill>
            <a:prstDash val="solid"/>
          </a:ln>
        </p:spPr>
      </p:sp>
      <p:sp>
        <p:nvSpPr>
          <p:cNvPr id="37" name="Shape 26"/>
          <p:cNvSpPr/>
          <p:nvPr/>
        </p:nvSpPr>
        <p:spPr>
          <a:xfrm>
            <a:off x="8473288" y="1965960"/>
            <a:ext cx="475488" cy="475488"/>
          </a:xfrm>
          <a:prstGeom prst="ellipse">
            <a:avLst/>
          </a:prstGeom>
          <a:solidFill>
            <a:srgbClr val="DFF6F3"/>
          </a:solidFill>
          <a:ln w="12700">
            <a:solidFill>
              <a:srgbClr val="DFF6F3"/>
            </a:solidFill>
            <a:prstDash val="solid"/>
          </a:ln>
        </p:spPr>
      </p:sp>
      <p:pic>
        <p:nvPicPr>
          <p:cNvPr id="38" name="Image 8" descr="preencoded.png">    </p:cNvPr>
          <p:cNvPicPr>
            <a:picLocks noChangeAspect="1"/>
          </p:cNvPicPr>
          <p:nvPr/>
        </p:nvPicPr>
        <p:blipFill>
          <a:blip r:embed="rId9"/>
          <a:stretch>
            <a:fillRect/>
          </a:stretch>
        </p:blipFill>
        <p:spPr>
          <a:xfrm>
            <a:off x="8587405" y="2080077"/>
            <a:ext cx="247254" cy="247254"/>
          </a:xfrm>
          <a:prstGeom prst="rect">
            <a:avLst/>
          </a:prstGeom>
        </p:spPr>
      </p:pic>
      <p:sp>
        <p:nvSpPr>
          <p:cNvPr id="39" name="Text 27"/>
          <p:cNvSpPr/>
          <p:nvPr/>
        </p:nvSpPr>
        <p:spPr>
          <a:xfrm>
            <a:off x="9067648" y="1965960"/>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120 kata</a:t>
            </a:r>
            <a:endParaRPr lang="en-US" sz="1400" dirty="0"/>
          </a:p>
        </p:txBody>
      </p:sp>
      <p:sp>
        <p:nvSpPr>
          <p:cNvPr id="40" name="Text 28"/>
          <p:cNvSpPr/>
          <p:nvPr/>
        </p:nvSpPr>
        <p:spPr>
          <a:xfrm>
            <a:off x="8473288" y="2514600"/>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Banajee (2003), Project Core, dan frekuensi OpenSubtitles 2018 sebagai pemecah seri.</a:t>
            </a:r>
            <a:endParaRPr lang="en-US" sz="1050" dirty="0"/>
          </a:p>
        </p:txBody>
      </p:sp>
      <p:sp>
        <p:nvSpPr>
          <p:cNvPr id="41" name="Text 29"/>
          <p:cNvSpPr/>
          <p:nvPr/>
        </p:nvSpPr>
        <p:spPr>
          <a:xfrm>
            <a:off x="8473288" y="2990088"/>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riset tim · alasan tertulis per kata</a:t>
            </a:r>
            <a:endParaRPr lang="en-US" sz="950" dirty="0"/>
          </a:p>
        </p:txBody>
      </p:sp>
      <p:sp>
        <p:nvSpPr>
          <p:cNvPr id="42" name="Shape 30"/>
          <p:cNvSpPr/>
          <p:nvPr/>
        </p:nvSpPr>
        <p:spPr>
          <a:xfrm>
            <a:off x="4709160" y="3447288"/>
            <a:ext cx="3352648" cy="1481328"/>
          </a:xfrm>
          <a:prstGeom prst="roundRect">
            <a:avLst>
              <a:gd name="adj" fmla="val 7407"/>
            </a:avLst>
          </a:prstGeom>
          <a:solidFill>
            <a:srgbClr val="FFFFFF"/>
          </a:solidFill>
          <a:ln w="9525">
            <a:solidFill>
              <a:srgbClr val="DCEEEC"/>
            </a:solidFill>
            <a:prstDash val="solid"/>
          </a:ln>
        </p:spPr>
      </p:sp>
      <p:sp>
        <p:nvSpPr>
          <p:cNvPr id="43" name="Shape 31"/>
          <p:cNvSpPr/>
          <p:nvPr/>
        </p:nvSpPr>
        <p:spPr>
          <a:xfrm>
            <a:off x="4892040" y="3630168"/>
            <a:ext cx="475488" cy="475488"/>
          </a:xfrm>
          <a:prstGeom prst="ellipse">
            <a:avLst/>
          </a:prstGeom>
          <a:solidFill>
            <a:srgbClr val="DFF6F3"/>
          </a:solidFill>
          <a:ln w="12700">
            <a:solidFill>
              <a:srgbClr val="DFF6F3"/>
            </a:solidFill>
            <a:prstDash val="solid"/>
          </a:ln>
        </p:spPr>
      </p:sp>
      <p:pic>
        <p:nvPicPr>
          <p:cNvPr id="44" name="Image 9" descr="preencoded.png">    </p:cNvPr>
          <p:cNvPicPr>
            <a:picLocks noChangeAspect="1"/>
          </p:cNvPicPr>
          <p:nvPr/>
        </p:nvPicPr>
        <p:blipFill>
          <a:blip r:embed="rId10"/>
          <a:stretch>
            <a:fillRect/>
          </a:stretch>
        </p:blipFill>
        <p:spPr>
          <a:xfrm>
            <a:off x="5006157" y="3744285"/>
            <a:ext cx="247254" cy="247254"/>
          </a:xfrm>
          <a:prstGeom prst="rect">
            <a:avLst/>
          </a:prstGeom>
        </p:spPr>
      </p:pic>
      <p:sp>
        <p:nvSpPr>
          <p:cNvPr id="45" name="Text 32"/>
          <p:cNvSpPr/>
          <p:nvPr/>
        </p:nvSpPr>
        <p:spPr>
          <a:xfrm>
            <a:off x="5486400" y="3630168"/>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Suara</a:t>
            </a:r>
            <a:endParaRPr lang="en-US" sz="1400" dirty="0"/>
          </a:p>
        </p:txBody>
      </p:sp>
      <p:sp>
        <p:nvSpPr>
          <p:cNvPr id="46" name="Text 33"/>
          <p:cNvSpPr/>
          <p:nvPr/>
        </p:nvSpPr>
        <p:spPr>
          <a:xfrm>
            <a:off x="4892040" y="4178808"/>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Suara papan 2 × 120 klip dibuat sekali (OpenAI TTS) lalu diputar luring. Tiruan suara keluarga lewat ElevenLabs, hanya dengan persetujuan.</a:t>
            </a:r>
            <a:endParaRPr lang="en-US" sz="1050" dirty="0"/>
          </a:p>
        </p:txBody>
      </p:sp>
      <p:sp>
        <p:nvSpPr>
          <p:cNvPr id="47" name="Text 34"/>
          <p:cNvSpPr/>
          <p:nvPr/>
        </p:nvSpPr>
        <p:spPr>
          <a:xfrm>
            <a:off x="4892040" y="4654296"/>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diberi label suara buatan AI</a:t>
            </a:r>
            <a:endParaRPr lang="en-US" sz="950" dirty="0"/>
          </a:p>
        </p:txBody>
      </p:sp>
      <p:sp>
        <p:nvSpPr>
          <p:cNvPr id="48" name="Shape 35"/>
          <p:cNvSpPr/>
          <p:nvPr/>
        </p:nvSpPr>
        <p:spPr>
          <a:xfrm>
            <a:off x="8290408" y="3447288"/>
            <a:ext cx="3352648" cy="1481328"/>
          </a:xfrm>
          <a:prstGeom prst="roundRect">
            <a:avLst>
              <a:gd name="adj" fmla="val 7407"/>
            </a:avLst>
          </a:prstGeom>
          <a:solidFill>
            <a:srgbClr val="FFFFFF"/>
          </a:solidFill>
          <a:ln w="9525">
            <a:solidFill>
              <a:srgbClr val="DCEEEC"/>
            </a:solidFill>
            <a:prstDash val="solid"/>
          </a:ln>
        </p:spPr>
      </p:sp>
      <p:sp>
        <p:nvSpPr>
          <p:cNvPr id="49" name="Shape 36"/>
          <p:cNvSpPr/>
          <p:nvPr/>
        </p:nvSpPr>
        <p:spPr>
          <a:xfrm>
            <a:off x="8473288" y="3630168"/>
            <a:ext cx="475488" cy="475488"/>
          </a:xfrm>
          <a:prstGeom prst="ellipse">
            <a:avLst/>
          </a:prstGeom>
          <a:solidFill>
            <a:srgbClr val="DFF6F3"/>
          </a:solidFill>
          <a:ln w="12700">
            <a:solidFill>
              <a:srgbClr val="DFF6F3"/>
            </a:solidFill>
            <a:prstDash val="solid"/>
          </a:ln>
        </p:spPr>
      </p:sp>
      <p:pic>
        <p:nvPicPr>
          <p:cNvPr id="50" name="Image 10" descr="preencoded.png">    </p:cNvPr>
          <p:cNvPicPr>
            <a:picLocks noChangeAspect="1"/>
          </p:cNvPicPr>
          <p:nvPr/>
        </p:nvPicPr>
        <p:blipFill>
          <a:blip r:embed="rId11"/>
          <a:stretch>
            <a:fillRect/>
          </a:stretch>
        </p:blipFill>
        <p:spPr>
          <a:xfrm>
            <a:off x="8587405" y="3744285"/>
            <a:ext cx="247254" cy="247254"/>
          </a:xfrm>
          <a:prstGeom prst="rect">
            <a:avLst/>
          </a:prstGeom>
        </p:spPr>
      </p:pic>
      <p:sp>
        <p:nvSpPr>
          <p:cNvPr id="51" name="Text 37"/>
          <p:cNvSpPr/>
          <p:nvPr/>
        </p:nvSpPr>
        <p:spPr>
          <a:xfrm>
            <a:off x="9067648" y="3630168"/>
            <a:ext cx="2392528" cy="475488"/>
          </a:xfrm>
          <a:prstGeom prst="rect">
            <a:avLst/>
          </a:prstGeom>
          <a:noFill/>
          <a:ln/>
        </p:spPr>
        <p:txBody>
          <a:bodyPr wrap="square" lIns="0" tIns="0" rIns="0" bIns="0" rtlCol="0" anchor="ctr"/>
          <a:lstStyle/>
          <a:p>
            <a:pPr indent="0" marL="0">
              <a:buNone/>
            </a:pPr>
            <a:r>
              <a:rPr lang="en-US" sz="1400" b="1" dirty="0">
                <a:solidFill>
                  <a:srgbClr val="172C2A"/>
                </a:solidFill>
                <a:latin typeface="Trebuchet MS" pitchFamily="34" charset="0"/>
                <a:ea typeface="Trebuchet MS" pitchFamily="34" charset="-122"/>
                <a:cs typeface="Trebuchet MS" pitchFamily="34" charset="-120"/>
              </a:rPr>
              <a:t>Jejak audit</a:t>
            </a:r>
            <a:endParaRPr lang="en-US" sz="1400" dirty="0"/>
          </a:p>
        </p:txBody>
      </p:sp>
      <p:sp>
        <p:nvSpPr>
          <p:cNvPr id="52" name="Text 38"/>
          <p:cNvSpPr/>
          <p:nvPr/>
        </p:nvSpPr>
        <p:spPr>
          <a:xfrm>
            <a:off x="8473288" y="4178808"/>
            <a:ext cx="2986888" cy="502920"/>
          </a:xfrm>
          <a:prstGeom prst="rect">
            <a:avLst/>
          </a:prstGeom>
          <a:noFill/>
          <a:ln/>
        </p:spPr>
        <p:txBody>
          <a:bodyPr wrap="square" lIns="0" tIns="0" rIns="0" bIns="0" rtlCol="0" anchor="t"/>
          <a:lstStyle/>
          <a:p>
            <a:pPr indent="0" marL="0">
              <a:buNone/>
            </a:pPr>
            <a:r>
              <a:rPr lang="en-US" sz="1050" dirty="0">
                <a:solidFill>
                  <a:srgbClr val="172C2A"/>
                </a:solidFill>
                <a:latin typeface="Calibri" pitchFamily="34" charset="0"/>
                <a:ea typeface="Calibri" pitchFamily="34" charset="-122"/>
                <a:cs typeface="Calibri" pitchFamily="34" charset="-120"/>
              </a:rPr>
              <a:t>Font Fredoka dan Nunito (SIL OFL 1.1); logo buatan tim. 175 berkas aset diverifikasi SHA-256.</a:t>
            </a:r>
            <a:endParaRPr lang="en-US" sz="1050" dirty="0"/>
          </a:p>
        </p:txBody>
      </p:sp>
      <p:sp>
        <p:nvSpPr>
          <p:cNvPr id="53" name="Text 39"/>
          <p:cNvSpPr/>
          <p:nvPr/>
        </p:nvSpPr>
        <p:spPr>
          <a:xfrm>
            <a:off x="8473288" y="4654296"/>
            <a:ext cx="2986888" cy="219456"/>
          </a:xfrm>
          <a:prstGeom prst="rect">
            <a:avLst/>
          </a:prstGeom>
          <a:noFill/>
          <a:ln/>
        </p:spPr>
        <p:txBody>
          <a:bodyPr wrap="square" lIns="0" tIns="0" rIns="0" bIns="0" rtlCol="0" anchor="ctr"/>
          <a:lstStyle/>
          <a:p>
            <a:pPr indent="0" marL="0">
              <a:buNone/>
            </a:pPr>
            <a:r>
              <a:rPr lang="en-US" sz="950" i="1" dirty="0">
                <a:solidFill>
                  <a:srgbClr val="52706D"/>
                </a:solidFill>
                <a:latin typeface="Calibri" pitchFamily="34" charset="0"/>
                <a:ea typeface="Calibri" pitchFamily="34" charset="-122"/>
                <a:cs typeface="Calibri" pitchFamily="34" charset="-120"/>
              </a:rPr>
              <a:t>hanya konten, tanpa kode pra-acara</a:t>
            </a:r>
            <a:endParaRPr lang="en-US" sz="950" dirty="0"/>
          </a:p>
        </p:txBody>
      </p:sp>
      <p:sp>
        <p:nvSpPr>
          <p:cNvPr id="54" name="Text 40"/>
          <p:cNvSpPr/>
          <p:nvPr/>
        </p:nvSpPr>
        <p:spPr>
          <a:xfrm>
            <a:off x="4709160" y="5120640"/>
            <a:ext cx="6933895" cy="777240"/>
          </a:xfrm>
          <a:prstGeom prst="roundRect">
            <a:avLst>
              <a:gd name="adj" fmla="val 11765"/>
            </a:avLst>
          </a:prstGeom>
          <a:solidFill>
            <a:srgbClr val="098277"/>
          </a:solidFill>
          <a:ln>
            <a:solidFill>
              <a:srgbClr val="098277"/>
            </a:solidFill>
          </a:ln>
        </p:spPr>
        <p:txBody>
          <a:bodyPr wrap="square" lIns="127000" tIns="127000" rIns="127000" bIns="12700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Kenapa simbol bergambar dan berwarna?  </a:t>
            </a:r>
            <a:pPr indent="0" marL="0">
              <a:buNone/>
            </a:pPr>
            <a:r>
              <a:rPr lang="en-US" sz="1100" dirty="0">
                <a:solidFill>
                  <a:srgbClr val="DFF6F3"/>
                </a:solidFill>
                <a:latin typeface="Calibri" pitchFamily="34" charset="0"/>
                <a:ea typeface="Calibri" pitchFamily="34" charset="-122"/>
                <a:cs typeface="Calibri" pitchFamily="34" charset="-120"/>
              </a:rPr>
              <a:t>Simbol yang mudah ditebak maknanya lebih cepat dipelajari anak 3 tahun (Mizuko 1987). Warna per jenis kata (Modified Fitzgerald Key) selalu dipasangkan penanda bentuk, supaya warna bukan satu-satunya pembawa makna (WCAG 1.4.1).</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A · UNTUK Q&amp;A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Dua belas kata inti: berbasis literatur, dengan alasan tertulis per kata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Banajee dkk. (2003): 23 kata inti balita, nol kata benda · Project Core Universal Core (36 kata) · OS = peringkat frekuensi OpenSubtitles 2018 (kecil = sering; korpus dewasa, hanya pemecah seri).</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85800"/>
                <a:gridCol w="1188720"/>
                <a:gridCol w="1234440"/>
                <a:gridCol w="1234440"/>
                <a:gridCol w="640080"/>
                <a:gridCol w="6110935"/>
              </a:tblGrid>
              <a:tr h="310896">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Posisi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Kata</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Banajee 2003</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Project Core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OS</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c>
                  <a:txBody>
                    <a:bodyPr/>
                    <a:lstStyle/>
                    <a:p>
                      <a:pPr indent="0" marL="0">
                        <a:buNone/>
                      </a:pPr>
                      <a:r>
                        <a:rPr lang="en-US" sz="1050" b="1" dirty="0">
                          <a:solidFill>
                            <a:srgbClr val="52706D"/>
                          </a:solidFill>
                          <a:latin typeface="Calibri" pitchFamily="34" charset="0"/>
                          <a:ea typeface="Calibri" pitchFamily="34" charset="-122"/>
                          <a:cs typeface="Calibri" pitchFamily="34" charset="-120"/>
                        </a:rPr>
                        <a:t>Alasan</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E8F6F5"/>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MAU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want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WANT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Meminta; 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BERHENTI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STOP</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185</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Protes yang tidak punya kata keluar sebagai perilaku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BANTU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help</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HELP</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540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TIDAK</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NOT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Menolak; 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4</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SELESAI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all done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FINISHED</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306</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Menutup kegiatan; 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SAKIT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237</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Pengecualian keselamatan: nyeri keluar sebagai perilaku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AKU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7</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MAKAN</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169</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Kebutuhan dasar; meminta adalah fungsi pertama (Bondy &amp; Frost 1994)</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MINUM</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329</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Idem</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9</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YA</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Pasangan TIDAK; Banajee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LAGI</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more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MORE</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47</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Kedua daftar</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r h="310896">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11</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b="1" dirty="0">
                          <a:solidFill>
                            <a:srgbClr val="026E65"/>
                          </a:solidFill>
                          <a:latin typeface="Calibri" pitchFamily="34" charset="0"/>
                          <a:ea typeface="Calibri" pitchFamily="34" charset="-122"/>
                          <a:cs typeface="Calibri" pitchFamily="34" charset="-120"/>
                        </a:rPr>
                        <a:t>ITU</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that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THAT</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c>
                  <a:txBody>
                    <a:bodyPr/>
                    <a:lstStyle/>
                    <a:p>
                      <a:pPr indent="0" marL="0">
                        <a:buNone/>
                      </a:pPr>
                      <a:r>
                        <a:rPr lang="en-US" sz="1050" dirty="0">
                          <a:solidFill>
                            <a:srgbClr val="172C2A"/>
                          </a:solidFill>
                          <a:latin typeface="Calibri" pitchFamily="34" charset="0"/>
                          <a:ea typeface="Calibri" pitchFamily="34" charset="-122"/>
                          <a:cs typeface="Calibri" pitchFamily="34" charset="-120"/>
                        </a:rPr>
                        <a:t>AKU MAU ITU meminta benda apa pun tanpa kata benda</a:t>
                      </a:r>
                      <a:endParaRPr lang="en-US" sz="1050" dirty="0">
                        <a:latin typeface="Calibri" charset="0"/>
                        <a:ea typeface="Calibri" charset="0"/>
                        <a:cs typeface="Calibri" charset="0"/>
                      </a:endParaRPr>
                    </a:p>
                  </a:txBody>
                  <a:tcPr marL="45720" marR="45720" marT="45720" marB="45720" anchor="ctr">
                    <a:lnL w="9525" cap="flat" cmpd="sng" algn="ctr">
                      <a:solidFill>
                        <a:srgbClr val="DCEEEC"/>
                      </a:solidFill>
                      <a:prstDash val="solid"/>
                      <a:round/>
                      <a:headEnd type="none" w="med" len="med"/>
                      <a:tailEnd type="none" w="med" len="med"/>
                    </a:lnL>
                    <a:lnR w="9525" cap="flat" cmpd="sng" algn="ctr">
                      <a:solidFill>
                        <a:srgbClr val="DCEEEC"/>
                      </a:solidFill>
                      <a:prstDash val="solid"/>
                      <a:round/>
                      <a:headEnd type="none" w="med" len="med"/>
                      <a:tailEnd type="none" w="med" len="med"/>
                    </a:lnR>
                    <a:lnT w="9525" cap="flat" cmpd="sng" algn="ctr">
                      <a:solidFill>
                        <a:srgbClr val="DCEEEC"/>
                      </a:solidFill>
                      <a:prstDash val="solid"/>
                      <a:round/>
                      <a:headEnd type="none" w="med" len="med"/>
                      <a:tailEnd type="none" w="med" len="med"/>
                    </a:lnT>
                    <a:lnB w="9525" cap="flat" cmpd="sng" algn="ctr">
                      <a:solidFill>
                        <a:srgbClr val="DCEE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B · UNTUK Q&amp;A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Batasan yang kami akui, dan apa yang dikerjakan berikutnya</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18</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Sumber: README "Batasan yang kami akui", 03-basis-ilmiah §7–§8, PERUBAHAN.md.</a:t>
            </a:r>
            <a:endParaRPr lang="en-US" sz="850" dirty="0"/>
          </a:p>
        </p:txBody>
      </p:sp>
      <p:sp>
        <p:nvSpPr>
          <p:cNvPr id="9" name="Shape 5"/>
          <p:cNvSpPr/>
          <p:nvPr/>
        </p:nvSpPr>
        <p:spPr>
          <a:xfrm>
            <a:off x="548640" y="1783080"/>
            <a:ext cx="5410048" cy="4114800"/>
          </a:xfrm>
          <a:prstGeom prst="roundRect">
            <a:avLst>
              <a:gd name="adj" fmla="val 2667"/>
            </a:avLst>
          </a:prstGeom>
          <a:solidFill>
            <a:srgbClr val="FFFFFF"/>
          </a:solidFill>
          <a:ln w="9525">
            <a:solidFill>
              <a:srgbClr val="DCEEEC"/>
            </a:solidFill>
            <a:prstDash val="solid"/>
          </a:ln>
        </p:spPr>
      </p:sp>
      <p:sp>
        <p:nvSpPr>
          <p:cNvPr id="10" name="Shape 6"/>
          <p:cNvSpPr/>
          <p:nvPr/>
        </p:nvSpPr>
        <p:spPr>
          <a:xfrm>
            <a:off x="731520" y="1920240"/>
            <a:ext cx="2377440" cy="310896"/>
          </a:xfrm>
          <a:prstGeom prst="roundRect">
            <a:avLst>
              <a:gd name="adj" fmla="val 50000"/>
            </a:avLst>
          </a:prstGeom>
          <a:solidFill>
            <a:srgbClr val="FDE1E2"/>
          </a:solidFill>
          <a:ln w="12700">
            <a:solidFill>
              <a:srgbClr val="FDE1E2"/>
            </a:solidFill>
            <a:prstDash val="solid"/>
          </a:ln>
        </p:spPr>
      </p:sp>
      <p:sp>
        <p:nvSpPr>
          <p:cNvPr id="11" name="Text 7"/>
          <p:cNvSpPr/>
          <p:nvPr/>
        </p:nvSpPr>
        <p:spPr>
          <a:xfrm>
            <a:off x="731520" y="1920240"/>
            <a:ext cx="2377440" cy="310896"/>
          </a:xfrm>
          <a:prstGeom prst="rect">
            <a:avLst/>
          </a:prstGeom>
          <a:noFill/>
          <a:ln/>
        </p:spPr>
        <p:txBody>
          <a:bodyPr wrap="square" lIns="0" tIns="0" rIns="0" bIns="0" rtlCol="0" anchor="ctr"/>
          <a:lstStyle/>
          <a:p>
            <a:pPr algn="ctr" indent="0" marL="0">
              <a:buNone/>
            </a:pPr>
            <a:r>
              <a:rPr lang="en-US" sz="1050" b="1" spc="150" kern="0" dirty="0">
                <a:solidFill>
                  <a:srgbClr val="C23D42"/>
                </a:solidFill>
                <a:latin typeface="Calibri" pitchFamily="34" charset="0"/>
                <a:ea typeface="Calibri" pitchFamily="34" charset="-122"/>
                <a:cs typeface="Calibri" pitchFamily="34" charset="-120"/>
              </a:rPr>
              <a:t>BATASAN SAAT INI</a:t>
            </a:r>
            <a:endParaRPr lang="en-US" sz="1050" dirty="0"/>
          </a:p>
        </p:txBody>
      </p:sp>
      <p:sp>
        <p:nvSpPr>
          <p:cNvPr id="12" name="Text 8"/>
          <p:cNvSpPr/>
          <p:nvPr/>
        </p:nvSpPr>
        <p:spPr>
          <a:xfrm>
            <a:off x="777240" y="2423160"/>
            <a:ext cx="4952848" cy="3383280"/>
          </a:xfrm>
          <a:prstGeom prst="rect">
            <a:avLst/>
          </a:prstGeom>
          <a:noFill/>
          <a:ln/>
        </p:spPr>
        <p:txBody>
          <a:bodyPr wrap="square" lIns="0" tIns="0" rIns="0" bIns="0" rtlCol="0" anchor="t"/>
          <a:lstStyle/>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Server HTTP di jaringan lokal, belum HTTPS</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Token perangkat di shared_preferences tanpa enkripsi</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Belum ada pembatasan laju tebakan kode undangan</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Suara papan klip sintetis, bukan rekaman manusia; tiruan suara disimpan penyedia selama belum dicabut</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Belum diuji di banyak ROM dan HP fisik 2 GB</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Daftar 120 kata belum ditinjau terapis wicara; 21 simbol tim belum diuji pada anak</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Sinkron otomatis hanya saat aplikasi terbuka (belum layanan latar)</a:t>
            </a:r>
            <a:endParaRPr lang="en-US" sz="1400" dirty="0"/>
          </a:p>
        </p:txBody>
      </p:sp>
      <p:sp>
        <p:nvSpPr>
          <p:cNvPr id="13" name="Shape 9"/>
          <p:cNvSpPr/>
          <p:nvPr/>
        </p:nvSpPr>
        <p:spPr>
          <a:xfrm>
            <a:off x="6233008" y="1783080"/>
            <a:ext cx="5410048" cy="4114800"/>
          </a:xfrm>
          <a:prstGeom prst="roundRect">
            <a:avLst>
              <a:gd name="adj" fmla="val 2667"/>
            </a:avLst>
          </a:prstGeom>
          <a:solidFill>
            <a:srgbClr val="FFFFFF"/>
          </a:solidFill>
          <a:ln w="9525">
            <a:solidFill>
              <a:srgbClr val="DCEEEC"/>
            </a:solidFill>
            <a:prstDash val="solid"/>
          </a:ln>
        </p:spPr>
      </p:sp>
      <p:sp>
        <p:nvSpPr>
          <p:cNvPr id="14" name="Shape 10"/>
          <p:cNvSpPr/>
          <p:nvPr/>
        </p:nvSpPr>
        <p:spPr>
          <a:xfrm>
            <a:off x="6415888" y="1920240"/>
            <a:ext cx="2377440" cy="310896"/>
          </a:xfrm>
          <a:prstGeom prst="roundRect">
            <a:avLst>
              <a:gd name="adj" fmla="val 50000"/>
            </a:avLst>
          </a:prstGeom>
          <a:solidFill>
            <a:srgbClr val="DFF6F3"/>
          </a:solidFill>
          <a:ln w="12700">
            <a:solidFill>
              <a:srgbClr val="DFF6F3"/>
            </a:solidFill>
            <a:prstDash val="solid"/>
          </a:ln>
        </p:spPr>
      </p:sp>
      <p:sp>
        <p:nvSpPr>
          <p:cNvPr id="15" name="Text 11"/>
          <p:cNvSpPr/>
          <p:nvPr/>
        </p:nvSpPr>
        <p:spPr>
          <a:xfrm>
            <a:off x="6415888" y="1920240"/>
            <a:ext cx="2377440" cy="310896"/>
          </a:xfrm>
          <a:prstGeom prst="rect">
            <a:avLst/>
          </a:prstGeom>
          <a:noFill/>
          <a:ln/>
        </p:spPr>
        <p:txBody>
          <a:bodyPr wrap="square" lIns="0" tIns="0" rIns="0" bIns="0" rtlCol="0" anchor="ctr"/>
          <a:lstStyle/>
          <a:p>
            <a:pPr algn="ctr" indent="0" marL="0">
              <a:buNone/>
            </a:pPr>
            <a:r>
              <a:rPr lang="en-US" sz="1050" b="1" spc="150" kern="0" dirty="0">
                <a:solidFill>
                  <a:srgbClr val="026E65"/>
                </a:solidFill>
                <a:latin typeface="Calibri" pitchFamily="34" charset="0"/>
                <a:ea typeface="Calibri" pitchFamily="34" charset="-122"/>
                <a:cs typeface="Calibri" pitchFamily="34" charset="-120"/>
              </a:rPr>
              <a:t>BERIKUTNYA</a:t>
            </a:r>
            <a:endParaRPr lang="en-US" sz="1050" dirty="0"/>
          </a:p>
        </p:txBody>
      </p:sp>
      <p:sp>
        <p:nvSpPr>
          <p:cNvPr id="16" name="Text 12"/>
          <p:cNvSpPr/>
          <p:nvPr/>
        </p:nvSpPr>
        <p:spPr>
          <a:xfrm>
            <a:off x="6461608" y="2423160"/>
            <a:ext cx="4952848" cy="3383280"/>
          </a:xfrm>
          <a:prstGeom prst="rect">
            <a:avLst/>
          </a:prstGeom>
          <a:noFill/>
          <a:ln/>
        </p:spPr>
        <p:txBody>
          <a:bodyPr wrap="square" lIns="0" tIns="0" rIns="0" bIns="0" rtlCol="0" anchor="t"/>
          <a:lstStyle/>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Pilot 6 pekan: retensi hari ke-14 ≥ 60% sebagai metrik utama</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Validasi klinis daftar kata dan aturan triase bersama terapis wicara</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HTTPS, enkripsi basis data dan token, rotasi token</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Validasi kata terhadap tuturan anak Indonesia (MPI-EVA Jakarta Child Language Database)</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Klon suara sementara (dihapus sesudah frasa dibuat) untuk menekan biaya dan risiko</a:t>
            </a:r>
            <a:endParaRPr lang="en-US" sz="1400" dirty="0"/>
          </a:p>
          <a:p>
            <a:pPr marL="342900" indent="-342900">
              <a:spcAft>
                <a:spcPts val="1100"/>
              </a:spcAft>
              <a:buSzPct val="100000"/>
              <a:buChar char="•"/>
            </a:pPr>
            <a:r>
              <a:rPr lang="en-US" sz="1400" dirty="0">
                <a:solidFill>
                  <a:srgbClr val="172C2A"/>
                </a:solidFill>
                <a:latin typeface="Calibri" pitchFamily="34" charset="0"/>
                <a:ea typeface="Calibri" pitchFamily="34" charset="-122"/>
                <a:cs typeface="Calibri" pitchFamily="34" charset="-120"/>
              </a:rPr>
              <a:t>Postgres untuk banyak klinik; sinkron latar Android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1FAFA"/>
        </a:solidFill>
      </p:bgPr>
    </p:bg>
    <p:spTree>
      <p:nvGrpSpPr>
        <p:cNvPr id="1" name=""/>
        <p:cNvGrpSpPr/>
        <p:nvPr/>
      </p:nvGrpSpPr>
      <p:grpSpPr>
        <a:xfrm>
          <a:off x="0" y="0"/>
          <a:ext cx="0" cy="0"/>
          <a:chOff x="0" y="0"/>
          <a:chExt cx="0" cy="0"/>
        </a:xfrm>
      </p:grpSpPr>
      <p:sp>
        <p:nvSpPr>
          <p:cNvPr id="2" name="Text 0"/>
          <p:cNvSpPr/>
          <p:nvPr/>
        </p:nvSpPr>
        <p:spPr>
          <a:xfrm>
            <a:off x="548640" y="347472"/>
            <a:ext cx="8229600" cy="274320"/>
          </a:xfrm>
          <a:prstGeom prst="rect">
            <a:avLst/>
          </a:prstGeom>
          <a:noFill/>
          <a:ln/>
        </p:spPr>
        <p:txBody>
          <a:bodyPr wrap="square" lIns="0" tIns="0" rIns="0" bIns="0" rtlCol="0" anchor="ctr"/>
          <a:lstStyle/>
          <a:p>
            <a:pPr indent="0" marL="0">
              <a:buNone/>
            </a:pPr>
            <a:r>
              <a:rPr lang="en-US" sz="1100" b="1" spc="200" kern="0" dirty="0">
                <a:solidFill>
                  <a:srgbClr val="026E65"/>
                </a:solidFill>
                <a:latin typeface="Calibri" pitchFamily="34" charset="0"/>
                <a:ea typeface="Calibri" pitchFamily="34" charset="-122"/>
                <a:cs typeface="Calibri" pitchFamily="34" charset="-120"/>
              </a:rPr>
              <a:t>LAMPIRAN C · UNTUK Q&amp;A</a:t>
            </a:r>
            <a:endParaRPr lang="en-US" sz="1100" dirty="0"/>
          </a:p>
        </p:txBody>
      </p:sp>
      <p:sp>
        <p:nvSpPr>
          <p:cNvPr id="3" name="Text 1"/>
          <p:cNvSpPr/>
          <p:nvPr/>
        </p:nvSpPr>
        <p:spPr>
          <a:xfrm>
            <a:off x="548640" y="621792"/>
            <a:ext cx="10241280" cy="914400"/>
          </a:xfrm>
          <a:prstGeom prst="rect">
            <a:avLst/>
          </a:prstGeom>
          <a:noFill/>
          <a:ln/>
        </p:spPr>
        <p:txBody>
          <a:bodyPr wrap="square" lIns="0" tIns="0" rIns="0" bIns="0" rtlCol="0" anchor="t"/>
          <a:lstStyle/>
          <a:p>
            <a:pPr indent="0" marL="0">
              <a:lnSpc>
                <a:spcPct val="95000"/>
              </a:lnSpc>
              <a:buNone/>
            </a:pPr>
            <a:r>
              <a:rPr lang="en-US" sz="2500" b="1" dirty="0">
                <a:solidFill>
                  <a:srgbClr val="172C2A"/>
                </a:solidFill>
                <a:latin typeface="Trebuchet MS" pitchFamily="34" charset="0"/>
                <a:ea typeface="Trebuchet MS" pitchFamily="34" charset="-122"/>
                <a:cs typeface="Trebuchet MS" pitchFamily="34" charset="-120"/>
              </a:rPr>
              <a:t>Setiap perubahan dari proposal tercatat, beralasan, dan dikaitkan ke masalah inti</a:t>
            </a:r>
            <a:endParaRPr lang="en-US" sz="2500" dirty="0"/>
          </a:p>
        </p:txBody>
      </p:sp>
      <p:pic>
        <p:nvPicPr>
          <p:cNvPr id="4" name="Image 0" descr="C:\Users\mikae\OneDrive\Documents\Lomba\IFEST\Nyambung\app\assets\brand\logo_mark.png">    </p:cNvPr>
          <p:cNvPicPr>
            <a:picLocks noChangeAspect="1"/>
          </p:cNvPicPr>
          <p:nvPr/>
        </p:nvPicPr>
        <p:blipFill>
          <a:blip r:embed="rId1"/>
          <a:stretch>
            <a:fillRect/>
          </a:stretch>
        </p:blipFill>
        <p:spPr>
          <a:xfrm>
            <a:off x="11167567" y="347472"/>
            <a:ext cx="475488" cy="475488"/>
          </a:xfrm>
          <a:prstGeom prst="rect">
            <a:avLst/>
          </a:prstGeom>
        </p:spPr>
      </p:pic>
      <p:sp>
        <p:nvSpPr>
          <p:cNvPr id="5" name="Text 2"/>
          <p:cNvSpPr/>
          <p:nvPr/>
        </p:nvSpPr>
        <p:spPr>
          <a:xfrm>
            <a:off x="548640" y="6382512"/>
            <a:ext cx="1883664" cy="256032"/>
          </a:xfrm>
          <a:prstGeom prst="roundRect">
            <a:avLst>
              <a:gd name="adj" fmla="val 46429"/>
            </a:avLst>
          </a:prstGeom>
          <a:solidFill>
            <a:srgbClr val="098277"/>
          </a:solidFill>
          <a:ln w="9525">
            <a:solidFill>
              <a:srgbClr val="098277"/>
            </a:solid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Lampiran · untuk Q&amp;A</a:t>
            </a:r>
            <a:endParaRPr lang="en-US" sz="950" dirty="0"/>
          </a:p>
        </p:txBody>
      </p:sp>
      <p:sp>
        <p:nvSpPr>
          <p:cNvPr id="6" name="Text 3"/>
          <p:cNvSpPr/>
          <p:nvPr/>
        </p:nvSpPr>
        <p:spPr>
          <a:xfrm>
            <a:off x="11185855" y="6382512"/>
            <a:ext cx="457200" cy="256032"/>
          </a:xfrm>
          <a:prstGeom prst="rect">
            <a:avLst/>
          </a:prstGeom>
          <a:noFill/>
          <a:ln/>
        </p:spPr>
        <p:txBody>
          <a:bodyPr wrap="square" lIns="0" tIns="0" rIns="0" bIns="0" rtlCol="0" anchor="ctr"/>
          <a:lstStyle/>
          <a:p>
            <a:pPr algn="r" indent="0" marL="0">
              <a:buNone/>
            </a:pPr>
            <a:r>
              <a:rPr lang="en-US" sz="1000" dirty="0">
                <a:solidFill>
                  <a:srgbClr val="52706D"/>
                </a:solidFill>
                <a:latin typeface="Calibri" pitchFamily="34" charset="0"/>
                <a:ea typeface="Calibri" pitchFamily="34" charset="-122"/>
                <a:cs typeface="Calibri" pitchFamily="34" charset="-120"/>
              </a:rPr>
              <a:t>19</a:t>
            </a:r>
            <a:endParaRPr lang="en-US" sz="1000" dirty="0"/>
          </a:p>
        </p:txBody>
      </p:sp>
      <p:sp>
        <p:nvSpPr>
          <p:cNvPr id="7" name="Text 4"/>
          <p:cNvSpPr/>
          <p:nvPr/>
        </p:nvSpPr>
        <p:spPr>
          <a:xfrm>
            <a:off x="548640" y="6035040"/>
            <a:ext cx="11094415" cy="274320"/>
          </a:xfrm>
          <a:prstGeom prst="rect">
            <a:avLst/>
          </a:prstGeom>
          <a:noFill/>
          <a:ln/>
        </p:spPr>
        <p:txBody>
          <a:bodyPr wrap="square" lIns="0" tIns="0" rIns="0" bIns="0" rtlCol="0" anchor="b"/>
          <a:lstStyle/>
          <a:p>
            <a:pPr indent="0" marL="0">
              <a:buNone/>
            </a:pPr>
            <a:r>
              <a:rPr lang="en-US" sz="850" i="1" dirty="0">
                <a:solidFill>
                  <a:srgbClr val="52706D"/>
                </a:solidFill>
                <a:latin typeface="Calibri" pitchFamily="34" charset="0"/>
                <a:ea typeface="Calibri" pitchFamily="34" charset="-122"/>
                <a:cs typeface="Calibri" pitchFamily="34" charset="-120"/>
              </a:rPr>
              <a:t>Ringkasan dari PERUBAHAN.md di repositori. Setiap entri memuat: kondisi di proposal · yang diubah · alasan · dampak terhadap masalah inti.</a:t>
            </a:r>
            <a:endParaRPr lang="en-US" sz="850" dirty="0"/>
          </a:p>
        </p:txBody>
      </p:sp>
      <p:sp>
        <p:nvSpPr>
          <p:cNvPr id="9" name="Shape 5"/>
          <p:cNvSpPr/>
          <p:nvPr/>
        </p:nvSpPr>
        <p:spPr>
          <a:xfrm>
            <a:off x="548640" y="1783080"/>
            <a:ext cx="2602154" cy="4114800"/>
          </a:xfrm>
          <a:prstGeom prst="roundRect">
            <a:avLst>
              <a:gd name="adj" fmla="val 4217"/>
            </a:avLst>
          </a:prstGeom>
          <a:solidFill>
            <a:srgbClr val="FFFFFF"/>
          </a:solidFill>
          <a:ln w="9525">
            <a:solidFill>
              <a:srgbClr val="DCEEEC"/>
            </a:solidFill>
            <a:prstDash val="solid"/>
          </a:ln>
        </p:spPr>
      </p:sp>
      <p:sp>
        <p:nvSpPr>
          <p:cNvPr id="10" name="Text 6"/>
          <p:cNvSpPr/>
          <p:nvPr/>
        </p:nvSpPr>
        <p:spPr>
          <a:xfrm>
            <a:off x="749808" y="1920240"/>
            <a:ext cx="2199818" cy="566928"/>
          </a:xfrm>
          <a:prstGeom prst="rect">
            <a:avLst/>
          </a:prstGeom>
          <a:noFill/>
          <a:ln/>
        </p:spPr>
        <p:txBody>
          <a:bodyPr wrap="square" lIns="0" tIns="0" rIns="0" bIns="0" rtlCol="0" anchor="t"/>
          <a:lstStyle/>
          <a:p>
            <a:pPr indent="0" marL="0">
              <a:buNone/>
            </a:pPr>
            <a:r>
              <a:rPr lang="en-US" sz="1450" b="1" dirty="0">
                <a:solidFill>
                  <a:srgbClr val="098277"/>
                </a:solidFill>
                <a:latin typeface="Trebuchet MS" pitchFamily="34" charset="0"/>
                <a:ea typeface="Trebuchet MS" pitchFamily="34" charset="-122"/>
                <a:cs typeface="Trebuchet MS" pitchFamily="34" charset="-120"/>
              </a:rPr>
              <a:t>Ditunda, lalu dibangun</a:t>
            </a:r>
            <a:endParaRPr lang="en-US" sz="1450" dirty="0"/>
          </a:p>
        </p:txBody>
      </p:sp>
      <p:sp>
        <p:nvSpPr>
          <p:cNvPr id="11" name="Text 7"/>
          <p:cNvSpPr/>
          <p:nvPr/>
        </p:nvSpPr>
        <p:spPr>
          <a:xfrm>
            <a:off x="731520"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C2 kelola kosakata</a:t>
            </a:r>
            <a:endParaRPr lang="en-US" sz="1150" dirty="0"/>
          </a:p>
        </p:txBody>
      </p:sp>
      <p:sp>
        <p:nvSpPr>
          <p:cNvPr id="12" name="Text 8"/>
          <p:cNvSpPr/>
          <p:nvPr/>
        </p:nvSpPr>
        <p:spPr>
          <a:xfrm>
            <a:off x="731520"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C4 suara keluarga 12 kata inti</a:t>
            </a:r>
            <a:endParaRPr lang="en-US" sz="1150" dirty="0"/>
          </a:p>
        </p:txBody>
      </p:sp>
      <p:sp>
        <p:nvSpPr>
          <p:cNvPr id="13" name="Text 9"/>
          <p:cNvSpPr/>
          <p:nvPr/>
        </p:nvSpPr>
        <p:spPr>
          <a:xfrm>
            <a:off x="731520"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C3 kartu dari foto</a:t>
            </a:r>
            <a:endParaRPr lang="en-US" sz="1150" dirty="0"/>
          </a:p>
        </p:txBody>
      </p:sp>
      <p:sp>
        <p:nvSpPr>
          <p:cNvPr id="14" name="Shape 10"/>
          <p:cNvSpPr/>
          <p:nvPr/>
        </p:nvSpPr>
        <p:spPr>
          <a:xfrm>
            <a:off x="3379394" y="1783080"/>
            <a:ext cx="2602154" cy="4114800"/>
          </a:xfrm>
          <a:prstGeom prst="roundRect">
            <a:avLst>
              <a:gd name="adj" fmla="val 4217"/>
            </a:avLst>
          </a:prstGeom>
          <a:solidFill>
            <a:srgbClr val="FFFFFF"/>
          </a:solidFill>
          <a:ln w="9525">
            <a:solidFill>
              <a:srgbClr val="DCEEEC"/>
            </a:solidFill>
            <a:prstDash val="solid"/>
          </a:ln>
        </p:spPr>
      </p:sp>
      <p:sp>
        <p:nvSpPr>
          <p:cNvPr id="15" name="Text 11"/>
          <p:cNvSpPr/>
          <p:nvPr/>
        </p:nvSpPr>
        <p:spPr>
          <a:xfrm>
            <a:off x="3580562" y="1920240"/>
            <a:ext cx="2199818" cy="566928"/>
          </a:xfrm>
          <a:prstGeom prst="rect">
            <a:avLst/>
          </a:prstGeom>
          <a:noFill/>
          <a:ln/>
        </p:spPr>
        <p:txBody>
          <a:bodyPr wrap="square" lIns="0" tIns="0" rIns="0" bIns="0" rtlCol="0" anchor="t"/>
          <a:lstStyle/>
          <a:p>
            <a:pPr indent="0" marL="0">
              <a:buNone/>
            </a:pPr>
            <a:r>
              <a:rPr lang="en-US" sz="1450" b="1" dirty="0">
                <a:solidFill>
                  <a:srgbClr val="D34349"/>
                </a:solidFill>
                <a:latin typeface="Trebuchet MS" pitchFamily="34" charset="0"/>
                <a:ea typeface="Trebuchet MS" pitchFamily="34" charset="-122"/>
                <a:cs typeface="Trebuchet MS" pitchFamily="34" charset="-120"/>
              </a:rPr>
              <a:t>Diubah demi masalah inti</a:t>
            </a:r>
            <a:endParaRPr lang="en-US" sz="1450" dirty="0"/>
          </a:p>
        </p:txBody>
      </p:sp>
      <p:sp>
        <p:nvSpPr>
          <p:cNvPr id="16" name="Text 12"/>
          <p:cNvSpPr/>
          <p:nvPr/>
        </p:nvSpPr>
        <p:spPr>
          <a:xfrm>
            <a:off x="3562274"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Suara papan: klip dibundel, bukan TTS perangkat</a:t>
            </a:r>
            <a:endParaRPr lang="en-US" sz="1150" dirty="0"/>
          </a:p>
        </p:txBody>
      </p:sp>
      <p:sp>
        <p:nvSpPr>
          <p:cNvPr id="17" name="Text 13"/>
          <p:cNvSpPr/>
          <p:nvPr/>
        </p:nvSpPr>
        <p:spPr>
          <a:xfrm>
            <a:off x="3562274"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Sinkron otomatis tiap 20 detik</a:t>
            </a:r>
            <a:endParaRPr lang="en-US" sz="1150" dirty="0"/>
          </a:p>
        </p:txBody>
      </p:sp>
      <p:sp>
        <p:nvSpPr>
          <p:cNvPr id="18" name="Text 14"/>
          <p:cNvSpPr/>
          <p:nvPr/>
        </p:nvSpPr>
        <p:spPr>
          <a:xfrm>
            <a:off x="3562274"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Catatan sesi D4 + ringkasan ke keluarga</a:t>
            </a:r>
            <a:endParaRPr lang="en-US" sz="1150" dirty="0"/>
          </a:p>
        </p:txBody>
      </p:sp>
      <p:sp>
        <p:nvSpPr>
          <p:cNvPr id="19" name="Shape 15"/>
          <p:cNvSpPr/>
          <p:nvPr/>
        </p:nvSpPr>
        <p:spPr>
          <a:xfrm>
            <a:off x="6210148" y="1783080"/>
            <a:ext cx="2602154" cy="4114800"/>
          </a:xfrm>
          <a:prstGeom prst="roundRect">
            <a:avLst>
              <a:gd name="adj" fmla="val 4217"/>
            </a:avLst>
          </a:prstGeom>
          <a:solidFill>
            <a:srgbClr val="FFFFFF"/>
          </a:solidFill>
          <a:ln w="9525">
            <a:solidFill>
              <a:srgbClr val="DCEEEC"/>
            </a:solidFill>
            <a:prstDash val="solid"/>
          </a:ln>
        </p:spPr>
      </p:sp>
      <p:sp>
        <p:nvSpPr>
          <p:cNvPr id="20" name="Text 16"/>
          <p:cNvSpPr/>
          <p:nvPr/>
        </p:nvSpPr>
        <p:spPr>
          <a:xfrm>
            <a:off x="6411316" y="1920240"/>
            <a:ext cx="2199818" cy="566928"/>
          </a:xfrm>
          <a:prstGeom prst="rect">
            <a:avLst/>
          </a:prstGeom>
          <a:noFill/>
          <a:ln/>
        </p:spPr>
        <p:txBody>
          <a:bodyPr wrap="square" lIns="0" tIns="0" rIns="0" bIns="0" rtlCol="0" anchor="t"/>
          <a:lstStyle/>
          <a:p>
            <a:pPr indent="0" marL="0">
              <a:buNone/>
            </a:pPr>
            <a:r>
              <a:rPr lang="en-US" sz="1450" b="1" dirty="0">
                <a:solidFill>
                  <a:srgbClr val="5B57A8"/>
                </a:solidFill>
                <a:latin typeface="Trebuchet MS" pitchFamily="34" charset="0"/>
                <a:ea typeface="Trebuchet MS" pitchFamily="34" charset="-122"/>
                <a:cs typeface="Trebuchet MS" pitchFamily="34" charset="-120"/>
              </a:rPr>
              <a:t>Diubah demi kejujuran</a:t>
            </a:r>
            <a:endParaRPr lang="en-US" sz="1450" dirty="0"/>
          </a:p>
        </p:txBody>
      </p:sp>
      <p:sp>
        <p:nvSpPr>
          <p:cNvPr id="21" name="Text 17"/>
          <p:cNvSpPr/>
          <p:nvPr/>
        </p:nvSpPr>
        <p:spPr>
          <a:xfrm>
            <a:off x="6393028"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"Spontan" → "tanpa contoh ≤ 60 dtk"</a:t>
            </a:r>
            <a:endParaRPr lang="en-US" sz="1150" dirty="0"/>
          </a:p>
        </p:txBody>
      </p:sp>
      <p:sp>
        <p:nvSpPr>
          <p:cNvPr id="22" name="Text 18"/>
          <p:cNvSpPr/>
          <p:nvPr/>
        </p:nvSpPr>
        <p:spPr>
          <a:xfrm>
            <a:off x="6393028"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Alasan tertulis untuk "Perlu ditinjau"</a:t>
            </a:r>
            <a:endParaRPr lang="en-US" sz="1150" dirty="0"/>
          </a:p>
        </p:txBody>
      </p:sp>
      <p:sp>
        <p:nvSpPr>
          <p:cNvPr id="23" name="Text 19"/>
          <p:cNvSpPr/>
          <p:nvPr/>
        </p:nvSpPr>
        <p:spPr>
          <a:xfrm>
            <a:off x="6393028"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Waktu tinjauan terapis diukur</a:t>
            </a:r>
            <a:endParaRPr lang="en-US" sz="1150" dirty="0"/>
          </a:p>
        </p:txBody>
      </p:sp>
      <p:sp>
        <p:nvSpPr>
          <p:cNvPr id="24" name="Shape 20"/>
          <p:cNvSpPr/>
          <p:nvPr/>
        </p:nvSpPr>
        <p:spPr>
          <a:xfrm>
            <a:off x="9040901" y="1783080"/>
            <a:ext cx="2602154" cy="4114800"/>
          </a:xfrm>
          <a:prstGeom prst="roundRect">
            <a:avLst>
              <a:gd name="adj" fmla="val 4217"/>
            </a:avLst>
          </a:prstGeom>
          <a:solidFill>
            <a:srgbClr val="FFFFFF"/>
          </a:solidFill>
          <a:ln w="9525">
            <a:solidFill>
              <a:srgbClr val="DCEEEC"/>
            </a:solidFill>
            <a:prstDash val="solid"/>
          </a:ln>
        </p:spPr>
      </p:sp>
      <p:sp>
        <p:nvSpPr>
          <p:cNvPr id="25" name="Text 21"/>
          <p:cNvSpPr/>
          <p:nvPr/>
        </p:nvSpPr>
        <p:spPr>
          <a:xfrm>
            <a:off x="9242069" y="1920240"/>
            <a:ext cx="2199818" cy="566928"/>
          </a:xfrm>
          <a:prstGeom prst="rect">
            <a:avLst/>
          </a:prstGeom>
          <a:noFill/>
          <a:ln/>
        </p:spPr>
        <p:txBody>
          <a:bodyPr wrap="square" lIns="0" tIns="0" rIns="0" bIns="0" rtlCol="0" anchor="t"/>
          <a:lstStyle/>
          <a:p>
            <a:pPr indent="0" marL="0">
              <a:buNone/>
            </a:pPr>
            <a:r>
              <a:rPr lang="en-US" sz="1450" b="1" dirty="0">
                <a:solidFill>
                  <a:srgbClr val="8A5B0A"/>
                </a:solidFill>
                <a:latin typeface="Trebuchet MS" pitchFamily="34" charset="0"/>
                <a:ea typeface="Trebuchet MS" pitchFamily="34" charset="-122"/>
                <a:cs typeface="Trebuchet MS" pitchFamily="34" charset="-120"/>
              </a:rPr>
              <a:t>Ditambah untuk keluarga</a:t>
            </a:r>
            <a:endParaRPr lang="en-US" sz="1450" dirty="0"/>
          </a:p>
        </p:txBody>
      </p:sp>
      <p:sp>
        <p:nvSpPr>
          <p:cNvPr id="26" name="Text 22"/>
          <p:cNvSpPr/>
          <p:nvPr/>
        </p:nvSpPr>
        <p:spPr>
          <a:xfrm>
            <a:off x="9223781" y="248716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Papan dari foto (visual scene)</a:t>
            </a:r>
            <a:endParaRPr lang="en-US" sz="1150" dirty="0"/>
          </a:p>
        </p:txBody>
      </p:sp>
      <p:sp>
        <p:nvSpPr>
          <p:cNvPr id="27" name="Text 23"/>
          <p:cNvSpPr/>
          <p:nvPr/>
        </p:nvSpPr>
        <p:spPr>
          <a:xfrm>
            <a:off x="9223781" y="358444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Frasa bersuara dan tiruan suara dengan persetujuan</a:t>
            </a:r>
            <a:endParaRPr lang="en-US" sz="1150" dirty="0"/>
          </a:p>
        </p:txBody>
      </p:sp>
      <p:sp>
        <p:nvSpPr>
          <p:cNvPr id="28" name="Text 24"/>
          <p:cNvSpPr/>
          <p:nvPr/>
        </p:nvSpPr>
        <p:spPr>
          <a:xfrm>
            <a:off x="9223781" y="4681728"/>
            <a:ext cx="2236394" cy="914400"/>
          </a:xfrm>
          <a:prstGeom prst="roundRect">
            <a:avLst>
              <a:gd name="adj" fmla="val 8000"/>
            </a:avLst>
          </a:prstGeom>
          <a:solidFill>
            <a:srgbClr val="F1FAFA"/>
          </a:solidFill>
          <a:ln w="9525">
            <a:solidFill>
              <a:srgbClr val="DCEEEC"/>
            </a:solidFill>
          </a:ln>
        </p:spPr>
        <p:txBody>
          <a:bodyPr wrap="square" lIns="101600" tIns="101600" rIns="101600" bIns="101600" rtlCol="0" anchor="ctr"/>
          <a:lstStyle/>
          <a:p>
            <a:pPr indent="0" marL="0">
              <a:buNone/>
            </a:pPr>
            <a:r>
              <a:rPr lang="en-US" sz="1150" dirty="0">
                <a:solidFill>
                  <a:srgbClr val="172C2A"/>
                </a:solidFill>
                <a:latin typeface="Calibri" pitchFamily="34" charset="0"/>
                <a:ea typeface="Calibri" pitchFamily="34" charset="-122"/>
                <a:cs typeface="Calibri" pitchFamily="34" charset="-120"/>
              </a:rPr>
              <a:t>Layar anak / orang tua dengan PIN</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Nyambung — Pitch Deck IFEST 2026</dc:title>
  <dc:subject>PptxGenJS Presentation</dc:subject>
  <dc:creator>Teen Tensors</dc:creator>
  <cp:lastModifiedBy>Teen Tensors</cp:lastModifiedBy>
  <cp:revision>1</cp:revision>
  <dcterms:created xsi:type="dcterms:W3CDTF">2026-09-18T18:02:32Z</dcterms:created>
  <dcterms:modified xsi:type="dcterms:W3CDTF">2026-09-18T18:02:32Z</dcterms:modified>
</cp:coreProperties>
</file>