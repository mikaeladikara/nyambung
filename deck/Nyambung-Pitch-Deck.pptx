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0:30–0:55 (25 dtk)
Datanya jelas. 25 sampai 30 persen anak autis tetap minimally verbal setelah usia lima tahun.
Teknologinya sebenarnya sudah ada: AAC, papan simbol yang bisa bersuara. Tapi 29,3 persen alat bantu ditinggalkan sepenuhnya, paling banyak di tahun pertama.
Dan menurut survei 275 terapis wicara, penyebabnya kurang pelatihan dan kurang dukungan, bukan anaknya.
Jadi masalahnya bukan di papan. Keluarga tidak pernah diajari 'bicara balik' dengan papan itu, dan terapis tidak tahu apa yang terjadi di rumah di antara sesi.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0:55–1:12 (17 dtk)
Solusi yang ada sudah kuat di bagiannya masing-masing. BerKata membawa AAC ke Bahasa Indonesia. Jellow gratis dan luring. Avaz matang di kustomisasi dan materi pendamping. CoughDrop punya laporan dan kolaborasi tim.
Kami belum menemukan satu alur yang menyatukan semuanya untuk keluarga Indonesia.
Celahnya bukan di satu fitur. Celahnya ada di antara fitur.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1:12–1:22 (10 dtk) — reveal logo
Maka kami membangun Nyambung: AAC luring-pertama yang menyambungkan anak, keluarga, dan terapis dalam satu loop.
Bukan hanya memberi anak suara, tapi memastikan suaranya sampai, dipahami, dan kembali menjadi intervensi.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1:22–1:47 (25 dtk) — DEMO: HP sudah mode pesawat. Tekan AKU → MAU → MINUM, biarkan suaranya keluar.
HP ini tidak punya internet. Kalau anak butuh sinyal untuk bilang 'aku sakit', sistemnya belum aksesibel. Di Nyambung, luring adalah keadaan normal.
Dua belas kata inti ini dipilih dari literatur kata inti, dan posisinya tidak pernah pindah di halaman mana pun, karena anak menghafal gerakan tangan, bukan letak tulisan.
Suaranya punya dua lapis: suara papan yang sama di setiap HP, dan suara Ibu atau Ayah yang direkam untuk dua belas kata inti. Rekaman itu tidak pernah keluar dari HP. Suara sintetis yang personal adalah roadmap kami, bukan klaim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1:47–1:59 (12 dtk)
Semua aset kami punya asal yang jelas. Simbolnya dari Mulberry Symbols karya Steve Lee, berlisensi terbuka CC BY-SA 4.0, digambar desainer dan ditinjau terapis wicara.
Kata yang tidak punya padanan jujur di Mulberry kami gambar sendiri dengan gaya yang sama. Suara papan dibuat sekali dan diberi label suara buatan AI. Semua tercatat, lengkap dengan hash-nya.
Q&amp;A: Mulberry dirancang untuk pengguna dewasa; kecocokannya untuk anak Indonesia bagian dari pilot. 35 simbol tim belum selesai digambar, sementara tampil sebagai huruf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1:59–2:19 (20 dtk) — DEMO: pindah ke beranda orang tua. Tunjukkan kartu "Tekan MAU lima kali saat makan", buka papan bersama, tekan MAU dua kali di giliran pendamping, kembali: 2 dari 5. Tunjuk dua tombol setara.
Yang perlu belajar bukan hanya anak. Lingkungannya juga.
Setiap hari orang tua mendapat satu pelajaran 60 detik dan satu misi di bawah lima menit yang menempel pada rutinitas. Penghitungnya terisi sendiri dari ketukan, tanpa jurnal.
'Selesai' dan 'Belum sempat hari ini' sama nilainya. Tanpa streak, tanpa rasa bersalah, tanpa formulir.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2:19–2:37 (18 dtk)
Desain misinya tidak kami karang. Intervensi yang dijalankan orang tua dan intervensi yang disisipkan di rutinitas termasuk praktik berbasis bukti untuk autisme menurut tinjauan 972 studi.
Uji acak pada 82 balita menunjukkan pelatihan orang tua di kegiatan sehari-hari meningkatkan komunikasi sosial.
Dan kenapa tanpa streak: riset kebiasaan menunjukkan melewatkan satu hari tidak merusak pembentukan kebiasaan. Yang belum teruji, seperti pelajaran 60 detik, kami tandai dan uji di pilot.
Q&amp;A: tingkat A = RCT/meta-analisis/tinjauan sistematis; Gollwitzer, Lally, dan Keller dari populasi umum, bukan khusus orang tua anak autis. Kebiasaan butuh median 59–66 hari, jadi retensi hari ke-14 hanya sinyal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2:37–2:57 (20 dtk) — DEMO: matikan mode pesawat. Jangan tekan apa pun. Bicara sambil menunggu (sinkron otomatis tiap 20 detik selama aplikasi terbuka).
Sekarang saya nyalakan internetnya, dan saya tidak menekan tombol kirim.
Ini bisa terjadi karena arsitekturnya local-first. Setiap ketukan ditulis ke log yang tidak bisa diubah, bersama antrean kirimnya, dalam satu transaksi. HP mati di tengah jalan pun datanya tidak hilang.
Saat dikirim ulang, server mengenali ID peristiwa yang sama, jadi tidak ada data ganda. Kami sudah menguji ini dengan mematikan proses secara paksa: hasilnya identik.
Bagi pengguna kami, koneksi putus bukan kasus pinggiran. Itu syarat desain.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2:57–3:24 (27 dtk) — DEMO: buka dasbor di laptop (D1). Tunjuk badge Perlu ditinjau dan alasannya. Masuk D3, usulkan BERHENTI, kirim. Di HP: kartu usulan → Terima.
Ketukan tadi sudah sampai. Tapi kalau kami hanya melempar ratusan data, bebannya cuma pindah ke terapis.
Jadi dasbor menandai anak yang perlu ditinjau, selalu dengan alasannya: kata berbeda turun, misi jarang, atau lama tidak sinkron. Aturannya tetap dan bisa diperiksa. Bukan 'kata AI'; keputusan klinis tetap di tangan terapis.
Terapis lalu mengusulkan kata baru. Di HP, keluarga memilih Terima atau Tolak, tanpa perlu alasan.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3:24–3:39 (15 dtk)
Kami tidak mengklaim Nyambung sudah terbukti efektif; kami merakit praktik yang sudah terbukti.
Kami juga meminta pendapat [A], Ketua Umum FORMAPI Universitas Brawijaya, yang berpengalaman mendampingi anak berkebutuhan khusus: '[kutipan singkat asli dari A]'.
Validasi klinis bersama terapis wicara adalah bagian dari pilot kami.
PENTING: A adalah praktisi pendamping ABK, bukan terapis wicara. Sebut "masukan praktisi", jangan "validasi klinis". Isi nama dan kutipan asli; jangan mengarang.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3:39–4:06 (27 dtk)
Apakah layak? Ini sudah berjalan, dibangun dalam 24 jam: APK rilis 18 MB untuk Android 8 dengan RAM 2 GB, dan 78 tes otomatis lulus.
Bagi keluarga, biayanya nol rupiah: tanpa kuota untuk bicara, simbol berlisensi terbuka, dan suara 120 kata dibuat sekali dengan biaya di bawah 20 sen dolar.
Rencana kami: pilot enam pekan bersama satu terapis wicara, lalu tumbuh lewat terapis, karena setiap kode undangan terapis adalah pintu masuk satu keluarga.
Batasannya kami tulis terbuka: belum HTTPS, dan [belum diuji di HP fisik 2 GB — perbarui bila sudah].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4:06–4:34 (28 dtk)
Dampaknya kami ukur dengan jujur. Masalah intinya alat ditinggalkan, jadi metrik utama pilot adalah retensi hari ke-14, minimal 60 persen.
Pendukungnya: hari misi terlaksana, usulan yang dijawab keluarga, dan waktu tinjauan terapis per anak, yang diukur otomatis di dasbor. Jumlah kata kami baca sebagai pola pemakaian, bukan nilai kemampuan anak.
Kalau tinjauan cukup lima menit per anak, satu jam terapis bisa memantau dua belas keluarga. Itu asumsi, dan pilot yang akan mengujinya.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4:34–4:48 (14 dtk) — tahan 2 detik di akhir.
Nyambung bukan sekadar papan bicara. Kami menyambungkan suara anak, kapasitas keluarga, dan keahlian terapis.
Karena hubungan antarmanusia tidak dimulai saat seseorang bisa bicara. Hubungan dimulai saat ia bisa dipahami.
Anak. Keluarga. Terapis. Nyambung.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Q&amp;A: "Kenapa kata-kata ini?" 9 dari 12 kata ada di Banajee atau Project Core, 7 di keduanya. Tiga pengecualian (SAKIT, MAKAN, MINUM) beralasan tertulis. Tidak ada kata benda di halaman inti; IBU/AYAH ada di halaman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Metrik juri menilai kejujuran terhadap batasan sistem. Yang belum ada, sebut belum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Metrik 1 menilai justifikasi perubahan di PERUBAHAN.md. Tunjukkan bahwa perubahan dicatat saat itu juga, termasuk yang ditunda lalu akhirnya dibangun.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1.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MASALAH</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Papan bicaranya bisa diberikan. Yang sering tidak ada: orang yang dilatih menjawabnya.</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1</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Sumber: Tager-Flusberg &amp; Kasari (2013), Autism Research · Phillips &amp; Zhao (1993), Assistive Technology · Johnson, Inglebret, Jones &amp; Ray (2006), AAC.</a:t>
            </a:r>
            <a:endParaRPr lang="en-US" sz="850" dirty="0"/>
          </a:p>
        </p:txBody>
      </p:sp>
      <p:sp>
        <p:nvSpPr>
          <p:cNvPr id="12" name="Shape 8"/>
          <p:cNvSpPr/>
          <p:nvPr/>
        </p:nvSpPr>
        <p:spPr>
          <a:xfrm>
            <a:off x="548640" y="1783080"/>
            <a:ext cx="6720840" cy="1261872"/>
          </a:xfrm>
          <a:prstGeom prst="roundRect">
            <a:avLst>
              <a:gd name="adj" fmla="val 8696"/>
            </a:avLst>
          </a:prstGeom>
          <a:solidFill>
            <a:srgbClr val="FFFFFF"/>
          </a:solidFill>
          <a:ln w="9525">
            <a:solidFill>
              <a:srgbClr val="DCEEEC"/>
            </a:solidFill>
            <a:prstDash val="solid"/>
          </a:ln>
        </p:spPr>
      </p:sp>
      <p:sp>
        <p:nvSpPr>
          <p:cNvPr id="13" name="Text 9"/>
          <p:cNvSpPr/>
          <p:nvPr/>
        </p:nvSpPr>
        <p:spPr>
          <a:xfrm>
            <a:off x="777240" y="1783080"/>
            <a:ext cx="2148840" cy="1261872"/>
          </a:xfrm>
          <a:prstGeom prst="rect">
            <a:avLst/>
          </a:prstGeom>
          <a:noFill/>
          <a:ln/>
        </p:spPr>
        <p:txBody>
          <a:bodyPr wrap="square" lIns="0" tIns="0" rIns="0" bIns="0" rtlCol="0" anchor="ctr"/>
          <a:lstStyle/>
          <a:p>
            <a:pPr indent="0" marL="0">
              <a:buNone/>
            </a:pPr>
            <a:r>
              <a:rPr lang="en-US" sz="3800" b="1" dirty="0">
                <a:solidFill>
                  <a:srgbClr val="098277"/>
                </a:solidFill>
                <a:latin typeface="Trebuchet MS" pitchFamily="34" charset="0"/>
                <a:ea typeface="Trebuchet MS" pitchFamily="34" charset="-122"/>
                <a:cs typeface="Trebuchet MS" pitchFamily="34" charset="-120"/>
              </a:rPr>
              <a:t>25–30%</a:t>
            </a:r>
            <a:endParaRPr lang="en-US" sz="3800" dirty="0"/>
          </a:p>
        </p:txBody>
      </p:sp>
      <p:sp>
        <p:nvSpPr>
          <p:cNvPr id="14" name="Text 10"/>
          <p:cNvSpPr/>
          <p:nvPr/>
        </p:nvSpPr>
        <p:spPr>
          <a:xfrm>
            <a:off x="2971800" y="1892808"/>
            <a:ext cx="4114800" cy="1042416"/>
          </a:xfrm>
          <a:prstGeom prst="rect">
            <a:avLst/>
          </a:prstGeom>
          <a:noFill/>
          <a:ln/>
        </p:spPr>
        <p:txBody>
          <a:bodyPr wrap="square" lIns="0" tIns="0" rIns="0" bIns="0" rtlCol="0" anchor="ctr"/>
          <a:lstStyle/>
          <a:p>
            <a:pPr indent="0" marL="0">
              <a:spcAft>
                <a:spcPts val="400"/>
              </a:spcAft>
              <a:buNone/>
            </a:pPr>
            <a:r>
              <a:rPr lang="en-US" sz="1600" b="1" dirty="0">
                <a:solidFill>
                  <a:srgbClr val="172C2A"/>
                </a:solidFill>
                <a:latin typeface="Calibri" pitchFamily="34" charset="0"/>
                <a:ea typeface="Calibri" pitchFamily="34" charset="-122"/>
                <a:cs typeface="Calibri" pitchFamily="34" charset="-120"/>
              </a:rPr>
              <a:t>anak autis tetap minimally verbal setelah usia 5 tahun</a:t>
            </a:r>
            <a:endParaRPr lang="en-US" sz="1600" dirty="0"/>
          </a:p>
          <a:p>
            <a:pPr indent="0" marL="0">
              <a:spcAft>
                <a:spcPts val="400"/>
              </a:spcAft>
              <a:buNone/>
            </a:pPr>
            <a:r>
              <a:rPr lang="en-US" sz="1050" dirty="0">
                <a:solidFill>
                  <a:srgbClr val="52706D"/>
                </a:solidFill>
                <a:latin typeface="Calibri" pitchFamily="34" charset="0"/>
                <a:ea typeface="Calibri" pitchFamily="34" charset="-122"/>
                <a:cs typeface="Calibri" pitchFamily="34" charset="-120"/>
              </a:rPr>
              <a:t>Tager-Flusberg &amp; Kasari, 2013</a:t>
            </a:r>
            <a:endParaRPr lang="en-US" sz="1600" dirty="0"/>
          </a:p>
        </p:txBody>
      </p:sp>
      <p:sp>
        <p:nvSpPr>
          <p:cNvPr id="15" name="Shape 11"/>
          <p:cNvSpPr/>
          <p:nvPr/>
        </p:nvSpPr>
        <p:spPr>
          <a:xfrm>
            <a:off x="548640" y="3209544"/>
            <a:ext cx="6720840" cy="1261872"/>
          </a:xfrm>
          <a:prstGeom prst="roundRect">
            <a:avLst>
              <a:gd name="adj" fmla="val 8696"/>
            </a:avLst>
          </a:prstGeom>
          <a:solidFill>
            <a:srgbClr val="FFFFFF"/>
          </a:solidFill>
          <a:ln w="9525">
            <a:solidFill>
              <a:srgbClr val="DCEEEC"/>
            </a:solidFill>
            <a:prstDash val="solid"/>
          </a:ln>
        </p:spPr>
      </p:sp>
      <p:sp>
        <p:nvSpPr>
          <p:cNvPr id="16" name="Text 12"/>
          <p:cNvSpPr/>
          <p:nvPr/>
        </p:nvSpPr>
        <p:spPr>
          <a:xfrm>
            <a:off x="777240" y="3209544"/>
            <a:ext cx="2148840" cy="1261872"/>
          </a:xfrm>
          <a:prstGeom prst="rect">
            <a:avLst/>
          </a:prstGeom>
          <a:noFill/>
          <a:ln/>
        </p:spPr>
        <p:txBody>
          <a:bodyPr wrap="square" lIns="0" tIns="0" rIns="0" bIns="0" rtlCol="0" anchor="ctr"/>
          <a:lstStyle/>
          <a:p>
            <a:pPr indent="0" marL="0">
              <a:buNone/>
            </a:pPr>
            <a:r>
              <a:rPr lang="en-US" sz="3800" b="1" dirty="0">
                <a:solidFill>
                  <a:srgbClr val="D34349"/>
                </a:solidFill>
                <a:latin typeface="Trebuchet MS" pitchFamily="34" charset="0"/>
                <a:ea typeface="Trebuchet MS" pitchFamily="34" charset="-122"/>
                <a:cs typeface="Trebuchet MS" pitchFamily="34" charset="-120"/>
              </a:rPr>
              <a:t>29,3%</a:t>
            </a:r>
            <a:endParaRPr lang="en-US" sz="3800" dirty="0"/>
          </a:p>
        </p:txBody>
      </p:sp>
      <p:sp>
        <p:nvSpPr>
          <p:cNvPr id="17" name="Text 13"/>
          <p:cNvSpPr/>
          <p:nvPr/>
        </p:nvSpPr>
        <p:spPr>
          <a:xfrm>
            <a:off x="2971800" y="3319272"/>
            <a:ext cx="4114800" cy="1042416"/>
          </a:xfrm>
          <a:prstGeom prst="rect">
            <a:avLst/>
          </a:prstGeom>
          <a:noFill/>
          <a:ln/>
        </p:spPr>
        <p:txBody>
          <a:bodyPr wrap="square" lIns="0" tIns="0" rIns="0" bIns="0" rtlCol="0" anchor="ctr"/>
          <a:lstStyle/>
          <a:p>
            <a:pPr indent="0" marL="0">
              <a:spcAft>
                <a:spcPts val="400"/>
              </a:spcAft>
              <a:buNone/>
            </a:pPr>
            <a:r>
              <a:rPr lang="en-US" sz="1600" b="1" dirty="0">
                <a:solidFill>
                  <a:srgbClr val="172C2A"/>
                </a:solidFill>
                <a:latin typeface="Calibri" pitchFamily="34" charset="0"/>
                <a:ea typeface="Calibri" pitchFamily="34" charset="-122"/>
                <a:cs typeface="Calibri" pitchFamily="34" charset="-120"/>
              </a:rPr>
              <a:t>alat bantu ditinggalkan sepenuhnya, terbanyak di tahun pertama</a:t>
            </a:r>
            <a:endParaRPr lang="en-US" sz="1600" dirty="0"/>
          </a:p>
          <a:p>
            <a:pPr indent="0" marL="0">
              <a:spcAft>
                <a:spcPts val="400"/>
              </a:spcAft>
              <a:buNone/>
            </a:pPr>
            <a:r>
              <a:rPr lang="en-US" sz="1050" dirty="0">
                <a:solidFill>
                  <a:srgbClr val="52706D"/>
                </a:solidFill>
                <a:latin typeface="Calibri" pitchFamily="34" charset="0"/>
                <a:ea typeface="Calibri" pitchFamily="34" charset="-122"/>
                <a:cs typeface="Calibri" pitchFamily="34" charset="-120"/>
              </a:rPr>
              <a:t>Phillips &amp; Zhao, 1993 · 227 responden</a:t>
            </a:r>
            <a:endParaRPr lang="en-US" sz="1600" dirty="0"/>
          </a:p>
        </p:txBody>
      </p:sp>
      <p:sp>
        <p:nvSpPr>
          <p:cNvPr id="18" name="Shape 14"/>
          <p:cNvSpPr/>
          <p:nvPr/>
        </p:nvSpPr>
        <p:spPr>
          <a:xfrm>
            <a:off x="548640" y="4636008"/>
            <a:ext cx="6720840" cy="1261872"/>
          </a:xfrm>
          <a:prstGeom prst="roundRect">
            <a:avLst>
              <a:gd name="adj" fmla="val 8696"/>
            </a:avLst>
          </a:prstGeom>
          <a:solidFill>
            <a:srgbClr val="FFFFFF"/>
          </a:solidFill>
          <a:ln w="9525">
            <a:solidFill>
              <a:srgbClr val="DCEEEC"/>
            </a:solidFill>
            <a:prstDash val="solid"/>
          </a:ln>
        </p:spPr>
      </p:sp>
      <p:sp>
        <p:nvSpPr>
          <p:cNvPr id="19" name="Text 15"/>
          <p:cNvSpPr/>
          <p:nvPr/>
        </p:nvSpPr>
        <p:spPr>
          <a:xfrm>
            <a:off x="777240" y="4636008"/>
            <a:ext cx="2148840" cy="1261872"/>
          </a:xfrm>
          <a:prstGeom prst="rect">
            <a:avLst/>
          </a:prstGeom>
          <a:noFill/>
          <a:ln/>
        </p:spPr>
        <p:txBody>
          <a:bodyPr wrap="square" lIns="0" tIns="0" rIns="0" bIns="0" rtlCol="0" anchor="ctr"/>
          <a:lstStyle/>
          <a:p>
            <a:pPr indent="0" marL="0">
              <a:buNone/>
            </a:pPr>
            <a:r>
              <a:rPr lang="en-US" sz="3800" b="1" dirty="0">
                <a:solidFill>
                  <a:srgbClr val="8A5B0A"/>
                </a:solidFill>
                <a:latin typeface="Trebuchet MS" pitchFamily="34" charset="0"/>
                <a:ea typeface="Trebuchet MS" pitchFamily="34" charset="-122"/>
                <a:cs typeface="Trebuchet MS" pitchFamily="34" charset="-120"/>
              </a:rPr>
              <a:t>275</a:t>
            </a:r>
            <a:endParaRPr lang="en-US" sz="3800" dirty="0"/>
          </a:p>
        </p:txBody>
      </p:sp>
      <p:sp>
        <p:nvSpPr>
          <p:cNvPr id="20" name="Text 16"/>
          <p:cNvSpPr/>
          <p:nvPr/>
        </p:nvSpPr>
        <p:spPr>
          <a:xfrm>
            <a:off x="2971800" y="4745736"/>
            <a:ext cx="4114800" cy="1042416"/>
          </a:xfrm>
          <a:prstGeom prst="rect">
            <a:avLst/>
          </a:prstGeom>
          <a:noFill/>
          <a:ln/>
        </p:spPr>
        <p:txBody>
          <a:bodyPr wrap="square" lIns="0" tIns="0" rIns="0" bIns="0" rtlCol="0" anchor="ctr"/>
          <a:lstStyle/>
          <a:p>
            <a:pPr indent="0" marL="0">
              <a:spcAft>
                <a:spcPts val="400"/>
              </a:spcAft>
              <a:buNone/>
            </a:pPr>
            <a:r>
              <a:rPr lang="en-US" sz="1600" b="1" dirty="0">
                <a:solidFill>
                  <a:srgbClr val="172C2A"/>
                </a:solidFill>
                <a:latin typeface="Calibri" pitchFamily="34" charset="0"/>
                <a:ea typeface="Calibri" pitchFamily="34" charset="-122"/>
                <a:cs typeface="Calibri" pitchFamily="34" charset="-120"/>
              </a:rPr>
              <a:t>terapis wicara menyebut kurang pelatihan dan kurang dukungan sebagai penyebab AAC ditinggalkan</a:t>
            </a:r>
            <a:endParaRPr lang="en-US" sz="1600" dirty="0"/>
          </a:p>
          <a:p>
            <a:pPr indent="0" marL="0">
              <a:spcAft>
                <a:spcPts val="400"/>
              </a:spcAft>
              <a:buNone/>
            </a:pPr>
            <a:r>
              <a:rPr lang="en-US" sz="1050" dirty="0">
                <a:solidFill>
                  <a:srgbClr val="52706D"/>
                </a:solidFill>
                <a:latin typeface="Calibri" pitchFamily="34" charset="0"/>
                <a:ea typeface="Calibri" pitchFamily="34" charset="-122"/>
                <a:cs typeface="Calibri" pitchFamily="34" charset="-120"/>
              </a:rPr>
              <a:t>Johnson, Inglebret, Jones &amp; Ray, 2006 · survei</a:t>
            </a:r>
            <a:endParaRPr lang="en-US" sz="1600" dirty="0"/>
          </a:p>
        </p:txBody>
      </p:sp>
      <p:sp>
        <p:nvSpPr>
          <p:cNvPr id="21" name="Shape 17"/>
          <p:cNvSpPr/>
          <p:nvPr/>
        </p:nvSpPr>
        <p:spPr>
          <a:xfrm>
            <a:off x="7589520" y="1783080"/>
            <a:ext cx="4053535" cy="4114800"/>
          </a:xfrm>
          <a:prstGeom prst="roundRect">
            <a:avLst>
              <a:gd name="adj" fmla="val 3158"/>
            </a:avLst>
          </a:prstGeom>
          <a:solidFill>
            <a:srgbClr val="098277"/>
          </a:solidFill>
          <a:ln w="12700">
            <a:solidFill>
              <a:srgbClr val="098277"/>
            </a:solidFill>
            <a:prstDash val="solid"/>
          </a:ln>
        </p:spPr>
      </p:sp>
      <p:sp>
        <p:nvSpPr>
          <p:cNvPr id="22" name="Text 18"/>
          <p:cNvSpPr/>
          <p:nvPr/>
        </p:nvSpPr>
        <p:spPr>
          <a:xfrm>
            <a:off x="7863840" y="1938528"/>
            <a:ext cx="3504895" cy="274320"/>
          </a:xfrm>
          <a:prstGeom prst="rect">
            <a:avLst/>
          </a:prstGeom>
          <a:noFill/>
          <a:ln/>
        </p:spPr>
        <p:txBody>
          <a:bodyPr wrap="square" lIns="0" tIns="0" rIns="0" bIns="0" rtlCol="0" anchor="ctr"/>
          <a:lstStyle/>
          <a:p>
            <a:pPr indent="0" marL="0">
              <a:buNone/>
            </a:pPr>
            <a:r>
              <a:rPr lang="en-US" sz="1050" b="1" spc="200" kern="0" dirty="0">
                <a:solidFill>
                  <a:srgbClr val="A0DDD7"/>
                </a:solidFill>
                <a:latin typeface="Calibri" pitchFamily="34" charset="0"/>
                <a:ea typeface="Calibri" pitchFamily="34" charset="-122"/>
                <a:cs typeface="Calibri" pitchFamily="34" charset="-120"/>
              </a:rPr>
              <a:t>AKAR MASALAH</a:t>
            </a:r>
            <a:endParaRPr lang="en-US" sz="1050" dirty="0"/>
          </a:p>
        </p:txBody>
      </p:sp>
      <p:sp>
        <p:nvSpPr>
          <p:cNvPr id="23" name="Text 19"/>
          <p:cNvSpPr/>
          <p:nvPr/>
        </p:nvSpPr>
        <p:spPr>
          <a:xfrm>
            <a:off x="7863840" y="2286000"/>
            <a:ext cx="3504895" cy="512064"/>
          </a:xfrm>
          <a:prstGeom prst="roundRect">
            <a:avLst>
              <a:gd name="adj" fmla="val 14286"/>
            </a:avLst>
          </a:prstGeom>
          <a:solidFill>
            <a:srgbClr val="DFF6F3"/>
          </a:solidFill>
          <a:ln>
            <a:solidFill>
              <a:srgbClr val="DFF6F3"/>
            </a:solidFill>
          </a:ln>
        </p:spPr>
        <p:txBody>
          <a:bodyPr wrap="square" lIns="76200" tIns="76200" rIns="76200" bIns="76200" rtlCol="0" anchor="ctr"/>
          <a:lstStyle/>
          <a:p>
            <a:pPr indent="0" marL="0">
              <a:buNone/>
            </a:pPr>
            <a:r>
              <a:rPr lang="en-US" sz="1250" b="1" dirty="0">
                <a:solidFill>
                  <a:srgbClr val="172C2A"/>
                </a:solidFill>
                <a:latin typeface="Calibri" pitchFamily="34" charset="0"/>
                <a:ea typeface="Calibri" pitchFamily="34" charset="-122"/>
                <a:cs typeface="Calibri" pitchFamily="34" charset="-120"/>
              </a:rPr>
              <a:t>Anak diberi papan AAC</a:t>
            </a:r>
            <a:endParaRPr lang="en-US" sz="1250" dirty="0"/>
          </a:p>
        </p:txBody>
      </p:sp>
      <p:sp>
        <p:nvSpPr>
          <p:cNvPr id="24" name="Text 20"/>
          <p:cNvSpPr/>
          <p:nvPr/>
        </p:nvSpPr>
        <p:spPr>
          <a:xfrm>
            <a:off x="7863840" y="2798064"/>
            <a:ext cx="3504895" cy="201168"/>
          </a:xfrm>
          <a:prstGeom prst="rect">
            <a:avLst/>
          </a:prstGeom>
          <a:noFill/>
          <a:ln/>
        </p:spPr>
        <p:txBody>
          <a:bodyPr wrap="square" lIns="0" tIns="0" rIns="0" bIns="0" rtlCol="0" anchor="ctr"/>
          <a:lstStyle/>
          <a:p>
            <a:pPr algn="ctr" indent="0" marL="0">
              <a:buNone/>
            </a:pPr>
            <a:r>
              <a:rPr lang="en-US" sz="1200" b="1" dirty="0">
                <a:solidFill>
                  <a:srgbClr val="A0DDD7"/>
                </a:solidFill>
                <a:latin typeface="Calibri" pitchFamily="34" charset="0"/>
                <a:ea typeface="Calibri" pitchFamily="34" charset="-122"/>
                <a:cs typeface="Calibri" pitchFamily="34" charset="-120"/>
              </a:rPr>
              <a:t>↓</a:t>
            </a:r>
            <a:endParaRPr lang="en-US" sz="1200" dirty="0"/>
          </a:p>
        </p:txBody>
      </p:sp>
      <p:sp>
        <p:nvSpPr>
          <p:cNvPr id="25" name="Text 21"/>
          <p:cNvSpPr/>
          <p:nvPr/>
        </p:nvSpPr>
        <p:spPr>
          <a:xfrm>
            <a:off x="7863840" y="2999232"/>
            <a:ext cx="3504895" cy="512064"/>
          </a:xfrm>
          <a:prstGeom prst="roundRect">
            <a:avLst>
              <a:gd name="adj" fmla="val 14286"/>
            </a:avLst>
          </a:prstGeom>
          <a:solidFill>
            <a:srgbClr val="DFF6F3"/>
          </a:solidFill>
          <a:ln>
            <a:solidFill>
              <a:srgbClr val="DFF6F3"/>
            </a:solidFill>
          </a:ln>
        </p:spPr>
        <p:txBody>
          <a:bodyPr wrap="square" lIns="76200" tIns="76200" rIns="76200" bIns="76200" rtlCol="0" anchor="ctr"/>
          <a:lstStyle/>
          <a:p>
            <a:pPr indent="0" marL="0">
              <a:buNone/>
            </a:pPr>
            <a:r>
              <a:rPr lang="en-US" sz="1250" b="1" dirty="0">
                <a:solidFill>
                  <a:srgbClr val="172C2A"/>
                </a:solidFill>
                <a:latin typeface="Calibri" pitchFamily="34" charset="0"/>
                <a:ea typeface="Calibri" pitchFamily="34" charset="-122"/>
                <a:cs typeface="Calibri" pitchFamily="34" charset="-120"/>
              </a:rPr>
              <a:t>Keluarga tidak pernah dilatih memberi contoh di papan</a:t>
            </a:r>
            <a:endParaRPr lang="en-US" sz="1250" dirty="0"/>
          </a:p>
        </p:txBody>
      </p:sp>
      <p:sp>
        <p:nvSpPr>
          <p:cNvPr id="26" name="Text 22"/>
          <p:cNvSpPr/>
          <p:nvPr/>
        </p:nvSpPr>
        <p:spPr>
          <a:xfrm>
            <a:off x="7863840" y="3511296"/>
            <a:ext cx="3504895" cy="201168"/>
          </a:xfrm>
          <a:prstGeom prst="rect">
            <a:avLst/>
          </a:prstGeom>
          <a:noFill/>
          <a:ln/>
        </p:spPr>
        <p:txBody>
          <a:bodyPr wrap="square" lIns="0" tIns="0" rIns="0" bIns="0" rtlCol="0" anchor="ctr"/>
          <a:lstStyle/>
          <a:p>
            <a:pPr algn="ctr" indent="0" marL="0">
              <a:buNone/>
            </a:pPr>
            <a:r>
              <a:rPr lang="en-US" sz="1200" b="1" dirty="0">
                <a:solidFill>
                  <a:srgbClr val="A0DDD7"/>
                </a:solidFill>
                <a:latin typeface="Calibri" pitchFamily="34" charset="0"/>
                <a:ea typeface="Calibri" pitchFamily="34" charset="-122"/>
                <a:cs typeface="Calibri" pitchFamily="34" charset="-120"/>
              </a:rPr>
              <a:t>↓</a:t>
            </a:r>
            <a:endParaRPr lang="en-US" sz="1200" dirty="0"/>
          </a:p>
        </p:txBody>
      </p:sp>
      <p:sp>
        <p:nvSpPr>
          <p:cNvPr id="27" name="Text 23"/>
          <p:cNvSpPr/>
          <p:nvPr/>
        </p:nvSpPr>
        <p:spPr>
          <a:xfrm>
            <a:off x="7863840" y="3712464"/>
            <a:ext cx="3504895" cy="512064"/>
          </a:xfrm>
          <a:prstGeom prst="roundRect">
            <a:avLst>
              <a:gd name="adj" fmla="val 14286"/>
            </a:avLst>
          </a:prstGeom>
          <a:solidFill>
            <a:srgbClr val="DFF6F3"/>
          </a:solidFill>
          <a:ln>
            <a:solidFill>
              <a:srgbClr val="DFF6F3"/>
            </a:solidFill>
          </a:ln>
        </p:spPr>
        <p:txBody>
          <a:bodyPr wrap="square" lIns="76200" tIns="76200" rIns="76200" bIns="76200" rtlCol="0" anchor="ctr"/>
          <a:lstStyle/>
          <a:p>
            <a:pPr indent="0" marL="0">
              <a:buNone/>
            </a:pPr>
            <a:r>
              <a:rPr lang="en-US" sz="1250" b="1" dirty="0">
                <a:solidFill>
                  <a:srgbClr val="172C2A"/>
                </a:solidFill>
                <a:latin typeface="Calibri" pitchFamily="34" charset="0"/>
                <a:ea typeface="Calibri" pitchFamily="34" charset="-122"/>
                <a:cs typeface="Calibri" pitchFamily="34" charset="-120"/>
              </a:rPr>
              <a:t>Terapis tidak melihat apa yang terjadi di rumah di antara sesi</a:t>
            </a:r>
            <a:endParaRPr lang="en-US" sz="1250" dirty="0"/>
          </a:p>
        </p:txBody>
      </p:sp>
      <p:sp>
        <p:nvSpPr>
          <p:cNvPr id="28" name="Text 24"/>
          <p:cNvSpPr/>
          <p:nvPr/>
        </p:nvSpPr>
        <p:spPr>
          <a:xfrm>
            <a:off x="7863840" y="4224528"/>
            <a:ext cx="3504895" cy="201168"/>
          </a:xfrm>
          <a:prstGeom prst="rect">
            <a:avLst/>
          </a:prstGeom>
          <a:noFill/>
          <a:ln/>
        </p:spPr>
        <p:txBody>
          <a:bodyPr wrap="square" lIns="0" tIns="0" rIns="0" bIns="0" rtlCol="0" anchor="ctr"/>
          <a:lstStyle/>
          <a:p>
            <a:pPr algn="ctr" indent="0" marL="0">
              <a:buNone/>
            </a:pPr>
            <a:r>
              <a:rPr lang="en-US" sz="1200" b="1" dirty="0">
                <a:solidFill>
                  <a:srgbClr val="A0DDD7"/>
                </a:solidFill>
                <a:latin typeface="Calibri" pitchFamily="34" charset="0"/>
                <a:ea typeface="Calibri" pitchFamily="34" charset="-122"/>
                <a:cs typeface="Calibri" pitchFamily="34" charset="-120"/>
              </a:rPr>
              <a:t>↓</a:t>
            </a:r>
            <a:endParaRPr lang="en-US" sz="1200" dirty="0"/>
          </a:p>
        </p:txBody>
      </p:sp>
      <p:sp>
        <p:nvSpPr>
          <p:cNvPr id="29" name="Text 25"/>
          <p:cNvSpPr/>
          <p:nvPr/>
        </p:nvSpPr>
        <p:spPr>
          <a:xfrm>
            <a:off x="7863840" y="4425696"/>
            <a:ext cx="3504895" cy="512064"/>
          </a:xfrm>
          <a:prstGeom prst="roundRect">
            <a:avLst>
              <a:gd name="adj" fmla="val 14286"/>
            </a:avLst>
          </a:prstGeom>
          <a:solidFill>
            <a:srgbClr val="D34349"/>
          </a:solidFill>
          <a:ln>
            <a:solidFill>
              <a:srgbClr val="D34349"/>
            </a:solidFill>
          </a:ln>
        </p:spPr>
        <p:txBody>
          <a:bodyPr wrap="square" lIns="76200" tIns="76200" rIns="76200" bIns="7620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Papan ditinggalkan</a:t>
            </a:r>
            <a:endParaRPr lang="en-US" sz="1250" dirty="0"/>
          </a:p>
        </p:txBody>
      </p:sp>
      <p:sp>
        <p:nvSpPr>
          <p:cNvPr id="30" name="Text 26"/>
          <p:cNvSpPr/>
          <p:nvPr/>
        </p:nvSpPr>
        <p:spPr>
          <a:xfrm>
            <a:off x="7863840" y="5074920"/>
            <a:ext cx="3504895" cy="658368"/>
          </a:xfrm>
          <a:prstGeom prst="rect">
            <a:avLst/>
          </a:prstGeom>
          <a:noFill/>
          <a:ln/>
        </p:spPr>
        <p:txBody>
          <a:bodyPr wrap="square" lIns="0" tIns="0" rIns="0" bIns="0" rtlCol="0" anchor="ctr"/>
          <a:lstStyle/>
          <a:p>
            <a:pPr indent="0" marL="0">
              <a:buNone/>
            </a:pPr>
            <a:r>
              <a:rPr lang="en-US" sz="1450" b="1" i="1" dirty="0">
                <a:solidFill>
                  <a:srgbClr val="FFFFFF"/>
                </a:solidFill>
                <a:latin typeface="Trebuchet MS" pitchFamily="34" charset="0"/>
                <a:ea typeface="Trebuchet MS" pitchFamily="34" charset="-122"/>
                <a:cs typeface="Trebuchet MS" pitchFamily="34" charset="-120"/>
              </a:rPr>
              <a:t>Masalahnya bukan papannya, tapi loop di sekelilingnya.</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SOLUSI YANG SUDAH ADA</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Setiap solusi sudah kuat di satu bagian. Celahnya ada di antara fitur.</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2</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Fitur kompetitor diringkas dari dokumentasi publik masing-masing produk. Kami tidak menjatuhkan solusi lain; kami menunjukkan bagian yang belum menyatu.</a:t>
            </a:r>
            <a:endParaRPr lang="en-US" sz="850" dirty="0"/>
          </a:p>
        </p:txBody>
      </p:sp>
      <p:sp>
        <p:nvSpPr>
          <p:cNvPr id="12" name="Shape 8"/>
          <p:cNvSpPr/>
          <p:nvPr/>
        </p:nvSpPr>
        <p:spPr>
          <a:xfrm>
            <a:off x="548640" y="1783080"/>
            <a:ext cx="2602154" cy="2514600"/>
          </a:xfrm>
          <a:prstGeom prst="roundRect">
            <a:avLst>
              <a:gd name="adj" fmla="val 4364"/>
            </a:avLst>
          </a:prstGeom>
          <a:solidFill>
            <a:srgbClr val="FFFFFF"/>
          </a:solidFill>
          <a:ln w="9525">
            <a:solidFill>
              <a:srgbClr val="DCEEEC"/>
            </a:solidFill>
            <a:prstDash val="solid"/>
          </a:ln>
        </p:spPr>
      </p:sp>
      <p:sp>
        <p:nvSpPr>
          <p:cNvPr id="13" name="Text 9"/>
          <p:cNvSpPr/>
          <p:nvPr/>
        </p:nvSpPr>
        <p:spPr>
          <a:xfrm>
            <a:off x="777240" y="1920240"/>
            <a:ext cx="2144954" cy="411480"/>
          </a:xfrm>
          <a:prstGeom prst="rect">
            <a:avLst/>
          </a:prstGeom>
          <a:noFill/>
          <a:ln/>
        </p:spPr>
        <p:txBody>
          <a:bodyPr wrap="square" lIns="0" tIns="0" rIns="0" bIns="0" rtlCol="0" anchor="ctr"/>
          <a:lstStyle/>
          <a:p>
            <a:pPr indent="0" marL="0">
              <a:buNone/>
            </a:pPr>
            <a:r>
              <a:rPr lang="en-US" sz="1800" b="1" dirty="0">
                <a:solidFill>
                  <a:srgbClr val="172C2A"/>
                </a:solidFill>
                <a:latin typeface="Trebuchet MS" pitchFamily="34" charset="0"/>
                <a:ea typeface="Trebuchet MS" pitchFamily="34" charset="-122"/>
                <a:cs typeface="Trebuchet MS" pitchFamily="34" charset="-120"/>
              </a:rPr>
              <a:t>BerKata</a:t>
            </a:r>
            <a:endParaRPr lang="en-US" sz="1800" dirty="0"/>
          </a:p>
        </p:txBody>
      </p:sp>
      <p:sp>
        <p:nvSpPr>
          <p:cNvPr id="14" name="Text 10"/>
          <p:cNvSpPr/>
          <p:nvPr/>
        </p:nvSpPr>
        <p:spPr>
          <a:xfrm>
            <a:off x="777240" y="2377440"/>
            <a:ext cx="2144954" cy="201168"/>
          </a:xfrm>
          <a:prstGeom prst="rect">
            <a:avLst/>
          </a:prstGeom>
          <a:noFill/>
          <a:ln/>
        </p:spPr>
        <p:txBody>
          <a:bodyPr wrap="square" lIns="0" tIns="0" rIns="0" bIns="0" rtlCol="0" anchor="ctr"/>
          <a:lstStyle/>
          <a:p>
            <a:pPr indent="0" marL="0">
              <a:buNone/>
            </a:pPr>
            <a:r>
              <a:rPr lang="en-US" sz="900" b="1" spc="150" kern="0" dirty="0">
                <a:solidFill>
                  <a:srgbClr val="026E65"/>
                </a:solidFill>
                <a:latin typeface="Calibri" pitchFamily="34" charset="0"/>
                <a:ea typeface="Calibri" pitchFamily="34" charset="-122"/>
                <a:cs typeface="Calibri" pitchFamily="34" charset="-120"/>
              </a:rPr>
              <a:t>KUAT DI</a:t>
            </a:r>
            <a:endParaRPr lang="en-US" sz="900" dirty="0"/>
          </a:p>
        </p:txBody>
      </p:sp>
      <p:sp>
        <p:nvSpPr>
          <p:cNvPr id="15" name="Text 11"/>
          <p:cNvSpPr/>
          <p:nvPr/>
        </p:nvSpPr>
        <p:spPr>
          <a:xfrm>
            <a:off x="777240" y="2578608"/>
            <a:ext cx="2144954" cy="731520"/>
          </a:xfrm>
          <a:prstGeom prst="rect">
            <a:avLst/>
          </a:prstGeom>
          <a:noFill/>
          <a:ln/>
        </p:spPr>
        <p:txBody>
          <a:bodyPr wrap="square" lIns="0" tIns="0" rIns="0" bIns="0" rtlCol="0" anchor="t"/>
          <a:lstStyle/>
          <a:p>
            <a:pPr indent="0" marL="0">
              <a:buNone/>
            </a:pPr>
            <a:r>
              <a:rPr lang="en-US" sz="1250" dirty="0">
                <a:solidFill>
                  <a:srgbClr val="172C2A"/>
                </a:solidFill>
                <a:latin typeface="Calibri" pitchFamily="34" charset="0"/>
                <a:ea typeface="Calibri" pitchFamily="34" charset="-122"/>
                <a:cs typeface="Calibri" pitchFamily="34" charset="-120"/>
              </a:rPr>
              <a:t>AAC Bahasa Indonesia, kartu visual, kartu kustom</a:t>
            </a:r>
            <a:endParaRPr lang="en-US" sz="1250" dirty="0"/>
          </a:p>
        </p:txBody>
      </p:sp>
      <p:sp>
        <p:nvSpPr>
          <p:cNvPr id="16" name="Shape 12"/>
          <p:cNvSpPr/>
          <p:nvPr/>
        </p:nvSpPr>
        <p:spPr>
          <a:xfrm>
            <a:off x="777240" y="3364992"/>
            <a:ext cx="2144954" cy="0"/>
          </a:xfrm>
          <a:prstGeom prst="line">
            <a:avLst/>
          </a:prstGeom>
          <a:noFill/>
          <a:ln w="12700">
            <a:solidFill>
              <a:srgbClr val="DCEEEC"/>
            </a:solidFill>
            <a:prstDash val="solid"/>
          </a:ln>
        </p:spPr>
      </p:sp>
      <p:sp>
        <p:nvSpPr>
          <p:cNvPr id="17" name="Text 13"/>
          <p:cNvSpPr/>
          <p:nvPr/>
        </p:nvSpPr>
        <p:spPr>
          <a:xfrm>
            <a:off x="777240" y="3456432"/>
            <a:ext cx="2144954" cy="201168"/>
          </a:xfrm>
          <a:prstGeom prst="rect">
            <a:avLst/>
          </a:prstGeom>
          <a:noFill/>
          <a:ln/>
        </p:spPr>
        <p:txBody>
          <a:bodyPr wrap="square" lIns="0" tIns="0" rIns="0" bIns="0" rtlCol="0" anchor="ctr"/>
          <a:lstStyle/>
          <a:p>
            <a:pPr indent="0" marL="0">
              <a:buNone/>
            </a:pPr>
            <a:r>
              <a:rPr lang="en-US" sz="900" b="1" spc="150" kern="0" dirty="0">
                <a:solidFill>
                  <a:srgbClr val="C23D42"/>
                </a:solidFill>
                <a:latin typeface="Calibri" pitchFamily="34" charset="0"/>
                <a:ea typeface="Calibri" pitchFamily="34" charset="-122"/>
                <a:cs typeface="Calibri" pitchFamily="34" charset="-120"/>
              </a:rPr>
              <a:t>YANG BELUM</a:t>
            </a:r>
            <a:endParaRPr lang="en-US" sz="900" dirty="0"/>
          </a:p>
        </p:txBody>
      </p:sp>
      <p:sp>
        <p:nvSpPr>
          <p:cNvPr id="18" name="Text 14"/>
          <p:cNvSpPr/>
          <p:nvPr/>
        </p:nvSpPr>
        <p:spPr>
          <a:xfrm>
            <a:off x="777240" y="3657600"/>
            <a:ext cx="2144954" cy="566928"/>
          </a:xfrm>
          <a:prstGeom prst="rect">
            <a:avLst/>
          </a:prstGeom>
          <a:noFill/>
          <a:ln/>
        </p:spPr>
        <p:txBody>
          <a:bodyPr wrap="square" lIns="0" tIns="0" rIns="0" bIns="0" rtlCol="0" anchor="t"/>
          <a:lstStyle/>
          <a:p>
            <a:pPr indent="0" marL="0">
              <a:buNone/>
            </a:pPr>
            <a:r>
              <a:rPr lang="en-US" sz="1200" dirty="0">
                <a:solidFill>
                  <a:srgbClr val="52706D"/>
                </a:solidFill>
                <a:latin typeface="Calibri" pitchFamily="34" charset="0"/>
                <a:ea typeface="Calibri" pitchFamily="34" charset="-122"/>
                <a:cs typeface="Calibri" pitchFamily="34" charset="-120"/>
              </a:rPr>
              <a:t>belum menjadi loop keluarga ↔ terapis</a:t>
            </a:r>
            <a:endParaRPr lang="en-US" sz="1200" dirty="0"/>
          </a:p>
        </p:txBody>
      </p:sp>
      <p:sp>
        <p:nvSpPr>
          <p:cNvPr id="19" name="Shape 15"/>
          <p:cNvSpPr/>
          <p:nvPr/>
        </p:nvSpPr>
        <p:spPr>
          <a:xfrm>
            <a:off x="3379394" y="1783080"/>
            <a:ext cx="2602154" cy="2514600"/>
          </a:xfrm>
          <a:prstGeom prst="roundRect">
            <a:avLst>
              <a:gd name="adj" fmla="val 4364"/>
            </a:avLst>
          </a:prstGeom>
          <a:solidFill>
            <a:srgbClr val="FFFFFF"/>
          </a:solidFill>
          <a:ln w="9525">
            <a:solidFill>
              <a:srgbClr val="DCEEEC"/>
            </a:solidFill>
            <a:prstDash val="solid"/>
          </a:ln>
        </p:spPr>
      </p:sp>
      <p:sp>
        <p:nvSpPr>
          <p:cNvPr id="20" name="Text 16"/>
          <p:cNvSpPr/>
          <p:nvPr/>
        </p:nvSpPr>
        <p:spPr>
          <a:xfrm>
            <a:off x="3607994" y="1920240"/>
            <a:ext cx="2144954" cy="411480"/>
          </a:xfrm>
          <a:prstGeom prst="rect">
            <a:avLst/>
          </a:prstGeom>
          <a:noFill/>
          <a:ln/>
        </p:spPr>
        <p:txBody>
          <a:bodyPr wrap="square" lIns="0" tIns="0" rIns="0" bIns="0" rtlCol="0" anchor="ctr"/>
          <a:lstStyle/>
          <a:p>
            <a:pPr indent="0" marL="0">
              <a:buNone/>
            </a:pPr>
            <a:r>
              <a:rPr lang="en-US" sz="1800" b="1" dirty="0">
                <a:solidFill>
                  <a:srgbClr val="172C2A"/>
                </a:solidFill>
                <a:latin typeface="Trebuchet MS" pitchFamily="34" charset="0"/>
                <a:ea typeface="Trebuchet MS" pitchFamily="34" charset="-122"/>
                <a:cs typeface="Trebuchet MS" pitchFamily="34" charset="-120"/>
              </a:rPr>
              <a:t>Jellow</a:t>
            </a:r>
            <a:endParaRPr lang="en-US" sz="1800" dirty="0"/>
          </a:p>
        </p:txBody>
      </p:sp>
      <p:sp>
        <p:nvSpPr>
          <p:cNvPr id="21" name="Text 17"/>
          <p:cNvSpPr/>
          <p:nvPr/>
        </p:nvSpPr>
        <p:spPr>
          <a:xfrm>
            <a:off x="3607994" y="2377440"/>
            <a:ext cx="2144954" cy="201168"/>
          </a:xfrm>
          <a:prstGeom prst="rect">
            <a:avLst/>
          </a:prstGeom>
          <a:noFill/>
          <a:ln/>
        </p:spPr>
        <p:txBody>
          <a:bodyPr wrap="square" lIns="0" tIns="0" rIns="0" bIns="0" rtlCol="0" anchor="ctr"/>
          <a:lstStyle/>
          <a:p>
            <a:pPr indent="0" marL="0">
              <a:buNone/>
            </a:pPr>
            <a:r>
              <a:rPr lang="en-US" sz="900" b="1" spc="150" kern="0" dirty="0">
                <a:solidFill>
                  <a:srgbClr val="026E65"/>
                </a:solidFill>
                <a:latin typeface="Calibri" pitchFamily="34" charset="0"/>
                <a:ea typeface="Calibri" pitchFamily="34" charset="-122"/>
                <a:cs typeface="Calibri" pitchFamily="34" charset="-120"/>
              </a:rPr>
              <a:t>KUAT DI</a:t>
            </a:r>
            <a:endParaRPr lang="en-US" sz="900" dirty="0"/>
          </a:p>
        </p:txBody>
      </p:sp>
      <p:sp>
        <p:nvSpPr>
          <p:cNvPr id="22" name="Text 18"/>
          <p:cNvSpPr/>
          <p:nvPr/>
        </p:nvSpPr>
        <p:spPr>
          <a:xfrm>
            <a:off x="3607994" y="2578608"/>
            <a:ext cx="2144954" cy="731520"/>
          </a:xfrm>
          <a:prstGeom prst="rect">
            <a:avLst/>
          </a:prstGeom>
          <a:noFill/>
          <a:ln/>
        </p:spPr>
        <p:txBody>
          <a:bodyPr wrap="square" lIns="0" tIns="0" rIns="0" bIns="0" rtlCol="0" anchor="t"/>
          <a:lstStyle/>
          <a:p>
            <a:pPr indent="0" marL="0">
              <a:buNone/>
            </a:pPr>
            <a:r>
              <a:rPr lang="en-US" sz="1250" dirty="0">
                <a:solidFill>
                  <a:srgbClr val="172C2A"/>
                </a:solidFill>
                <a:latin typeface="Calibri" pitchFamily="34" charset="0"/>
                <a:ea typeface="Calibri" pitchFamily="34" charset="-122"/>
                <a:cs typeface="Calibri" pitchFamily="34" charset="-120"/>
              </a:rPr>
              <a:t>Gratis, luring, ringan untuk perangkat sederhana</a:t>
            </a:r>
            <a:endParaRPr lang="en-US" sz="1250" dirty="0"/>
          </a:p>
        </p:txBody>
      </p:sp>
      <p:sp>
        <p:nvSpPr>
          <p:cNvPr id="23" name="Shape 19"/>
          <p:cNvSpPr/>
          <p:nvPr/>
        </p:nvSpPr>
        <p:spPr>
          <a:xfrm>
            <a:off x="3607994" y="3364992"/>
            <a:ext cx="2144954" cy="0"/>
          </a:xfrm>
          <a:prstGeom prst="line">
            <a:avLst/>
          </a:prstGeom>
          <a:noFill/>
          <a:ln w="12700">
            <a:solidFill>
              <a:srgbClr val="DCEEEC"/>
            </a:solidFill>
            <a:prstDash val="solid"/>
          </a:ln>
        </p:spPr>
      </p:sp>
      <p:sp>
        <p:nvSpPr>
          <p:cNvPr id="24" name="Text 20"/>
          <p:cNvSpPr/>
          <p:nvPr/>
        </p:nvSpPr>
        <p:spPr>
          <a:xfrm>
            <a:off x="3607994" y="3456432"/>
            <a:ext cx="2144954" cy="201168"/>
          </a:xfrm>
          <a:prstGeom prst="rect">
            <a:avLst/>
          </a:prstGeom>
          <a:noFill/>
          <a:ln/>
        </p:spPr>
        <p:txBody>
          <a:bodyPr wrap="square" lIns="0" tIns="0" rIns="0" bIns="0" rtlCol="0" anchor="ctr"/>
          <a:lstStyle/>
          <a:p>
            <a:pPr indent="0" marL="0">
              <a:buNone/>
            </a:pPr>
            <a:r>
              <a:rPr lang="en-US" sz="900" b="1" spc="150" kern="0" dirty="0">
                <a:solidFill>
                  <a:srgbClr val="C23D42"/>
                </a:solidFill>
                <a:latin typeface="Calibri" pitchFamily="34" charset="0"/>
                <a:ea typeface="Calibri" pitchFamily="34" charset="-122"/>
                <a:cs typeface="Calibri" pitchFamily="34" charset="-120"/>
              </a:rPr>
              <a:t>YANG BELUM</a:t>
            </a:r>
            <a:endParaRPr lang="en-US" sz="900" dirty="0"/>
          </a:p>
        </p:txBody>
      </p:sp>
      <p:sp>
        <p:nvSpPr>
          <p:cNvPr id="25" name="Text 21"/>
          <p:cNvSpPr/>
          <p:nvPr/>
        </p:nvSpPr>
        <p:spPr>
          <a:xfrm>
            <a:off x="3607994" y="3657600"/>
            <a:ext cx="2144954" cy="566928"/>
          </a:xfrm>
          <a:prstGeom prst="rect">
            <a:avLst/>
          </a:prstGeom>
          <a:noFill/>
          <a:ln/>
        </p:spPr>
        <p:txBody>
          <a:bodyPr wrap="square" lIns="0" tIns="0" rIns="0" bIns="0" rtlCol="0" anchor="t"/>
          <a:lstStyle/>
          <a:p>
            <a:pPr indent="0" marL="0">
              <a:buNone/>
            </a:pPr>
            <a:r>
              <a:rPr lang="en-US" sz="1200" dirty="0">
                <a:solidFill>
                  <a:srgbClr val="52706D"/>
                </a:solidFill>
                <a:latin typeface="Calibri" pitchFamily="34" charset="0"/>
                <a:ea typeface="Calibri" pitchFamily="34" charset="-122"/>
                <a:cs typeface="Calibri" pitchFamily="34" charset="-120"/>
              </a:rPr>
              <a:t>tanpa alur data rumah → terapis jangka panjang</a:t>
            </a:r>
            <a:endParaRPr lang="en-US" sz="1200" dirty="0"/>
          </a:p>
        </p:txBody>
      </p:sp>
      <p:sp>
        <p:nvSpPr>
          <p:cNvPr id="26" name="Shape 22"/>
          <p:cNvSpPr/>
          <p:nvPr/>
        </p:nvSpPr>
        <p:spPr>
          <a:xfrm>
            <a:off x="6210148" y="1783080"/>
            <a:ext cx="2602154" cy="2514600"/>
          </a:xfrm>
          <a:prstGeom prst="roundRect">
            <a:avLst>
              <a:gd name="adj" fmla="val 4364"/>
            </a:avLst>
          </a:prstGeom>
          <a:solidFill>
            <a:srgbClr val="FFFFFF"/>
          </a:solidFill>
          <a:ln w="9525">
            <a:solidFill>
              <a:srgbClr val="DCEEEC"/>
            </a:solidFill>
            <a:prstDash val="solid"/>
          </a:ln>
        </p:spPr>
      </p:sp>
      <p:sp>
        <p:nvSpPr>
          <p:cNvPr id="27" name="Text 23"/>
          <p:cNvSpPr/>
          <p:nvPr/>
        </p:nvSpPr>
        <p:spPr>
          <a:xfrm>
            <a:off x="6438748" y="1920240"/>
            <a:ext cx="2144954" cy="411480"/>
          </a:xfrm>
          <a:prstGeom prst="rect">
            <a:avLst/>
          </a:prstGeom>
          <a:noFill/>
          <a:ln/>
        </p:spPr>
        <p:txBody>
          <a:bodyPr wrap="square" lIns="0" tIns="0" rIns="0" bIns="0" rtlCol="0" anchor="ctr"/>
          <a:lstStyle/>
          <a:p>
            <a:pPr indent="0" marL="0">
              <a:buNone/>
            </a:pPr>
            <a:r>
              <a:rPr lang="en-US" sz="1800" b="1" dirty="0">
                <a:solidFill>
                  <a:srgbClr val="172C2A"/>
                </a:solidFill>
                <a:latin typeface="Trebuchet MS" pitchFamily="34" charset="0"/>
                <a:ea typeface="Trebuchet MS" pitchFamily="34" charset="-122"/>
                <a:cs typeface="Trebuchet MS" pitchFamily="34" charset="-120"/>
              </a:rPr>
              <a:t>Avaz</a:t>
            </a:r>
            <a:endParaRPr lang="en-US" sz="1800" dirty="0"/>
          </a:p>
        </p:txBody>
      </p:sp>
      <p:sp>
        <p:nvSpPr>
          <p:cNvPr id="28" name="Text 24"/>
          <p:cNvSpPr/>
          <p:nvPr/>
        </p:nvSpPr>
        <p:spPr>
          <a:xfrm>
            <a:off x="6438748" y="2377440"/>
            <a:ext cx="2144954" cy="201168"/>
          </a:xfrm>
          <a:prstGeom prst="rect">
            <a:avLst/>
          </a:prstGeom>
          <a:noFill/>
          <a:ln/>
        </p:spPr>
        <p:txBody>
          <a:bodyPr wrap="square" lIns="0" tIns="0" rIns="0" bIns="0" rtlCol="0" anchor="ctr"/>
          <a:lstStyle/>
          <a:p>
            <a:pPr indent="0" marL="0">
              <a:buNone/>
            </a:pPr>
            <a:r>
              <a:rPr lang="en-US" sz="900" b="1" spc="150" kern="0" dirty="0">
                <a:solidFill>
                  <a:srgbClr val="026E65"/>
                </a:solidFill>
                <a:latin typeface="Calibri" pitchFamily="34" charset="0"/>
                <a:ea typeface="Calibri" pitchFamily="34" charset="-122"/>
                <a:cs typeface="Calibri" pitchFamily="34" charset="-120"/>
              </a:rPr>
              <a:t>KUAT DI</a:t>
            </a:r>
            <a:endParaRPr lang="en-US" sz="900" dirty="0"/>
          </a:p>
        </p:txBody>
      </p:sp>
      <p:sp>
        <p:nvSpPr>
          <p:cNvPr id="29" name="Text 25"/>
          <p:cNvSpPr/>
          <p:nvPr/>
        </p:nvSpPr>
        <p:spPr>
          <a:xfrm>
            <a:off x="6438748" y="2578608"/>
            <a:ext cx="2144954" cy="731520"/>
          </a:xfrm>
          <a:prstGeom prst="rect">
            <a:avLst/>
          </a:prstGeom>
          <a:noFill/>
          <a:ln/>
        </p:spPr>
        <p:txBody>
          <a:bodyPr wrap="square" lIns="0" tIns="0" rIns="0" bIns="0" rtlCol="0" anchor="t"/>
          <a:lstStyle/>
          <a:p>
            <a:pPr indent="0" marL="0">
              <a:buNone/>
            </a:pPr>
            <a:r>
              <a:rPr lang="en-US" sz="1250" dirty="0">
                <a:solidFill>
                  <a:srgbClr val="172C2A"/>
                </a:solidFill>
                <a:latin typeface="Calibri" pitchFamily="34" charset="0"/>
                <a:ea typeface="Calibri" pitchFamily="34" charset="-122"/>
                <a:cs typeface="Calibri" pitchFamily="34" charset="-120"/>
              </a:rPr>
              <a:t>Kustomisasi, motor planning, audio kustom, materi pendamping</a:t>
            </a:r>
            <a:endParaRPr lang="en-US" sz="1250" dirty="0"/>
          </a:p>
        </p:txBody>
      </p:sp>
      <p:sp>
        <p:nvSpPr>
          <p:cNvPr id="30" name="Shape 26"/>
          <p:cNvSpPr/>
          <p:nvPr/>
        </p:nvSpPr>
        <p:spPr>
          <a:xfrm>
            <a:off x="6438748" y="3364992"/>
            <a:ext cx="2144954" cy="0"/>
          </a:xfrm>
          <a:prstGeom prst="line">
            <a:avLst/>
          </a:prstGeom>
          <a:noFill/>
          <a:ln w="12700">
            <a:solidFill>
              <a:srgbClr val="DCEEEC"/>
            </a:solidFill>
            <a:prstDash val="solid"/>
          </a:ln>
        </p:spPr>
      </p:sp>
      <p:sp>
        <p:nvSpPr>
          <p:cNvPr id="31" name="Text 27"/>
          <p:cNvSpPr/>
          <p:nvPr/>
        </p:nvSpPr>
        <p:spPr>
          <a:xfrm>
            <a:off x="6438748" y="3456432"/>
            <a:ext cx="2144954" cy="201168"/>
          </a:xfrm>
          <a:prstGeom prst="rect">
            <a:avLst/>
          </a:prstGeom>
          <a:noFill/>
          <a:ln/>
        </p:spPr>
        <p:txBody>
          <a:bodyPr wrap="square" lIns="0" tIns="0" rIns="0" bIns="0" rtlCol="0" anchor="ctr"/>
          <a:lstStyle/>
          <a:p>
            <a:pPr indent="0" marL="0">
              <a:buNone/>
            </a:pPr>
            <a:r>
              <a:rPr lang="en-US" sz="900" b="1" spc="150" kern="0" dirty="0">
                <a:solidFill>
                  <a:srgbClr val="C23D42"/>
                </a:solidFill>
                <a:latin typeface="Calibri" pitchFamily="34" charset="0"/>
                <a:ea typeface="Calibri" pitchFamily="34" charset="-122"/>
                <a:cs typeface="Calibri" pitchFamily="34" charset="-120"/>
              </a:rPr>
              <a:t>YANG BELUM</a:t>
            </a:r>
            <a:endParaRPr lang="en-US" sz="900" dirty="0"/>
          </a:p>
        </p:txBody>
      </p:sp>
      <p:sp>
        <p:nvSpPr>
          <p:cNvPr id="32" name="Text 28"/>
          <p:cNvSpPr/>
          <p:nvPr/>
        </p:nvSpPr>
        <p:spPr>
          <a:xfrm>
            <a:off x="6438748" y="3657600"/>
            <a:ext cx="2144954" cy="566928"/>
          </a:xfrm>
          <a:prstGeom prst="rect">
            <a:avLst/>
          </a:prstGeom>
          <a:noFill/>
          <a:ln/>
        </p:spPr>
        <p:txBody>
          <a:bodyPr wrap="square" lIns="0" tIns="0" rIns="0" bIns="0" rtlCol="0" anchor="t"/>
          <a:lstStyle/>
          <a:p>
            <a:pPr indent="0" marL="0">
              <a:buNone/>
            </a:pPr>
            <a:r>
              <a:rPr lang="en-US" sz="1200" dirty="0">
                <a:solidFill>
                  <a:srgbClr val="52706D"/>
                </a:solidFill>
                <a:latin typeface="Calibri" pitchFamily="34" charset="0"/>
                <a:ea typeface="Calibri" pitchFamily="34" charset="-122"/>
                <a:cs typeface="Calibri" pitchFamily="34" charset="-120"/>
              </a:rPr>
              <a:t>belum Indonesia-first dan luring-pertama</a:t>
            </a:r>
            <a:endParaRPr lang="en-US" sz="1200" dirty="0"/>
          </a:p>
        </p:txBody>
      </p:sp>
      <p:sp>
        <p:nvSpPr>
          <p:cNvPr id="33" name="Shape 29"/>
          <p:cNvSpPr/>
          <p:nvPr/>
        </p:nvSpPr>
        <p:spPr>
          <a:xfrm>
            <a:off x="9040901" y="1783080"/>
            <a:ext cx="2602154" cy="2514600"/>
          </a:xfrm>
          <a:prstGeom prst="roundRect">
            <a:avLst>
              <a:gd name="adj" fmla="val 4364"/>
            </a:avLst>
          </a:prstGeom>
          <a:solidFill>
            <a:srgbClr val="FFFFFF"/>
          </a:solidFill>
          <a:ln w="9525">
            <a:solidFill>
              <a:srgbClr val="DCEEEC"/>
            </a:solidFill>
            <a:prstDash val="solid"/>
          </a:ln>
        </p:spPr>
      </p:sp>
      <p:sp>
        <p:nvSpPr>
          <p:cNvPr id="34" name="Text 30"/>
          <p:cNvSpPr/>
          <p:nvPr/>
        </p:nvSpPr>
        <p:spPr>
          <a:xfrm>
            <a:off x="9269501" y="1920240"/>
            <a:ext cx="2144954" cy="411480"/>
          </a:xfrm>
          <a:prstGeom prst="rect">
            <a:avLst/>
          </a:prstGeom>
          <a:noFill/>
          <a:ln/>
        </p:spPr>
        <p:txBody>
          <a:bodyPr wrap="square" lIns="0" tIns="0" rIns="0" bIns="0" rtlCol="0" anchor="ctr"/>
          <a:lstStyle/>
          <a:p>
            <a:pPr indent="0" marL="0">
              <a:buNone/>
            </a:pPr>
            <a:r>
              <a:rPr lang="en-US" sz="1800" b="1" dirty="0">
                <a:solidFill>
                  <a:srgbClr val="172C2A"/>
                </a:solidFill>
                <a:latin typeface="Trebuchet MS" pitchFamily="34" charset="0"/>
                <a:ea typeface="Trebuchet MS" pitchFamily="34" charset="-122"/>
                <a:cs typeface="Trebuchet MS" pitchFamily="34" charset="-120"/>
              </a:rPr>
              <a:t>CoughDrop</a:t>
            </a:r>
            <a:endParaRPr lang="en-US" sz="1800" dirty="0"/>
          </a:p>
        </p:txBody>
      </p:sp>
      <p:sp>
        <p:nvSpPr>
          <p:cNvPr id="35" name="Text 31"/>
          <p:cNvSpPr/>
          <p:nvPr/>
        </p:nvSpPr>
        <p:spPr>
          <a:xfrm>
            <a:off x="9269501" y="2377440"/>
            <a:ext cx="2144954" cy="201168"/>
          </a:xfrm>
          <a:prstGeom prst="rect">
            <a:avLst/>
          </a:prstGeom>
          <a:noFill/>
          <a:ln/>
        </p:spPr>
        <p:txBody>
          <a:bodyPr wrap="square" lIns="0" tIns="0" rIns="0" bIns="0" rtlCol="0" anchor="ctr"/>
          <a:lstStyle/>
          <a:p>
            <a:pPr indent="0" marL="0">
              <a:buNone/>
            </a:pPr>
            <a:r>
              <a:rPr lang="en-US" sz="900" b="1" spc="150" kern="0" dirty="0">
                <a:solidFill>
                  <a:srgbClr val="026E65"/>
                </a:solidFill>
                <a:latin typeface="Calibri" pitchFamily="34" charset="0"/>
                <a:ea typeface="Calibri" pitchFamily="34" charset="-122"/>
                <a:cs typeface="Calibri" pitchFamily="34" charset="-120"/>
              </a:rPr>
              <a:t>KUAT DI</a:t>
            </a:r>
            <a:endParaRPr lang="en-US" sz="900" dirty="0"/>
          </a:p>
        </p:txBody>
      </p:sp>
      <p:sp>
        <p:nvSpPr>
          <p:cNvPr id="36" name="Text 32"/>
          <p:cNvSpPr/>
          <p:nvPr/>
        </p:nvSpPr>
        <p:spPr>
          <a:xfrm>
            <a:off x="9269501" y="2578608"/>
            <a:ext cx="2144954" cy="731520"/>
          </a:xfrm>
          <a:prstGeom prst="rect">
            <a:avLst/>
          </a:prstGeom>
          <a:noFill/>
          <a:ln/>
        </p:spPr>
        <p:txBody>
          <a:bodyPr wrap="square" lIns="0" tIns="0" rIns="0" bIns="0" rtlCol="0" anchor="t"/>
          <a:lstStyle/>
          <a:p>
            <a:pPr indent="0" marL="0">
              <a:buNone/>
            </a:pPr>
            <a:r>
              <a:rPr lang="en-US" sz="1250" dirty="0">
                <a:solidFill>
                  <a:srgbClr val="172C2A"/>
                </a:solidFill>
                <a:latin typeface="Calibri" pitchFamily="34" charset="0"/>
                <a:ea typeface="Calibri" pitchFamily="34" charset="-122"/>
                <a:cs typeface="Calibri" pitchFamily="34" charset="-120"/>
              </a:rPr>
              <a:t>Luring, laporan, cadangan cloud, kolaborasi tim</a:t>
            </a:r>
            <a:endParaRPr lang="en-US" sz="1250" dirty="0"/>
          </a:p>
        </p:txBody>
      </p:sp>
      <p:sp>
        <p:nvSpPr>
          <p:cNvPr id="37" name="Shape 33"/>
          <p:cNvSpPr/>
          <p:nvPr/>
        </p:nvSpPr>
        <p:spPr>
          <a:xfrm>
            <a:off x="9269501" y="3364992"/>
            <a:ext cx="2144954" cy="0"/>
          </a:xfrm>
          <a:prstGeom prst="line">
            <a:avLst/>
          </a:prstGeom>
          <a:noFill/>
          <a:ln w="12700">
            <a:solidFill>
              <a:srgbClr val="DCEEEC"/>
            </a:solidFill>
            <a:prstDash val="solid"/>
          </a:ln>
        </p:spPr>
      </p:sp>
      <p:sp>
        <p:nvSpPr>
          <p:cNvPr id="38" name="Text 34"/>
          <p:cNvSpPr/>
          <p:nvPr/>
        </p:nvSpPr>
        <p:spPr>
          <a:xfrm>
            <a:off x="9269501" y="3456432"/>
            <a:ext cx="2144954" cy="201168"/>
          </a:xfrm>
          <a:prstGeom prst="rect">
            <a:avLst/>
          </a:prstGeom>
          <a:noFill/>
          <a:ln/>
        </p:spPr>
        <p:txBody>
          <a:bodyPr wrap="square" lIns="0" tIns="0" rIns="0" bIns="0" rtlCol="0" anchor="ctr"/>
          <a:lstStyle/>
          <a:p>
            <a:pPr indent="0" marL="0">
              <a:buNone/>
            </a:pPr>
            <a:r>
              <a:rPr lang="en-US" sz="900" b="1" spc="150" kern="0" dirty="0">
                <a:solidFill>
                  <a:srgbClr val="C23D42"/>
                </a:solidFill>
                <a:latin typeface="Calibri" pitchFamily="34" charset="0"/>
                <a:ea typeface="Calibri" pitchFamily="34" charset="-122"/>
                <a:cs typeface="Calibri" pitchFamily="34" charset="-120"/>
              </a:rPr>
              <a:t>YANG BELUM</a:t>
            </a:r>
            <a:endParaRPr lang="en-US" sz="900" dirty="0"/>
          </a:p>
        </p:txBody>
      </p:sp>
      <p:sp>
        <p:nvSpPr>
          <p:cNvPr id="39" name="Text 35"/>
          <p:cNvSpPr/>
          <p:nvPr/>
        </p:nvSpPr>
        <p:spPr>
          <a:xfrm>
            <a:off x="9269501" y="3657600"/>
            <a:ext cx="2144954" cy="566928"/>
          </a:xfrm>
          <a:prstGeom prst="rect">
            <a:avLst/>
          </a:prstGeom>
          <a:noFill/>
          <a:ln/>
        </p:spPr>
        <p:txBody>
          <a:bodyPr wrap="square" lIns="0" tIns="0" rIns="0" bIns="0" rtlCol="0" anchor="t"/>
          <a:lstStyle/>
          <a:p>
            <a:pPr indent="0" marL="0">
              <a:buNone/>
            </a:pPr>
            <a:r>
              <a:rPr lang="en-US" sz="1200" dirty="0">
                <a:solidFill>
                  <a:srgbClr val="52706D"/>
                </a:solidFill>
                <a:latin typeface="Calibri" pitchFamily="34" charset="0"/>
                <a:ea typeface="Calibri" pitchFamily="34" charset="-122"/>
                <a:cs typeface="Calibri" pitchFamily="34" charset="-120"/>
              </a:rPr>
              <a:t>tanpa misi pendamping harian dan persetujuan keluarga eksplisit</a:t>
            </a:r>
            <a:endParaRPr lang="en-US" sz="1200" dirty="0"/>
          </a:p>
        </p:txBody>
      </p:sp>
      <p:sp>
        <p:nvSpPr>
          <p:cNvPr id="40" name="Shape 36"/>
          <p:cNvSpPr/>
          <p:nvPr/>
        </p:nvSpPr>
        <p:spPr>
          <a:xfrm>
            <a:off x="548640" y="4526280"/>
            <a:ext cx="11094415" cy="1371600"/>
          </a:xfrm>
          <a:prstGeom prst="roundRect">
            <a:avLst>
              <a:gd name="adj" fmla="val 8000"/>
            </a:avLst>
          </a:prstGeom>
          <a:solidFill>
            <a:srgbClr val="FFFFFF"/>
          </a:solidFill>
          <a:ln w="9525">
            <a:solidFill>
              <a:srgbClr val="DCEEEC"/>
            </a:solidFill>
            <a:prstDash val="solid"/>
          </a:ln>
        </p:spPr>
      </p:sp>
      <p:sp>
        <p:nvSpPr>
          <p:cNvPr id="41" name="Text 37"/>
          <p:cNvSpPr/>
          <p:nvPr/>
        </p:nvSpPr>
        <p:spPr>
          <a:xfrm>
            <a:off x="822960" y="4645152"/>
            <a:ext cx="7315200" cy="237744"/>
          </a:xfrm>
          <a:prstGeom prst="rect">
            <a:avLst/>
          </a:prstGeom>
          <a:noFill/>
          <a:ln/>
        </p:spPr>
        <p:txBody>
          <a:bodyPr wrap="square" lIns="0" tIns="0" rIns="0" bIns="0" rtlCol="0" anchor="ctr"/>
          <a:lstStyle/>
          <a:p>
            <a:pPr indent="0" marL="0">
              <a:buNone/>
            </a:pPr>
            <a:r>
              <a:rPr lang="en-US" sz="1000" b="1" spc="150" kern="0" dirty="0">
                <a:solidFill>
                  <a:srgbClr val="026E65"/>
                </a:solidFill>
                <a:latin typeface="Calibri" pitchFamily="34" charset="0"/>
                <a:ea typeface="Calibri" pitchFamily="34" charset="-122"/>
                <a:cs typeface="Calibri" pitchFamily="34" charset="-120"/>
              </a:rPr>
              <a:t>YANG HARUS MENYATU DALAM SATU ALUR</a:t>
            </a:r>
            <a:endParaRPr lang="en-US" sz="1000" dirty="0"/>
          </a:p>
        </p:txBody>
      </p:sp>
      <p:sp>
        <p:nvSpPr>
          <p:cNvPr id="42" name="Text 38"/>
          <p:cNvSpPr/>
          <p:nvPr/>
        </p:nvSpPr>
        <p:spPr>
          <a:xfrm>
            <a:off x="822960" y="4983480"/>
            <a:ext cx="1783080" cy="384048"/>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1050" b="1" dirty="0">
                <a:solidFill>
                  <a:srgbClr val="026E65"/>
                </a:solidFill>
                <a:latin typeface="Calibri" pitchFamily="34" charset="0"/>
                <a:ea typeface="Calibri" pitchFamily="34" charset="-122"/>
                <a:cs typeface="Calibri" pitchFamily="34" charset="-120"/>
              </a:rPr>
              <a:t>AAC Bahasa Indonesia</a:t>
            </a:r>
            <a:endParaRPr lang="en-US" sz="1050" dirty="0"/>
          </a:p>
        </p:txBody>
      </p:sp>
      <p:sp>
        <p:nvSpPr>
          <p:cNvPr id="43" name="Text 39"/>
          <p:cNvSpPr/>
          <p:nvPr/>
        </p:nvSpPr>
        <p:spPr>
          <a:xfrm>
            <a:off x="2679192" y="4983480"/>
            <a:ext cx="1143000" cy="384048"/>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1050" b="1" dirty="0">
                <a:solidFill>
                  <a:srgbClr val="026E65"/>
                </a:solidFill>
                <a:latin typeface="Calibri" pitchFamily="34" charset="0"/>
                <a:ea typeface="Calibri" pitchFamily="34" charset="-122"/>
                <a:cs typeface="Calibri" pitchFamily="34" charset="-120"/>
              </a:rPr>
              <a:t>Luring penuh</a:t>
            </a:r>
            <a:endParaRPr lang="en-US" sz="1050" dirty="0"/>
          </a:p>
        </p:txBody>
      </p:sp>
      <p:sp>
        <p:nvSpPr>
          <p:cNvPr id="44" name="Text 40"/>
          <p:cNvSpPr/>
          <p:nvPr/>
        </p:nvSpPr>
        <p:spPr>
          <a:xfrm>
            <a:off x="3895344" y="4983480"/>
            <a:ext cx="1965960" cy="384048"/>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1050" b="1" dirty="0">
                <a:solidFill>
                  <a:srgbClr val="026E65"/>
                </a:solidFill>
                <a:latin typeface="Calibri" pitchFamily="34" charset="0"/>
                <a:ea typeface="Calibri" pitchFamily="34" charset="-122"/>
                <a:cs typeface="Calibri" pitchFamily="34" charset="-120"/>
              </a:rPr>
              <a:t>Pelatihan orang tua harian</a:t>
            </a:r>
            <a:endParaRPr lang="en-US" sz="1050" dirty="0"/>
          </a:p>
        </p:txBody>
      </p:sp>
      <p:sp>
        <p:nvSpPr>
          <p:cNvPr id="45" name="Text 41"/>
          <p:cNvSpPr/>
          <p:nvPr/>
        </p:nvSpPr>
        <p:spPr>
          <a:xfrm>
            <a:off x="5934456" y="4983480"/>
            <a:ext cx="1874520" cy="384048"/>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1050" b="1" dirty="0">
                <a:solidFill>
                  <a:srgbClr val="026E65"/>
                </a:solidFill>
                <a:latin typeface="Calibri" pitchFamily="34" charset="0"/>
                <a:ea typeface="Calibri" pitchFamily="34" charset="-122"/>
                <a:cs typeface="Calibri" pitchFamily="34" charset="-120"/>
              </a:rPr>
              <a:t>Bukti otomatis dari rumah</a:t>
            </a:r>
            <a:endParaRPr lang="en-US" sz="1050" dirty="0"/>
          </a:p>
        </p:txBody>
      </p:sp>
      <p:sp>
        <p:nvSpPr>
          <p:cNvPr id="46" name="Text 42"/>
          <p:cNvSpPr/>
          <p:nvPr/>
        </p:nvSpPr>
        <p:spPr>
          <a:xfrm>
            <a:off x="7882128" y="4983480"/>
            <a:ext cx="1828800" cy="384048"/>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1050" b="1" dirty="0">
                <a:solidFill>
                  <a:srgbClr val="026E65"/>
                </a:solidFill>
                <a:latin typeface="Calibri" pitchFamily="34" charset="0"/>
                <a:ea typeface="Calibri" pitchFamily="34" charset="-122"/>
                <a:cs typeface="Calibri" pitchFamily="34" charset="-120"/>
              </a:rPr>
              <a:t>Triase terapis beralasan</a:t>
            </a:r>
            <a:endParaRPr lang="en-US" sz="1050" dirty="0"/>
          </a:p>
        </p:txBody>
      </p:sp>
      <p:sp>
        <p:nvSpPr>
          <p:cNvPr id="47" name="Text 43"/>
          <p:cNvSpPr/>
          <p:nvPr/>
        </p:nvSpPr>
        <p:spPr>
          <a:xfrm>
            <a:off x="9784080" y="4983480"/>
            <a:ext cx="1554480" cy="384048"/>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1050" b="1" dirty="0">
                <a:solidFill>
                  <a:srgbClr val="026E65"/>
                </a:solidFill>
                <a:latin typeface="Calibri" pitchFamily="34" charset="0"/>
                <a:ea typeface="Calibri" pitchFamily="34" charset="-122"/>
                <a:cs typeface="Calibri" pitchFamily="34" charset="-120"/>
              </a:rPr>
              <a:t>Persetujuan keluarga</a:t>
            </a:r>
            <a:endParaRPr lang="en-US" sz="1050" dirty="0"/>
          </a:p>
        </p:txBody>
      </p:sp>
      <p:sp>
        <p:nvSpPr>
          <p:cNvPr id="48" name="Text 44"/>
          <p:cNvSpPr/>
          <p:nvPr/>
        </p:nvSpPr>
        <p:spPr>
          <a:xfrm>
            <a:off x="822960" y="5440680"/>
            <a:ext cx="10058400" cy="329184"/>
          </a:xfrm>
          <a:prstGeom prst="rect">
            <a:avLst/>
          </a:prstGeom>
          <a:noFill/>
          <a:ln/>
        </p:spPr>
        <p:txBody>
          <a:bodyPr wrap="square" lIns="0" tIns="0" rIns="0" bIns="0" rtlCol="0" anchor="ctr"/>
          <a:lstStyle/>
          <a:p>
            <a:pPr indent="0" marL="0">
              <a:buNone/>
            </a:pPr>
            <a:r>
              <a:rPr lang="en-US" sz="1300" b="1" dirty="0">
                <a:solidFill>
                  <a:srgbClr val="098277"/>
                </a:solidFill>
                <a:latin typeface="Calibri" pitchFamily="34" charset="0"/>
                <a:ea typeface="Calibri" pitchFamily="34" charset="-122"/>
                <a:cs typeface="Calibri" pitchFamily="34" charset="-120"/>
              </a:rPr>
              <a:t>Nyambung </a:t>
            </a:r>
            <a:pPr indent="0" marL="0">
              <a:buNone/>
            </a:pPr>
            <a:r>
              <a:rPr lang="en-US" sz="1300" dirty="0">
                <a:solidFill>
                  <a:srgbClr val="172C2A"/>
                </a:solidFill>
                <a:latin typeface="Calibri" pitchFamily="34" charset="0"/>
                <a:ea typeface="Calibri" pitchFamily="34" charset="-122"/>
                <a:cs typeface="Calibri" pitchFamily="34" charset="-120"/>
              </a:rPr>
              <a:t>menggabungkan keenamnya dalam satu loop luring-pertama.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SOLUSI · NYAMBUNG</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Nyambung menyambungkan anak, keluarga, dan terapis dalam satu loop luring-pertama</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3</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M1–M4: rumusan masalah di proposal Nyambung. Keempat komponen sudah dibangun dan berjalan di repositori Hack Day.</a:t>
            </a:r>
            <a:endParaRPr lang="en-US" sz="850" dirty="0"/>
          </a:p>
        </p:txBody>
      </p:sp>
      <p:sp>
        <p:nvSpPr>
          <p:cNvPr id="12" name="Shape 8"/>
          <p:cNvSpPr/>
          <p:nvPr/>
        </p:nvSpPr>
        <p:spPr>
          <a:xfrm>
            <a:off x="3630168" y="2697480"/>
            <a:ext cx="850392" cy="1737360"/>
          </a:xfrm>
          <a:prstGeom prst="line">
            <a:avLst/>
          </a:prstGeom>
          <a:noFill/>
          <a:ln w="38100">
            <a:solidFill>
              <a:srgbClr val="A0DDD7"/>
            </a:solidFill>
            <a:prstDash val="solid"/>
            <a:tailEnd type="triangle"/>
          </a:ln>
        </p:spPr>
      </p:sp>
      <p:sp>
        <p:nvSpPr>
          <p:cNvPr id="13" name="Shape 9"/>
          <p:cNvSpPr/>
          <p:nvPr/>
        </p:nvSpPr>
        <p:spPr>
          <a:xfrm flipH="1">
            <a:off x="1965960" y="5093208"/>
            <a:ext cx="2194560" cy="914"/>
          </a:xfrm>
          <a:prstGeom prst="line">
            <a:avLst/>
          </a:prstGeom>
          <a:noFill/>
          <a:ln w="38100">
            <a:solidFill>
              <a:srgbClr val="A0DDD7"/>
            </a:solidFill>
            <a:prstDash val="solid"/>
            <a:tailEnd type="triangle"/>
          </a:ln>
        </p:spPr>
      </p:sp>
      <p:sp>
        <p:nvSpPr>
          <p:cNvPr id="14" name="Shape 10"/>
          <p:cNvSpPr/>
          <p:nvPr/>
        </p:nvSpPr>
        <p:spPr>
          <a:xfrm flipV="1">
            <a:off x="1645920" y="2697480"/>
            <a:ext cx="850392" cy="1737360"/>
          </a:xfrm>
          <a:prstGeom prst="line">
            <a:avLst/>
          </a:prstGeom>
          <a:noFill/>
          <a:ln w="38100">
            <a:solidFill>
              <a:srgbClr val="A0DDD7"/>
            </a:solidFill>
            <a:prstDash val="solid"/>
            <a:tailEnd type="triangle"/>
          </a:ln>
        </p:spPr>
      </p:sp>
      <p:sp>
        <p:nvSpPr>
          <p:cNvPr id="15" name="Text 11"/>
          <p:cNvSpPr/>
          <p:nvPr/>
        </p:nvSpPr>
        <p:spPr>
          <a:xfrm>
            <a:off x="4160520" y="3383280"/>
            <a:ext cx="1645920" cy="274320"/>
          </a:xfrm>
          <a:prstGeom prst="rect">
            <a:avLst/>
          </a:prstGeom>
          <a:noFill/>
          <a:ln/>
        </p:spPr>
        <p:txBody>
          <a:bodyPr wrap="square" lIns="0" tIns="0" rIns="0" bIns="0" rtlCol="0" anchor="ctr"/>
          <a:lstStyle/>
          <a:p>
            <a:pPr indent="0" marL="0">
              <a:buNone/>
            </a:pPr>
            <a:r>
              <a:rPr lang="en-US" sz="1050" i="1" dirty="0">
                <a:solidFill>
                  <a:srgbClr val="52706D"/>
                </a:solidFill>
                <a:latin typeface="Calibri" pitchFamily="34" charset="0"/>
                <a:ea typeface="Calibri" pitchFamily="34" charset="-122"/>
                <a:cs typeface="Calibri" pitchFamily="34" charset="-120"/>
              </a:rPr>
              <a:t>ketukan jadi bukti</a:t>
            </a:r>
            <a:endParaRPr lang="en-US" sz="1050" dirty="0"/>
          </a:p>
        </p:txBody>
      </p:sp>
      <p:sp>
        <p:nvSpPr>
          <p:cNvPr id="16" name="Text 12"/>
          <p:cNvSpPr/>
          <p:nvPr/>
        </p:nvSpPr>
        <p:spPr>
          <a:xfrm>
            <a:off x="1874520" y="5230368"/>
            <a:ext cx="2377440" cy="274320"/>
          </a:xfrm>
          <a:prstGeom prst="rect">
            <a:avLst/>
          </a:prstGeom>
          <a:noFill/>
          <a:ln/>
        </p:spPr>
        <p:txBody>
          <a:bodyPr wrap="square" lIns="0" tIns="0" rIns="0" bIns="0" rtlCol="0" anchor="ctr"/>
          <a:lstStyle/>
          <a:p>
            <a:pPr algn="ctr" indent="0" marL="0">
              <a:buNone/>
            </a:pPr>
            <a:r>
              <a:rPr lang="en-US" sz="1050" i="1" dirty="0">
                <a:solidFill>
                  <a:srgbClr val="52706D"/>
                </a:solidFill>
                <a:latin typeface="Calibri" pitchFamily="34" charset="0"/>
                <a:ea typeface="Calibri" pitchFamily="34" charset="-122"/>
                <a:cs typeface="Calibri" pitchFamily="34" charset="-120"/>
              </a:rPr>
              <a:t>usulan kata: terima / tolak</a:t>
            </a:r>
            <a:endParaRPr lang="en-US" sz="1050" dirty="0"/>
          </a:p>
        </p:txBody>
      </p:sp>
      <p:sp>
        <p:nvSpPr>
          <p:cNvPr id="17" name="Text 13"/>
          <p:cNvSpPr/>
          <p:nvPr/>
        </p:nvSpPr>
        <p:spPr>
          <a:xfrm>
            <a:off x="548640" y="3383280"/>
            <a:ext cx="1371600" cy="274320"/>
          </a:xfrm>
          <a:prstGeom prst="rect">
            <a:avLst/>
          </a:prstGeom>
          <a:noFill/>
          <a:ln/>
        </p:spPr>
        <p:txBody>
          <a:bodyPr wrap="square" lIns="0" tIns="0" rIns="0" bIns="0" rtlCol="0" anchor="ctr"/>
          <a:lstStyle/>
          <a:p>
            <a:pPr algn="r" indent="0" marL="0">
              <a:buNone/>
            </a:pPr>
            <a:r>
              <a:rPr lang="en-US" sz="1050" i="1" dirty="0">
                <a:solidFill>
                  <a:srgbClr val="52706D"/>
                </a:solidFill>
                <a:latin typeface="Calibri" pitchFamily="34" charset="0"/>
                <a:ea typeface="Calibri" pitchFamily="34" charset="-122"/>
                <a:cs typeface="Calibri" pitchFamily="34" charset="-120"/>
              </a:rPr>
              <a:t>contoh harian</a:t>
            </a:r>
            <a:endParaRPr lang="en-US" sz="1050" dirty="0"/>
          </a:p>
        </p:txBody>
      </p:sp>
      <p:sp>
        <p:nvSpPr>
          <p:cNvPr id="18" name="Shape 14"/>
          <p:cNvSpPr/>
          <p:nvPr/>
        </p:nvSpPr>
        <p:spPr>
          <a:xfrm>
            <a:off x="2496312" y="1783080"/>
            <a:ext cx="1133856" cy="1133856"/>
          </a:xfrm>
          <a:prstGeom prst="ellipse">
            <a:avLst/>
          </a:prstGeom>
          <a:solidFill>
            <a:srgbClr val="098277"/>
          </a:solidFill>
          <a:ln w="12700">
            <a:solidFill>
              <a:srgbClr val="098277"/>
            </a:solidFill>
            <a:prstDash val="solid"/>
          </a:ln>
        </p:spPr>
      </p:sp>
      <p:pic>
        <p:nvPicPr>
          <p:cNvPr id="19" name="Image 1" descr="preencoded.png">    </p:cNvPr>
          <p:cNvPicPr>
            <a:picLocks noChangeAspect="1"/>
          </p:cNvPicPr>
          <p:nvPr/>
        </p:nvPicPr>
        <p:blipFill>
          <a:blip r:embed="rId2"/>
          <a:stretch>
            <a:fillRect/>
          </a:stretch>
        </p:blipFill>
        <p:spPr>
          <a:xfrm>
            <a:off x="2768437" y="2055205"/>
            <a:ext cx="589605" cy="589605"/>
          </a:xfrm>
          <a:prstGeom prst="rect">
            <a:avLst/>
          </a:prstGeom>
        </p:spPr>
      </p:pic>
      <p:sp>
        <p:nvSpPr>
          <p:cNvPr id="20" name="Text 15"/>
          <p:cNvSpPr/>
          <p:nvPr/>
        </p:nvSpPr>
        <p:spPr>
          <a:xfrm>
            <a:off x="2130552" y="2953512"/>
            <a:ext cx="1865376" cy="292608"/>
          </a:xfrm>
          <a:prstGeom prst="rect">
            <a:avLst/>
          </a:prstGeom>
          <a:noFill/>
          <a:ln/>
        </p:spPr>
        <p:txBody>
          <a:bodyPr wrap="square" lIns="0" tIns="0" rIns="0" bIns="0" rtlCol="0" anchor="ctr"/>
          <a:lstStyle/>
          <a:p>
            <a:pPr algn="ctr" indent="0" marL="0">
              <a:buNone/>
            </a:pPr>
            <a:r>
              <a:rPr lang="en-US" sz="1400" b="1" dirty="0">
                <a:solidFill>
                  <a:srgbClr val="172C2A"/>
                </a:solidFill>
                <a:latin typeface="Trebuchet MS" pitchFamily="34" charset="0"/>
                <a:ea typeface="Trebuchet MS" pitchFamily="34" charset="-122"/>
                <a:cs typeface="Trebuchet MS" pitchFamily="34" charset="-120"/>
              </a:rPr>
              <a:t>Anak</a:t>
            </a:r>
            <a:endParaRPr lang="en-US" sz="1400" dirty="0"/>
          </a:p>
        </p:txBody>
      </p:sp>
      <p:sp>
        <p:nvSpPr>
          <p:cNvPr id="21" name="Shape 16"/>
          <p:cNvSpPr/>
          <p:nvPr/>
        </p:nvSpPr>
        <p:spPr>
          <a:xfrm>
            <a:off x="731520" y="4526280"/>
            <a:ext cx="1133856" cy="1133856"/>
          </a:xfrm>
          <a:prstGeom prst="ellipse">
            <a:avLst/>
          </a:prstGeom>
          <a:solidFill>
            <a:srgbClr val="D34349"/>
          </a:solidFill>
          <a:ln w="12700">
            <a:solidFill>
              <a:srgbClr val="D34349"/>
            </a:solidFill>
            <a:prstDash val="solid"/>
          </a:ln>
        </p:spPr>
      </p:sp>
      <p:pic>
        <p:nvPicPr>
          <p:cNvPr id="22" name="Image 2" descr="preencoded.png">    </p:cNvPr>
          <p:cNvPicPr>
            <a:picLocks noChangeAspect="1"/>
          </p:cNvPicPr>
          <p:nvPr/>
        </p:nvPicPr>
        <p:blipFill>
          <a:blip r:embed="rId3"/>
          <a:stretch>
            <a:fillRect/>
          </a:stretch>
        </p:blipFill>
        <p:spPr>
          <a:xfrm>
            <a:off x="1003645" y="4798405"/>
            <a:ext cx="589605" cy="589605"/>
          </a:xfrm>
          <a:prstGeom prst="rect">
            <a:avLst/>
          </a:prstGeom>
        </p:spPr>
      </p:pic>
      <p:sp>
        <p:nvSpPr>
          <p:cNvPr id="23" name="Text 17"/>
          <p:cNvSpPr/>
          <p:nvPr/>
        </p:nvSpPr>
        <p:spPr>
          <a:xfrm>
            <a:off x="365760" y="5696712"/>
            <a:ext cx="1865376" cy="292608"/>
          </a:xfrm>
          <a:prstGeom prst="rect">
            <a:avLst/>
          </a:prstGeom>
          <a:noFill/>
          <a:ln/>
        </p:spPr>
        <p:txBody>
          <a:bodyPr wrap="square" lIns="0" tIns="0" rIns="0" bIns="0" rtlCol="0" anchor="ctr"/>
          <a:lstStyle/>
          <a:p>
            <a:pPr algn="ctr" indent="0" marL="0">
              <a:buNone/>
            </a:pPr>
            <a:r>
              <a:rPr lang="en-US" sz="1400" b="1" dirty="0">
                <a:solidFill>
                  <a:srgbClr val="172C2A"/>
                </a:solidFill>
                <a:latin typeface="Trebuchet MS" pitchFamily="34" charset="0"/>
                <a:ea typeface="Trebuchet MS" pitchFamily="34" charset="-122"/>
                <a:cs typeface="Trebuchet MS" pitchFamily="34" charset="-120"/>
              </a:rPr>
              <a:t>Keluarga</a:t>
            </a:r>
            <a:endParaRPr lang="en-US" sz="1400" dirty="0"/>
          </a:p>
        </p:txBody>
      </p:sp>
      <p:sp>
        <p:nvSpPr>
          <p:cNvPr id="24" name="Shape 18"/>
          <p:cNvSpPr/>
          <p:nvPr/>
        </p:nvSpPr>
        <p:spPr>
          <a:xfrm>
            <a:off x="4251960" y="4526280"/>
            <a:ext cx="1133856" cy="1133856"/>
          </a:xfrm>
          <a:prstGeom prst="ellipse">
            <a:avLst/>
          </a:prstGeom>
          <a:solidFill>
            <a:srgbClr val="5B57A8"/>
          </a:solidFill>
          <a:ln w="12700">
            <a:solidFill>
              <a:srgbClr val="5B57A8"/>
            </a:solidFill>
            <a:prstDash val="solid"/>
          </a:ln>
        </p:spPr>
      </p:sp>
      <p:pic>
        <p:nvPicPr>
          <p:cNvPr id="25" name="Image 3" descr="preencoded.png">    </p:cNvPr>
          <p:cNvPicPr>
            <a:picLocks noChangeAspect="1"/>
          </p:cNvPicPr>
          <p:nvPr/>
        </p:nvPicPr>
        <p:blipFill>
          <a:blip r:embed="rId4"/>
          <a:stretch>
            <a:fillRect/>
          </a:stretch>
        </p:blipFill>
        <p:spPr>
          <a:xfrm>
            <a:off x="4524085" y="4798405"/>
            <a:ext cx="589605" cy="589605"/>
          </a:xfrm>
          <a:prstGeom prst="rect">
            <a:avLst/>
          </a:prstGeom>
        </p:spPr>
      </p:pic>
      <p:sp>
        <p:nvSpPr>
          <p:cNvPr id="26" name="Text 19"/>
          <p:cNvSpPr/>
          <p:nvPr/>
        </p:nvSpPr>
        <p:spPr>
          <a:xfrm>
            <a:off x="3886200" y="5696712"/>
            <a:ext cx="1865376" cy="292608"/>
          </a:xfrm>
          <a:prstGeom prst="rect">
            <a:avLst/>
          </a:prstGeom>
          <a:noFill/>
          <a:ln/>
        </p:spPr>
        <p:txBody>
          <a:bodyPr wrap="square" lIns="0" tIns="0" rIns="0" bIns="0" rtlCol="0" anchor="ctr"/>
          <a:lstStyle/>
          <a:p>
            <a:pPr algn="ctr" indent="0" marL="0">
              <a:buNone/>
            </a:pPr>
            <a:r>
              <a:rPr lang="en-US" sz="1400" b="1" dirty="0">
                <a:solidFill>
                  <a:srgbClr val="172C2A"/>
                </a:solidFill>
                <a:latin typeface="Trebuchet MS" pitchFamily="34" charset="0"/>
                <a:ea typeface="Trebuchet MS" pitchFamily="34" charset="-122"/>
                <a:cs typeface="Trebuchet MS" pitchFamily="34" charset="-120"/>
              </a:rPr>
              <a:t>Terapis</a:t>
            </a:r>
            <a:endParaRPr lang="en-US" sz="1400" dirty="0"/>
          </a:p>
        </p:txBody>
      </p:sp>
      <p:pic>
        <p:nvPicPr>
          <p:cNvPr id="27" name="Image 4" descr="C:\Users\mikae\OneDrive\Documents\Lomba\IFEST\Nyambung\app\assets\brand\logo_mark.png">    </p:cNvPr>
          <p:cNvPicPr>
            <a:picLocks noChangeAspect="1"/>
          </p:cNvPicPr>
          <p:nvPr/>
        </p:nvPicPr>
        <p:blipFill>
          <a:blip r:embed="rId5"/>
          <a:stretch>
            <a:fillRect/>
          </a:stretch>
        </p:blipFill>
        <p:spPr>
          <a:xfrm>
            <a:off x="2624328" y="3675888"/>
            <a:ext cx="877824" cy="877824"/>
          </a:xfrm>
          <a:prstGeom prst="rect">
            <a:avLst/>
          </a:prstGeom>
        </p:spPr>
      </p:pic>
      <p:sp>
        <p:nvSpPr>
          <p:cNvPr id="28" name="Text 20"/>
          <p:cNvSpPr/>
          <p:nvPr/>
        </p:nvSpPr>
        <p:spPr>
          <a:xfrm>
            <a:off x="1783080" y="5596128"/>
            <a:ext cx="2560320" cy="365760"/>
          </a:xfrm>
          <a:prstGeom prst="rect">
            <a:avLst/>
          </a:prstGeom>
          <a:noFill/>
          <a:ln/>
        </p:spPr>
        <p:txBody>
          <a:bodyPr wrap="square" lIns="0" tIns="0" rIns="0" bIns="0" rtlCol="0" anchor="ctr"/>
          <a:lstStyle/>
          <a:p>
            <a:pPr algn="ctr" indent="0" marL="0">
              <a:buNone/>
            </a:pPr>
            <a:r>
              <a:rPr lang="en-US" sz="1500" b="1" i="1" dirty="0">
                <a:solidFill>
                  <a:srgbClr val="098277"/>
                </a:solidFill>
                <a:latin typeface="Trebuchet MS" pitchFamily="34" charset="0"/>
                <a:ea typeface="Trebuchet MS" pitchFamily="34" charset="-122"/>
                <a:cs typeface="Trebuchet MS" pitchFamily="34" charset="-120"/>
              </a:rPr>
              <a:t>Suara anak, sampai.</a:t>
            </a:r>
            <a:endParaRPr lang="en-US" sz="1500" dirty="0"/>
          </a:p>
        </p:txBody>
      </p:sp>
      <p:sp>
        <p:nvSpPr>
          <p:cNvPr id="29" name="Shape 21"/>
          <p:cNvSpPr/>
          <p:nvPr/>
        </p:nvSpPr>
        <p:spPr>
          <a:xfrm>
            <a:off x="6172200" y="1783080"/>
            <a:ext cx="5470855" cy="932688"/>
          </a:xfrm>
          <a:prstGeom prst="roundRect">
            <a:avLst>
              <a:gd name="adj" fmla="val 11765"/>
            </a:avLst>
          </a:prstGeom>
          <a:solidFill>
            <a:srgbClr val="FFFFFF"/>
          </a:solidFill>
          <a:ln w="9525">
            <a:solidFill>
              <a:srgbClr val="DCEEEC"/>
            </a:solidFill>
            <a:prstDash val="solid"/>
          </a:ln>
        </p:spPr>
      </p:sp>
      <p:sp>
        <p:nvSpPr>
          <p:cNvPr id="30" name="Shape 22"/>
          <p:cNvSpPr/>
          <p:nvPr/>
        </p:nvSpPr>
        <p:spPr>
          <a:xfrm>
            <a:off x="6355080" y="1956816"/>
            <a:ext cx="585216" cy="585216"/>
          </a:xfrm>
          <a:prstGeom prst="ellipse">
            <a:avLst/>
          </a:prstGeom>
          <a:solidFill>
            <a:srgbClr val="098277"/>
          </a:solidFill>
          <a:ln w="12700">
            <a:solidFill>
              <a:srgbClr val="098277"/>
            </a:solidFill>
            <a:prstDash val="solid"/>
          </a:ln>
        </p:spPr>
      </p:sp>
      <p:pic>
        <p:nvPicPr>
          <p:cNvPr id="31" name="Image 5" descr="preencoded.png">    </p:cNvPr>
          <p:cNvPicPr>
            <a:picLocks noChangeAspect="1"/>
          </p:cNvPicPr>
          <p:nvPr/>
        </p:nvPicPr>
        <p:blipFill>
          <a:blip r:embed="rId6"/>
          <a:stretch>
            <a:fillRect/>
          </a:stretch>
        </p:blipFill>
        <p:spPr>
          <a:xfrm>
            <a:off x="6495532" y="2097268"/>
            <a:ext cx="304312" cy="304312"/>
          </a:xfrm>
          <a:prstGeom prst="rect">
            <a:avLst/>
          </a:prstGeom>
        </p:spPr>
      </p:pic>
      <p:sp>
        <p:nvSpPr>
          <p:cNvPr id="32" name="Text 23"/>
          <p:cNvSpPr/>
          <p:nvPr/>
        </p:nvSpPr>
        <p:spPr>
          <a:xfrm>
            <a:off x="7086600" y="1837944"/>
            <a:ext cx="4419295" cy="822960"/>
          </a:xfrm>
          <a:prstGeom prst="rect">
            <a:avLst/>
          </a:prstGeom>
          <a:noFill/>
          <a:ln/>
        </p:spPr>
        <p:txBody>
          <a:bodyPr wrap="square" lIns="0" tIns="0" rIns="0" bIns="0" rtlCol="0" anchor="ctr"/>
          <a:lstStyle/>
          <a:p>
            <a:pPr indent="0" marL="0">
              <a:buNone/>
            </a:pPr>
            <a:r>
              <a:rPr lang="en-US" sz="1450" b="1" dirty="0">
                <a:solidFill>
                  <a:srgbClr val="172C2A"/>
                </a:solidFill>
                <a:latin typeface="Trebuchet MS" pitchFamily="34" charset="0"/>
                <a:ea typeface="Trebuchet MS" pitchFamily="34" charset="-122"/>
                <a:cs typeface="Trebuchet MS" pitchFamily="34" charset="-120"/>
              </a:rPr>
              <a:t>Papan Bicara luring</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12 kata inti berposisi tetap, 120 kata, suara tanpa internet</a:t>
            </a:r>
            <a:endParaRPr lang="en-US" sz="1450" dirty="0"/>
          </a:p>
          <a:p>
            <a:pPr indent="0" marL="0">
              <a:buNone/>
            </a:pPr>
            <a:r>
              <a:rPr lang="en-US" sz="1000" i="1" dirty="0">
                <a:solidFill>
                  <a:srgbClr val="52706D"/>
                </a:solidFill>
                <a:latin typeface="Calibri" pitchFamily="34" charset="0"/>
                <a:ea typeface="Calibri" pitchFamily="34" charset="-122"/>
                <a:cs typeface="Calibri" pitchFamily="34" charset="-120"/>
              </a:rPr>
              <a:t>menjawab M1 · alat berbahasa Inggris, mahal, butuh internet</a:t>
            </a:r>
            <a:endParaRPr lang="en-US" sz="1450" dirty="0"/>
          </a:p>
        </p:txBody>
      </p:sp>
      <p:sp>
        <p:nvSpPr>
          <p:cNvPr id="33" name="Shape 24"/>
          <p:cNvSpPr/>
          <p:nvPr/>
        </p:nvSpPr>
        <p:spPr>
          <a:xfrm>
            <a:off x="6172200" y="2825496"/>
            <a:ext cx="5470855" cy="932688"/>
          </a:xfrm>
          <a:prstGeom prst="roundRect">
            <a:avLst>
              <a:gd name="adj" fmla="val 11765"/>
            </a:avLst>
          </a:prstGeom>
          <a:solidFill>
            <a:srgbClr val="FFFFFF"/>
          </a:solidFill>
          <a:ln w="9525">
            <a:solidFill>
              <a:srgbClr val="DCEEEC"/>
            </a:solidFill>
            <a:prstDash val="solid"/>
          </a:ln>
        </p:spPr>
      </p:sp>
      <p:sp>
        <p:nvSpPr>
          <p:cNvPr id="34" name="Shape 25"/>
          <p:cNvSpPr/>
          <p:nvPr/>
        </p:nvSpPr>
        <p:spPr>
          <a:xfrm>
            <a:off x="6355080" y="2999232"/>
            <a:ext cx="585216" cy="585216"/>
          </a:xfrm>
          <a:prstGeom prst="ellipse">
            <a:avLst/>
          </a:prstGeom>
          <a:solidFill>
            <a:srgbClr val="D34349"/>
          </a:solidFill>
          <a:ln w="12700">
            <a:solidFill>
              <a:srgbClr val="D34349"/>
            </a:solidFill>
            <a:prstDash val="solid"/>
          </a:ln>
        </p:spPr>
      </p:sp>
      <p:pic>
        <p:nvPicPr>
          <p:cNvPr id="35" name="Image 6" descr="preencoded.png">    </p:cNvPr>
          <p:cNvPicPr>
            <a:picLocks noChangeAspect="1"/>
          </p:cNvPicPr>
          <p:nvPr/>
        </p:nvPicPr>
        <p:blipFill>
          <a:blip r:embed="rId7"/>
          <a:stretch>
            <a:fillRect/>
          </a:stretch>
        </p:blipFill>
        <p:spPr>
          <a:xfrm>
            <a:off x="6495532" y="3139684"/>
            <a:ext cx="304312" cy="304312"/>
          </a:xfrm>
          <a:prstGeom prst="rect">
            <a:avLst/>
          </a:prstGeom>
        </p:spPr>
      </p:pic>
      <p:sp>
        <p:nvSpPr>
          <p:cNvPr id="36" name="Text 26"/>
          <p:cNvSpPr/>
          <p:nvPr/>
        </p:nvSpPr>
        <p:spPr>
          <a:xfrm>
            <a:off x="7086600" y="2880360"/>
            <a:ext cx="4419295" cy="822960"/>
          </a:xfrm>
          <a:prstGeom prst="rect">
            <a:avLst/>
          </a:prstGeom>
          <a:noFill/>
          <a:ln/>
        </p:spPr>
        <p:txBody>
          <a:bodyPr wrap="square" lIns="0" tIns="0" rIns="0" bIns="0" rtlCol="0" anchor="ctr"/>
          <a:lstStyle/>
          <a:p>
            <a:pPr indent="0" marL="0">
              <a:buNone/>
            </a:pPr>
            <a:r>
              <a:rPr lang="en-US" sz="1450" b="1" dirty="0">
                <a:solidFill>
                  <a:srgbClr val="172C2A"/>
                </a:solidFill>
                <a:latin typeface="Trebuchet MS" pitchFamily="34" charset="0"/>
                <a:ea typeface="Trebuchet MS" pitchFamily="34" charset="-122"/>
                <a:cs typeface="Trebuchet MS" pitchFamily="34" charset="-120"/>
              </a:rPr>
              <a:t>Pendamping Harian</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1 pelajaran 60 detik + 1 misi &lt; 5 menit di rutinitas</a:t>
            </a:r>
            <a:endParaRPr lang="en-US" sz="1450" dirty="0"/>
          </a:p>
          <a:p>
            <a:pPr indent="0" marL="0">
              <a:buNone/>
            </a:pPr>
            <a:r>
              <a:rPr lang="en-US" sz="1000" i="1" dirty="0">
                <a:solidFill>
                  <a:srgbClr val="52706D"/>
                </a:solidFill>
                <a:latin typeface="Calibri" pitchFamily="34" charset="0"/>
                <a:ea typeface="Calibri" pitchFamily="34" charset="-122"/>
                <a:cs typeface="Calibri" pitchFamily="34" charset="-120"/>
              </a:rPr>
              <a:t>menjawab M2 · orang tua tidak pernah dilatih memberi contoh</a:t>
            </a:r>
            <a:endParaRPr lang="en-US" sz="1450" dirty="0"/>
          </a:p>
        </p:txBody>
      </p:sp>
      <p:sp>
        <p:nvSpPr>
          <p:cNvPr id="37" name="Shape 27"/>
          <p:cNvSpPr/>
          <p:nvPr/>
        </p:nvSpPr>
        <p:spPr>
          <a:xfrm>
            <a:off x="6172200" y="3867912"/>
            <a:ext cx="5470855" cy="932688"/>
          </a:xfrm>
          <a:prstGeom prst="roundRect">
            <a:avLst>
              <a:gd name="adj" fmla="val 11765"/>
            </a:avLst>
          </a:prstGeom>
          <a:solidFill>
            <a:srgbClr val="FFFFFF"/>
          </a:solidFill>
          <a:ln w="9525">
            <a:solidFill>
              <a:srgbClr val="DCEEEC"/>
            </a:solidFill>
            <a:prstDash val="solid"/>
          </a:ln>
        </p:spPr>
      </p:sp>
      <p:sp>
        <p:nvSpPr>
          <p:cNvPr id="38" name="Shape 28"/>
          <p:cNvSpPr/>
          <p:nvPr/>
        </p:nvSpPr>
        <p:spPr>
          <a:xfrm>
            <a:off x="6355080" y="4041648"/>
            <a:ext cx="585216" cy="585216"/>
          </a:xfrm>
          <a:prstGeom prst="ellipse">
            <a:avLst/>
          </a:prstGeom>
          <a:solidFill>
            <a:srgbClr val="5B57A8"/>
          </a:solidFill>
          <a:ln w="12700">
            <a:solidFill>
              <a:srgbClr val="5B57A8"/>
            </a:solidFill>
            <a:prstDash val="solid"/>
          </a:ln>
        </p:spPr>
      </p:sp>
      <p:pic>
        <p:nvPicPr>
          <p:cNvPr id="39" name="Image 7" descr="preencoded.png">    </p:cNvPr>
          <p:cNvPicPr>
            <a:picLocks noChangeAspect="1"/>
          </p:cNvPicPr>
          <p:nvPr/>
        </p:nvPicPr>
        <p:blipFill>
          <a:blip r:embed="rId8"/>
          <a:stretch>
            <a:fillRect/>
          </a:stretch>
        </p:blipFill>
        <p:spPr>
          <a:xfrm>
            <a:off x="6495532" y="4182100"/>
            <a:ext cx="304312" cy="304312"/>
          </a:xfrm>
          <a:prstGeom prst="rect">
            <a:avLst/>
          </a:prstGeom>
        </p:spPr>
      </p:pic>
      <p:sp>
        <p:nvSpPr>
          <p:cNvPr id="40" name="Text 29"/>
          <p:cNvSpPr/>
          <p:nvPr/>
        </p:nvSpPr>
        <p:spPr>
          <a:xfrm>
            <a:off x="7086600" y="3922776"/>
            <a:ext cx="4419295" cy="822960"/>
          </a:xfrm>
          <a:prstGeom prst="rect">
            <a:avLst/>
          </a:prstGeom>
          <a:noFill/>
          <a:ln/>
        </p:spPr>
        <p:txBody>
          <a:bodyPr wrap="square" lIns="0" tIns="0" rIns="0" bIns="0" rtlCol="0" anchor="ctr"/>
          <a:lstStyle/>
          <a:p>
            <a:pPr indent="0" marL="0">
              <a:buNone/>
            </a:pPr>
            <a:r>
              <a:rPr lang="en-US" sz="1450" b="1" dirty="0">
                <a:solidFill>
                  <a:srgbClr val="172C2A"/>
                </a:solidFill>
                <a:latin typeface="Trebuchet MS" pitchFamily="34" charset="0"/>
                <a:ea typeface="Trebuchet MS" pitchFamily="34" charset="-122"/>
                <a:cs typeface="Trebuchet MS" pitchFamily="34" charset="-120"/>
              </a:rPr>
              <a:t>Jembatan Terapis</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ketukan jadi ringkasan; usulan kata kembali ke rumah</a:t>
            </a:r>
            <a:endParaRPr lang="en-US" sz="1450" dirty="0"/>
          </a:p>
          <a:p>
            <a:pPr indent="0" marL="0">
              <a:buNone/>
            </a:pPr>
            <a:r>
              <a:rPr lang="en-US" sz="1000" i="1" dirty="0">
                <a:solidFill>
                  <a:srgbClr val="52706D"/>
                </a:solidFill>
                <a:latin typeface="Calibri" pitchFamily="34" charset="0"/>
                <a:ea typeface="Calibri" pitchFamily="34" charset="-122"/>
                <a:cs typeface="Calibri" pitchFamily="34" charset="-120"/>
              </a:rPr>
              <a:t>menjawab M3 · tidak ada jalur data rumah → terapis</a:t>
            </a:r>
            <a:endParaRPr lang="en-US" sz="1450" dirty="0"/>
          </a:p>
        </p:txBody>
      </p:sp>
      <p:sp>
        <p:nvSpPr>
          <p:cNvPr id="41" name="Shape 30"/>
          <p:cNvSpPr/>
          <p:nvPr/>
        </p:nvSpPr>
        <p:spPr>
          <a:xfrm>
            <a:off x="6172200" y="4910328"/>
            <a:ext cx="5470855" cy="932688"/>
          </a:xfrm>
          <a:prstGeom prst="roundRect">
            <a:avLst>
              <a:gd name="adj" fmla="val 11765"/>
            </a:avLst>
          </a:prstGeom>
          <a:solidFill>
            <a:srgbClr val="FFFFFF"/>
          </a:solidFill>
          <a:ln w="9525">
            <a:solidFill>
              <a:srgbClr val="DCEEEC"/>
            </a:solidFill>
            <a:prstDash val="solid"/>
          </a:ln>
        </p:spPr>
      </p:sp>
      <p:sp>
        <p:nvSpPr>
          <p:cNvPr id="42" name="Shape 31"/>
          <p:cNvSpPr/>
          <p:nvPr/>
        </p:nvSpPr>
        <p:spPr>
          <a:xfrm>
            <a:off x="6355080" y="5084064"/>
            <a:ext cx="585216" cy="585216"/>
          </a:xfrm>
          <a:prstGeom prst="ellipse">
            <a:avLst/>
          </a:prstGeom>
          <a:solidFill>
            <a:srgbClr val="026E65"/>
          </a:solidFill>
          <a:ln w="12700">
            <a:solidFill>
              <a:srgbClr val="026E65"/>
            </a:solidFill>
            <a:prstDash val="solid"/>
          </a:ln>
        </p:spPr>
      </p:sp>
      <p:pic>
        <p:nvPicPr>
          <p:cNvPr id="43" name="Image 8" descr="preencoded.png">    </p:cNvPr>
          <p:cNvPicPr>
            <a:picLocks noChangeAspect="1"/>
          </p:cNvPicPr>
          <p:nvPr/>
        </p:nvPicPr>
        <p:blipFill>
          <a:blip r:embed="rId9"/>
          <a:stretch>
            <a:fillRect/>
          </a:stretch>
        </p:blipFill>
        <p:spPr>
          <a:xfrm>
            <a:off x="6495532" y="5224516"/>
            <a:ext cx="304312" cy="304312"/>
          </a:xfrm>
          <a:prstGeom prst="rect">
            <a:avLst/>
          </a:prstGeom>
        </p:spPr>
      </p:pic>
      <p:sp>
        <p:nvSpPr>
          <p:cNvPr id="44" name="Text 32"/>
          <p:cNvSpPr/>
          <p:nvPr/>
        </p:nvSpPr>
        <p:spPr>
          <a:xfrm>
            <a:off x="7086600" y="4965192"/>
            <a:ext cx="4419295" cy="822960"/>
          </a:xfrm>
          <a:prstGeom prst="rect">
            <a:avLst/>
          </a:prstGeom>
          <a:noFill/>
          <a:ln/>
        </p:spPr>
        <p:txBody>
          <a:bodyPr wrap="square" lIns="0" tIns="0" rIns="0" bIns="0" rtlCol="0" anchor="ctr"/>
          <a:lstStyle/>
          <a:p>
            <a:pPr indent="0" marL="0">
              <a:buNone/>
            </a:pPr>
            <a:r>
              <a:rPr lang="en-US" sz="1450" b="1" dirty="0">
                <a:solidFill>
                  <a:srgbClr val="172C2A"/>
                </a:solidFill>
                <a:latin typeface="Trebuchet MS" pitchFamily="34" charset="0"/>
                <a:ea typeface="Trebuchet MS" pitchFamily="34" charset="-122"/>
                <a:cs typeface="Trebuchet MS" pitchFamily="34" charset="-120"/>
              </a:rPr>
              <a:t>Satu terapis, banyak keluarga</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triase beralasan + ringkasan sebelum sesi</a:t>
            </a:r>
            <a:endParaRPr lang="en-US" sz="1450" dirty="0"/>
          </a:p>
          <a:p>
            <a:pPr indent="0" marL="0">
              <a:buNone/>
            </a:pPr>
            <a:r>
              <a:rPr lang="en-US" sz="1000" i="1" dirty="0">
                <a:solidFill>
                  <a:srgbClr val="52706D"/>
                </a:solidFill>
                <a:latin typeface="Calibri" pitchFamily="34" charset="0"/>
                <a:ea typeface="Calibri" pitchFamily="34" charset="-122"/>
                <a:cs typeface="Calibri" pitchFamily="34" charset="-120"/>
              </a:rPr>
              <a:t>menjawab M4 · terapis langka dan terpusat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SOLUSI 1 · PAPAN BICARA</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Bicara tidak butuh internet: papan tetap hidup dalam mode pesawat</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4</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Thistle dkk. (2018), AJSLP · Banajee dkk. (2003), AAC · Project Core Universal Core. Ilustrasi mengikuti susunan dan palet aplikasi; simbol Mulberry CC BY-SA 4.0.</a:t>
            </a:r>
            <a:endParaRPr lang="en-US" sz="850" dirty="0"/>
          </a:p>
        </p:txBody>
      </p:sp>
      <p:sp>
        <p:nvSpPr>
          <p:cNvPr id="12" name="Shape 8"/>
          <p:cNvSpPr/>
          <p:nvPr/>
        </p:nvSpPr>
        <p:spPr>
          <a:xfrm>
            <a:off x="868680" y="1783080"/>
            <a:ext cx="2788920" cy="4069080"/>
          </a:xfrm>
          <a:prstGeom prst="roundRect">
            <a:avLst>
              <a:gd name="adj" fmla="val 9836"/>
            </a:avLst>
          </a:prstGeom>
          <a:solidFill>
            <a:srgbClr val="172C2A"/>
          </a:solidFill>
          <a:ln w="12700">
            <a:solidFill>
              <a:srgbClr val="172C2A"/>
            </a:solidFill>
            <a:prstDash val="solid"/>
          </a:ln>
        </p:spPr>
      </p:sp>
      <p:sp>
        <p:nvSpPr>
          <p:cNvPr id="13" name="Shape 9"/>
          <p:cNvSpPr/>
          <p:nvPr/>
        </p:nvSpPr>
        <p:spPr>
          <a:xfrm>
            <a:off x="950976" y="1865376"/>
            <a:ext cx="2624328" cy="3904488"/>
          </a:xfrm>
          <a:prstGeom prst="roundRect">
            <a:avLst>
              <a:gd name="adj" fmla="val 8362"/>
            </a:avLst>
          </a:prstGeom>
          <a:solidFill>
            <a:srgbClr val="FCFEFE"/>
          </a:solidFill>
          <a:ln w="12700">
            <a:solidFill>
              <a:srgbClr val="FCFEFE"/>
            </a:solidFill>
            <a:prstDash val="solid"/>
          </a:ln>
        </p:spPr>
      </p:sp>
      <p:sp>
        <p:nvSpPr>
          <p:cNvPr id="14" name="Shape 10"/>
          <p:cNvSpPr/>
          <p:nvPr/>
        </p:nvSpPr>
        <p:spPr>
          <a:xfrm>
            <a:off x="2217420" y="1929384"/>
            <a:ext cx="91440" cy="91440"/>
          </a:xfrm>
          <a:prstGeom prst="ellipse">
            <a:avLst/>
          </a:prstGeom>
          <a:solidFill>
            <a:srgbClr val="172C2A"/>
          </a:solidFill>
          <a:ln w="12700">
            <a:solidFill>
              <a:srgbClr val="172C2A"/>
            </a:solidFill>
            <a:prstDash val="solid"/>
          </a:ln>
        </p:spPr>
      </p:sp>
      <p:sp>
        <p:nvSpPr>
          <p:cNvPr id="15" name="Text 11"/>
          <p:cNvSpPr/>
          <p:nvPr/>
        </p:nvSpPr>
        <p:spPr>
          <a:xfrm>
            <a:off x="1042416" y="2057400"/>
            <a:ext cx="2441448" cy="201168"/>
          </a:xfrm>
          <a:prstGeom prst="rect">
            <a:avLst/>
          </a:prstGeom>
          <a:noFill/>
          <a:ln/>
        </p:spPr>
        <p:txBody>
          <a:bodyPr wrap="square" lIns="0" tIns="0" rIns="0" bIns="0" rtlCol="0" anchor="ctr"/>
          <a:lstStyle/>
          <a:p>
            <a:pPr indent="0" marL="0">
              <a:buNone/>
            </a:pPr>
            <a:r>
              <a:rPr lang="en-US" sz="800" b="1" dirty="0">
                <a:solidFill>
                  <a:srgbClr val="52706D"/>
                </a:solidFill>
                <a:latin typeface="Calibri" pitchFamily="34" charset="0"/>
                <a:ea typeface="Calibri" pitchFamily="34" charset="-122"/>
                <a:cs typeface="Calibri" pitchFamily="34" charset="-120"/>
              </a:rPr>
              <a:t>✈  Mode pesawat</a:t>
            </a:r>
            <a:endParaRPr lang="en-US" sz="800" dirty="0"/>
          </a:p>
        </p:txBody>
      </p:sp>
      <p:sp>
        <p:nvSpPr>
          <p:cNvPr id="16" name="Shape 12"/>
          <p:cNvSpPr/>
          <p:nvPr/>
        </p:nvSpPr>
        <p:spPr>
          <a:xfrm>
            <a:off x="1042416" y="2304288"/>
            <a:ext cx="2441448" cy="420624"/>
          </a:xfrm>
          <a:prstGeom prst="roundRect">
            <a:avLst>
              <a:gd name="adj" fmla="val 17391"/>
            </a:avLst>
          </a:prstGeom>
          <a:solidFill>
            <a:srgbClr val="FFFFFF"/>
          </a:solidFill>
          <a:ln w="12700">
            <a:solidFill>
              <a:srgbClr val="A0DDD7"/>
            </a:solidFill>
            <a:prstDash val="solid"/>
          </a:ln>
        </p:spPr>
      </p:sp>
      <p:sp>
        <p:nvSpPr>
          <p:cNvPr id="17" name="Text 13"/>
          <p:cNvSpPr/>
          <p:nvPr/>
        </p:nvSpPr>
        <p:spPr>
          <a:xfrm>
            <a:off x="1115568" y="2377440"/>
            <a:ext cx="457200" cy="274320"/>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850" b="1" dirty="0">
                <a:solidFill>
                  <a:srgbClr val="026E65"/>
                </a:solidFill>
                <a:latin typeface="Calibri" pitchFamily="34" charset="0"/>
                <a:ea typeface="Calibri" pitchFamily="34" charset="-122"/>
                <a:cs typeface="Calibri" pitchFamily="34" charset="-120"/>
              </a:rPr>
              <a:t>AKU</a:t>
            </a:r>
            <a:endParaRPr lang="en-US" sz="850" dirty="0"/>
          </a:p>
        </p:txBody>
      </p:sp>
      <p:sp>
        <p:nvSpPr>
          <p:cNvPr id="18" name="Text 14"/>
          <p:cNvSpPr/>
          <p:nvPr/>
        </p:nvSpPr>
        <p:spPr>
          <a:xfrm>
            <a:off x="1627632" y="2377440"/>
            <a:ext cx="457200" cy="274320"/>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850" b="1" dirty="0">
                <a:solidFill>
                  <a:srgbClr val="026E65"/>
                </a:solidFill>
                <a:latin typeface="Calibri" pitchFamily="34" charset="0"/>
                <a:ea typeface="Calibri" pitchFamily="34" charset="-122"/>
                <a:cs typeface="Calibri" pitchFamily="34" charset="-120"/>
              </a:rPr>
              <a:t>MAU</a:t>
            </a:r>
            <a:endParaRPr lang="en-US" sz="850" dirty="0"/>
          </a:p>
        </p:txBody>
      </p:sp>
      <p:sp>
        <p:nvSpPr>
          <p:cNvPr id="19" name="Text 15"/>
          <p:cNvSpPr/>
          <p:nvPr/>
        </p:nvSpPr>
        <p:spPr>
          <a:xfrm>
            <a:off x="2139696" y="2377440"/>
            <a:ext cx="603504" cy="274320"/>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850" b="1" dirty="0">
                <a:solidFill>
                  <a:srgbClr val="026E65"/>
                </a:solidFill>
                <a:latin typeface="Calibri" pitchFamily="34" charset="0"/>
                <a:ea typeface="Calibri" pitchFamily="34" charset="-122"/>
                <a:cs typeface="Calibri" pitchFamily="34" charset="-120"/>
              </a:rPr>
              <a:t>MINUM</a:t>
            </a:r>
            <a:endParaRPr lang="en-US" sz="850" dirty="0"/>
          </a:p>
        </p:txBody>
      </p:sp>
      <p:sp>
        <p:nvSpPr>
          <p:cNvPr id="20" name="Text 16"/>
          <p:cNvSpPr/>
          <p:nvPr/>
        </p:nvSpPr>
        <p:spPr>
          <a:xfrm>
            <a:off x="3099816" y="2359152"/>
            <a:ext cx="310896" cy="310896"/>
          </a:xfrm>
          <a:prstGeom prst="roundRect">
            <a:avLst>
              <a:gd name="adj" fmla="val 50000"/>
            </a:avLst>
          </a:prstGeom>
          <a:solidFill>
            <a:srgbClr val="BADE4A"/>
          </a:solidFill>
          <a:ln>
            <a:solidFill>
              <a:srgbClr val="BADE4A"/>
            </a:solidFill>
          </a:ln>
        </p:spPr>
        <p:txBody>
          <a:bodyPr wrap="square" lIns="0" tIns="0" rIns="0" bIns="0" rtlCol="0" anchor="ctr"/>
          <a:lstStyle/>
          <a:p>
            <a:pPr algn="ctr" indent="0" marL="0">
              <a:buNone/>
            </a:pPr>
            <a:r>
              <a:rPr lang="en-US" sz="900" b="1" dirty="0">
                <a:solidFill>
                  <a:srgbClr val="0B5E56"/>
                </a:solidFill>
                <a:latin typeface="Calibri" pitchFamily="34" charset="0"/>
                <a:ea typeface="Calibri" pitchFamily="34" charset="-122"/>
                <a:cs typeface="Calibri" pitchFamily="34" charset="-120"/>
              </a:rPr>
              <a:t>▶</a:t>
            </a:r>
            <a:endParaRPr lang="en-US" sz="900" dirty="0"/>
          </a:p>
        </p:txBody>
      </p:sp>
      <p:sp>
        <p:nvSpPr>
          <p:cNvPr id="21" name="Shape 17"/>
          <p:cNvSpPr/>
          <p:nvPr/>
        </p:nvSpPr>
        <p:spPr>
          <a:xfrm>
            <a:off x="1042416" y="2834640"/>
            <a:ext cx="777240" cy="658368"/>
          </a:xfrm>
          <a:prstGeom prst="roundRect">
            <a:avLst>
              <a:gd name="adj" fmla="val 8333"/>
            </a:avLst>
          </a:prstGeom>
          <a:solidFill>
            <a:srgbClr val="E1F4E7"/>
          </a:solidFill>
          <a:ln w="12700">
            <a:solidFill>
              <a:srgbClr val="6FC08F"/>
            </a:solidFill>
            <a:prstDash val="solid"/>
          </a:ln>
        </p:spPr>
      </p:sp>
      <p:pic>
        <p:nvPicPr>
          <p:cNvPr id="22" name="Image 1" descr="C:\Users\mikae\OneDrive\Documents\Lomba\IFEST\Nyambung\assets\symbols\png\mau.png">    </p:cNvPr>
          <p:cNvPicPr>
            <a:picLocks noChangeAspect="1"/>
          </p:cNvPicPr>
          <p:nvPr/>
        </p:nvPicPr>
        <p:blipFill>
          <a:blip r:embed="rId2"/>
          <a:stretch>
            <a:fillRect/>
          </a:stretch>
        </p:blipFill>
        <p:spPr>
          <a:xfrm>
            <a:off x="1246693" y="2887309"/>
            <a:ext cx="368686" cy="368686"/>
          </a:xfrm>
          <a:prstGeom prst="rect">
            <a:avLst/>
          </a:prstGeom>
        </p:spPr>
      </p:pic>
      <p:sp>
        <p:nvSpPr>
          <p:cNvPr id="23" name="Text 18"/>
          <p:cNvSpPr/>
          <p:nvPr/>
        </p:nvSpPr>
        <p:spPr>
          <a:xfrm>
            <a:off x="1042416" y="3269163"/>
            <a:ext cx="777240" cy="197510"/>
          </a:xfrm>
          <a:prstGeom prst="rect">
            <a:avLst/>
          </a:prstGeom>
          <a:noFill/>
          <a:ln/>
        </p:spPr>
        <p:txBody>
          <a:bodyPr wrap="square" lIns="0" tIns="0" rIns="0" bIns="0" rtlCol="0" anchor="ctr"/>
          <a:lstStyle/>
          <a:p>
            <a:pPr algn="ctr" indent="0" marL="0">
              <a:buNone/>
            </a:pPr>
            <a:r>
              <a:rPr lang="en-US" sz="750" b="1" dirty="0">
                <a:solidFill>
                  <a:srgbClr val="2A7445"/>
                </a:solidFill>
                <a:latin typeface="Calibri" pitchFamily="34" charset="0"/>
                <a:ea typeface="Calibri" pitchFamily="34" charset="-122"/>
                <a:cs typeface="Calibri" pitchFamily="34" charset="-120"/>
              </a:rPr>
              <a:t>MAU</a:t>
            </a:r>
            <a:endParaRPr lang="en-US" sz="750" dirty="0"/>
          </a:p>
        </p:txBody>
      </p:sp>
      <p:sp>
        <p:nvSpPr>
          <p:cNvPr id="24" name="Shape 19"/>
          <p:cNvSpPr/>
          <p:nvPr/>
        </p:nvSpPr>
        <p:spPr>
          <a:xfrm>
            <a:off x="1874520" y="2834640"/>
            <a:ext cx="777240" cy="658368"/>
          </a:xfrm>
          <a:prstGeom prst="roundRect">
            <a:avLst>
              <a:gd name="adj" fmla="val 8333"/>
            </a:avLst>
          </a:prstGeom>
          <a:solidFill>
            <a:srgbClr val="E1F4E7"/>
          </a:solidFill>
          <a:ln w="12700">
            <a:solidFill>
              <a:srgbClr val="6FC08F"/>
            </a:solidFill>
            <a:prstDash val="solid"/>
          </a:ln>
        </p:spPr>
      </p:sp>
      <p:sp>
        <p:nvSpPr>
          <p:cNvPr id="25" name="Text 20"/>
          <p:cNvSpPr/>
          <p:nvPr/>
        </p:nvSpPr>
        <p:spPr>
          <a:xfrm>
            <a:off x="1874520" y="2887309"/>
            <a:ext cx="777240" cy="368686"/>
          </a:xfrm>
          <a:prstGeom prst="rect">
            <a:avLst/>
          </a:prstGeom>
          <a:noFill/>
          <a:ln/>
        </p:spPr>
        <p:txBody>
          <a:bodyPr wrap="square" lIns="0" tIns="0" rIns="0" bIns="0" rtlCol="0" anchor="ctr"/>
          <a:lstStyle/>
          <a:p>
            <a:pPr algn="ctr" indent="0" marL="0">
              <a:buNone/>
            </a:pPr>
            <a:r>
              <a:rPr lang="en-US" sz="1600" b="1" dirty="0">
                <a:solidFill>
                  <a:srgbClr val="2A7445"/>
                </a:solidFill>
                <a:latin typeface="Trebuchet MS" pitchFamily="34" charset="0"/>
                <a:ea typeface="Trebuchet MS" pitchFamily="34" charset="-122"/>
                <a:cs typeface="Trebuchet MS" pitchFamily="34" charset="-120"/>
              </a:rPr>
              <a:t>B</a:t>
            </a:r>
            <a:endParaRPr lang="en-US" sz="1600" dirty="0"/>
          </a:p>
        </p:txBody>
      </p:sp>
      <p:sp>
        <p:nvSpPr>
          <p:cNvPr id="26" name="Text 21"/>
          <p:cNvSpPr/>
          <p:nvPr/>
        </p:nvSpPr>
        <p:spPr>
          <a:xfrm>
            <a:off x="1874520" y="3269163"/>
            <a:ext cx="777240" cy="197510"/>
          </a:xfrm>
          <a:prstGeom prst="rect">
            <a:avLst/>
          </a:prstGeom>
          <a:noFill/>
          <a:ln/>
        </p:spPr>
        <p:txBody>
          <a:bodyPr wrap="square" lIns="0" tIns="0" rIns="0" bIns="0" rtlCol="0" anchor="ctr"/>
          <a:lstStyle/>
          <a:p>
            <a:pPr algn="ctr" indent="0" marL="0">
              <a:buNone/>
            </a:pPr>
            <a:r>
              <a:rPr lang="en-US" sz="750" b="1" dirty="0">
                <a:solidFill>
                  <a:srgbClr val="2A7445"/>
                </a:solidFill>
                <a:latin typeface="Calibri" pitchFamily="34" charset="0"/>
                <a:ea typeface="Calibri" pitchFamily="34" charset="-122"/>
                <a:cs typeface="Calibri" pitchFamily="34" charset="-120"/>
              </a:rPr>
              <a:t>BERHENTI</a:t>
            </a:r>
            <a:endParaRPr lang="en-US" sz="750" dirty="0"/>
          </a:p>
        </p:txBody>
      </p:sp>
      <p:sp>
        <p:nvSpPr>
          <p:cNvPr id="27" name="Shape 22"/>
          <p:cNvSpPr/>
          <p:nvPr/>
        </p:nvSpPr>
        <p:spPr>
          <a:xfrm>
            <a:off x="2706624" y="2834640"/>
            <a:ext cx="777240" cy="658368"/>
          </a:xfrm>
          <a:prstGeom prst="roundRect">
            <a:avLst>
              <a:gd name="adj" fmla="val 8333"/>
            </a:avLst>
          </a:prstGeom>
          <a:solidFill>
            <a:srgbClr val="E1F4E7"/>
          </a:solidFill>
          <a:ln w="12700">
            <a:solidFill>
              <a:srgbClr val="6FC08F"/>
            </a:solidFill>
            <a:prstDash val="solid"/>
          </a:ln>
        </p:spPr>
      </p:sp>
      <p:pic>
        <p:nvPicPr>
          <p:cNvPr id="28" name="Image 2" descr="C:\Users\mikae\OneDrive\Documents\Lomba\IFEST\Nyambung\assets\symbols\png\bantu.png">    </p:cNvPr>
          <p:cNvPicPr>
            <a:picLocks noChangeAspect="1"/>
          </p:cNvPicPr>
          <p:nvPr/>
        </p:nvPicPr>
        <p:blipFill>
          <a:blip r:embed="rId3"/>
          <a:stretch>
            <a:fillRect/>
          </a:stretch>
        </p:blipFill>
        <p:spPr>
          <a:xfrm>
            <a:off x="2910901" y="2887309"/>
            <a:ext cx="368686" cy="368686"/>
          </a:xfrm>
          <a:prstGeom prst="rect">
            <a:avLst/>
          </a:prstGeom>
        </p:spPr>
      </p:pic>
      <p:sp>
        <p:nvSpPr>
          <p:cNvPr id="29" name="Text 23"/>
          <p:cNvSpPr/>
          <p:nvPr/>
        </p:nvSpPr>
        <p:spPr>
          <a:xfrm>
            <a:off x="2706624" y="3269163"/>
            <a:ext cx="777240" cy="197510"/>
          </a:xfrm>
          <a:prstGeom prst="rect">
            <a:avLst/>
          </a:prstGeom>
          <a:noFill/>
          <a:ln/>
        </p:spPr>
        <p:txBody>
          <a:bodyPr wrap="square" lIns="0" tIns="0" rIns="0" bIns="0" rtlCol="0" anchor="ctr"/>
          <a:lstStyle/>
          <a:p>
            <a:pPr algn="ctr" indent="0" marL="0">
              <a:buNone/>
            </a:pPr>
            <a:r>
              <a:rPr lang="en-US" sz="750" b="1" dirty="0">
                <a:solidFill>
                  <a:srgbClr val="2A7445"/>
                </a:solidFill>
                <a:latin typeface="Calibri" pitchFamily="34" charset="0"/>
                <a:ea typeface="Calibri" pitchFamily="34" charset="-122"/>
                <a:cs typeface="Calibri" pitchFamily="34" charset="-120"/>
              </a:rPr>
              <a:t>BANTU</a:t>
            </a:r>
            <a:endParaRPr lang="en-US" sz="750" dirty="0"/>
          </a:p>
        </p:txBody>
      </p:sp>
      <p:sp>
        <p:nvSpPr>
          <p:cNvPr id="30" name="Shape 24"/>
          <p:cNvSpPr/>
          <p:nvPr/>
        </p:nvSpPr>
        <p:spPr>
          <a:xfrm>
            <a:off x="1042416" y="3547872"/>
            <a:ext cx="777240" cy="658368"/>
          </a:xfrm>
          <a:prstGeom prst="roundRect">
            <a:avLst>
              <a:gd name="adj" fmla="val 8333"/>
            </a:avLst>
          </a:prstGeom>
          <a:solidFill>
            <a:srgbClr val="E8F6F5"/>
          </a:solidFill>
          <a:ln w="12700">
            <a:solidFill>
              <a:srgbClr val="C7C7D2"/>
            </a:solidFill>
            <a:prstDash val="solid"/>
          </a:ln>
        </p:spPr>
      </p:sp>
      <p:sp>
        <p:nvSpPr>
          <p:cNvPr id="31" name="Text 25"/>
          <p:cNvSpPr/>
          <p:nvPr/>
        </p:nvSpPr>
        <p:spPr>
          <a:xfrm>
            <a:off x="1042416" y="3600541"/>
            <a:ext cx="777240" cy="368686"/>
          </a:xfrm>
          <a:prstGeom prst="rect">
            <a:avLst/>
          </a:prstGeom>
          <a:noFill/>
          <a:ln/>
        </p:spPr>
        <p:txBody>
          <a:bodyPr wrap="square" lIns="0" tIns="0" rIns="0" bIns="0" rtlCol="0" anchor="ctr"/>
          <a:lstStyle/>
          <a:p>
            <a:pPr algn="ctr" indent="0" marL="0">
              <a:buNone/>
            </a:pPr>
            <a:r>
              <a:rPr lang="en-US" sz="1600" b="1" dirty="0">
                <a:solidFill>
                  <a:srgbClr val="172C2A"/>
                </a:solidFill>
                <a:latin typeface="Trebuchet MS" pitchFamily="34" charset="0"/>
                <a:ea typeface="Trebuchet MS" pitchFamily="34" charset="-122"/>
                <a:cs typeface="Trebuchet MS" pitchFamily="34" charset="-120"/>
              </a:rPr>
              <a:t>T</a:t>
            </a:r>
            <a:endParaRPr lang="en-US" sz="1600" dirty="0"/>
          </a:p>
        </p:txBody>
      </p:sp>
      <p:sp>
        <p:nvSpPr>
          <p:cNvPr id="32" name="Text 26"/>
          <p:cNvSpPr/>
          <p:nvPr/>
        </p:nvSpPr>
        <p:spPr>
          <a:xfrm>
            <a:off x="1042416" y="3982395"/>
            <a:ext cx="777240" cy="197510"/>
          </a:xfrm>
          <a:prstGeom prst="rect">
            <a:avLst/>
          </a:prstGeom>
          <a:noFill/>
          <a:ln/>
        </p:spPr>
        <p:txBody>
          <a:bodyPr wrap="square" lIns="0" tIns="0" rIns="0" bIns="0" rtlCol="0" anchor="ctr"/>
          <a:lstStyle/>
          <a:p>
            <a:pPr algn="ctr" indent="0" marL="0">
              <a:buNone/>
            </a:pPr>
            <a:r>
              <a:rPr lang="en-US" sz="750" b="1" dirty="0">
                <a:solidFill>
                  <a:srgbClr val="172C2A"/>
                </a:solidFill>
                <a:latin typeface="Calibri" pitchFamily="34" charset="0"/>
                <a:ea typeface="Calibri" pitchFamily="34" charset="-122"/>
                <a:cs typeface="Calibri" pitchFamily="34" charset="-120"/>
              </a:rPr>
              <a:t>TIDAK</a:t>
            </a:r>
            <a:endParaRPr lang="en-US" sz="750" dirty="0"/>
          </a:p>
        </p:txBody>
      </p:sp>
      <p:sp>
        <p:nvSpPr>
          <p:cNvPr id="33" name="Shape 27"/>
          <p:cNvSpPr/>
          <p:nvPr/>
        </p:nvSpPr>
        <p:spPr>
          <a:xfrm>
            <a:off x="1874520" y="3547872"/>
            <a:ext cx="777240" cy="658368"/>
          </a:xfrm>
          <a:prstGeom prst="roundRect">
            <a:avLst>
              <a:gd name="adj" fmla="val 8333"/>
            </a:avLst>
          </a:prstGeom>
          <a:solidFill>
            <a:srgbClr val="E8F6F5"/>
          </a:solidFill>
          <a:ln w="12700">
            <a:solidFill>
              <a:srgbClr val="C7C7D2"/>
            </a:solidFill>
            <a:prstDash val="solid"/>
          </a:ln>
        </p:spPr>
      </p:sp>
      <p:pic>
        <p:nvPicPr>
          <p:cNvPr id="34" name="Image 3" descr="C:\Users\mikae\OneDrive\Documents\Lomba\IFEST\Nyambung\assets\symbols\png\selesai.png">    </p:cNvPr>
          <p:cNvPicPr>
            <a:picLocks noChangeAspect="1"/>
          </p:cNvPicPr>
          <p:nvPr/>
        </p:nvPicPr>
        <p:blipFill>
          <a:blip r:embed="rId4"/>
          <a:stretch>
            <a:fillRect/>
          </a:stretch>
        </p:blipFill>
        <p:spPr>
          <a:xfrm>
            <a:off x="2078797" y="3600541"/>
            <a:ext cx="368686" cy="368686"/>
          </a:xfrm>
          <a:prstGeom prst="rect">
            <a:avLst/>
          </a:prstGeom>
        </p:spPr>
      </p:pic>
      <p:sp>
        <p:nvSpPr>
          <p:cNvPr id="35" name="Text 28"/>
          <p:cNvSpPr/>
          <p:nvPr/>
        </p:nvSpPr>
        <p:spPr>
          <a:xfrm>
            <a:off x="1874520" y="3982395"/>
            <a:ext cx="777240" cy="197510"/>
          </a:xfrm>
          <a:prstGeom prst="rect">
            <a:avLst/>
          </a:prstGeom>
          <a:noFill/>
          <a:ln/>
        </p:spPr>
        <p:txBody>
          <a:bodyPr wrap="square" lIns="0" tIns="0" rIns="0" bIns="0" rtlCol="0" anchor="ctr"/>
          <a:lstStyle/>
          <a:p>
            <a:pPr algn="ctr" indent="0" marL="0">
              <a:buNone/>
            </a:pPr>
            <a:r>
              <a:rPr lang="en-US" sz="750" b="1" dirty="0">
                <a:solidFill>
                  <a:srgbClr val="172C2A"/>
                </a:solidFill>
                <a:latin typeface="Calibri" pitchFamily="34" charset="0"/>
                <a:ea typeface="Calibri" pitchFamily="34" charset="-122"/>
                <a:cs typeface="Calibri" pitchFamily="34" charset="-120"/>
              </a:rPr>
              <a:t>SELESAI</a:t>
            </a:r>
            <a:endParaRPr lang="en-US" sz="750" dirty="0"/>
          </a:p>
        </p:txBody>
      </p:sp>
      <p:sp>
        <p:nvSpPr>
          <p:cNvPr id="36" name="Shape 29"/>
          <p:cNvSpPr/>
          <p:nvPr/>
        </p:nvSpPr>
        <p:spPr>
          <a:xfrm>
            <a:off x="2706624" y="3547872"/>
            <a:ext cx="777240" cy="658368"/>
          </a:xfrm>
          <a:prstGeom prst="roundRect">
            <a:avLst>
              <a:gd name="adj" fmla="val 8333"/>
            </a:avLst>
          </a:prstGeom>
          <a:solidFill>
            <a:srgbClr val="DEF3FC"/>
          </a:solidFill>
          <a:ln w="12700">
            <a:solidFill>
              <a:srgbClr val="6FC3EA"/>
            </a:solidFill>
            <a:prstDash val="solid"/>
          </a:ln>
        </p:spPr>
      </p:sp>
      <p:sp>
        <p:nvSpPr>
          <p:cNvPr id="37" name="Text 30"/>
          <p:cNvSpPr/>
          <p:nvPr/>
        </p:nvSpPr>
        <p:spPr>
          <a:xfrm>
            <a:off x="2706624" y="3600541"/>
            <a:ext cx="777240" cy="368686"/>
          </a:xfrm>
          <a:prstGeom prst="rect">
            <a:avLst/>
          </a:prstGeom>
          <a:noFill/>
          <a:ln/>
        </p:spPr>
        <p:txBody>
          <a:bodyPr wrap="square" lIns="0" tIns="0" rIns="0" bIns="0" rtlCol="0" anchor="ctr"/>
          <a:lstStyle/>
          <a:p>
            <a:pPr algn="ctr" indent="0" marL="0">
              <a:buNone/>
            </a:pPr>
            <a:r>
              <a:rPr lang="en-US" sz="1600" b="1" dirty="0">
                <a:solidFill>
                  <a:srgbClr val="1D6F94"/>
                </a:solidFill>
                <a:latin typeface="Trebuchet MS" pitchFamily="34" charset="0"/>
                <a:ea typeface="Trebuchet MS" pitchFamily="34" charset="-122"/>
                <a:cs typeface="Trebuchet MS" pitchFamily="34" charset="-120"/>
              </a:rPr>
              <a:t>S</a:t>
            </a:r>
            <a:endParaRPr lang="en-US" sz="1600" dirty="0"/>
          </a:p>
        </p:txBody>
      </p:sp>
      <p:sp>
        <p:nvSpPr>
          <p:cNvPr id="38" name="Text 31"/>
          <p:cNvSpPr/>
          <p:nvPr/>
        </p:nvSpPr>
        <p:spPr>
          <a:xfrm>
            <a:off x="2706624" y="3982395"/>
            <a:ext cx="777240" cy="197510"/>
          </a:xfrm>
          <a:prstGeom prst="rect">
            <a:avLst/>
          </a:prstGeom>
          <a:noFill/>
          <a:ln/>
        </p:spPr>
        <p:txBody>
          <a:bodyPr wrap="square" lIns="0" tIns="0" rIns="0" bIns="0" rtlCol="0" anchor="ctr"/>
          <a:lstStyle/>
          <a:p>
            <a:pPr algn="ctr" indent="0" marL="0">
              <a:buNone/>
            </a:pPr>
            <a:r>
              <a:rPr lang="en-US" sz="750" b="1" dirty="0">
                <a:solidFill>
                  <a:srgbClr val="1D6F94"/>
                </a:solidFill>
                <a:latin typeface="Calibri" pitchFamily="34" charset="0"/>
                <a:ea typeface="Calibri" pitchFamily="34" charset="-122"/>
                <a:cs typeface="Calibri" pitchFamily="34" charset="-120"/>
              </a:rPr>
              <a:t>SAKIT</a:t>
            </a:r>
            <a:endParaRPr lang="en-US" sz="750" dirty="0"/>
          </a:p>
        </p:txBody>
      </p:sp>
      <p:sp>
        <p:nvSpPr>
          <p:cNvPr id="39" name="Shape 32"/>
          <p:cNvSpPr/>
          <p:nvPr/>
        </p:nvSpPr>
        <p:spPr>
          <a:xfrm>
            <a:off x="1042416" y="4261104"/>
            <a:ext cx="777240" cy="658368"/>
          </a:xfrm>
          <a:prstGeom prst="roundRect">
            <a:avLst>
              <a:gd name="adj" fmla="val 8333"/>
            </a:avLst>
          </a:prstGeom>
          <a:solidFill>
            <a:srgbClr val="FCDE9E"/>
          </a:solidFill>
          <a:ln w="12700">
            <a:solidFill>
              <a:srgbClr val="E8B54A"/>
            </a:solidFill>
            <a:prstDash val="solid"/>
          </a:ln>
        </p:spPr>
      </p:sp>
      <p:sp>
        <p:nvSpPr>
          <p:cNvPr id="40" name="Text 33"/>
          <p:cNvSpPr/>
          <p:nvPr/>
        </p:nvSpPr>
        <p:spPr>
          <a:xfrm>
            <a:off x="1042416" y="4313773"/>
            <a:ext cx="777240" cy="368686"/>
          </a:xfrm>
          <a:prstGeom prst="rect">
            <a:avLst/>
          </a:prstGeom>
          <a:noFill/>
          <a:ln/>
        </p:spPr>
        <p:txBody>
          <a:bodyPr wrap="square" lIns="0" tIns="0" rIns="0" bIns="0" rtlCol="0" anchor="ctr"/>
          <a:lstStyle/>
          <a:p>
            <a:pPr algn="ctr" indent="0" marL="0">
              <a:buNone/>
            </a:pPr>
            <a:r>
              <a:rPr lang="en-US" sz="1600" b="1" dirty="0">
                <a:solidFill>
                  <a:srgbClr val="6E4400"/>
                </a:solidFill>
                <a:latin typeface="Trebuchet MS" pitchFamily="34" charset="0"/>
                <a:ea typeface="Trebuchet MS" pitchFamily="34" charset="-122"/>
                <a:cs typeface="Trebuchet MS" pitchFamily="34" charset="-120"/>
              </a:rPr>
              <a:t>A</a:t>
            </a:r>
            <a:endParaRPr lang="en-US" sz="1600" dirty="0"/>
          </a:p>
        </p:txBody>
      </p:sp>
      <p:sp>
        <p:nvSpPr>
          <p:cNvPr id="41" name="Text 34"/>
          <p:cNvSpPr/>
          <p:nvPr/>
        </p:nvSpPr>
        <p:spPr>
          <a:xfrm>
            <a:off x="1042416" y="4695627"/>
            <a:ext cx="777240" cy="197510"/>
          </a:xfrm>
          <a:prstGeom prst="rect">
            <a:avLst/>
          </a:prstGeom>
          <a:noFill/>
          <a:ln/>
        </p:spPr>
        <p:txBody>
          <a:bodyPr wrap="square" lIns="0" tIns="0" rIns="0" bIns="0" rtlCol="0" anchor="ctr"/>
          <a:lstStyle/>
          <a:p>
            <a:pPr algn="ctr" indent="0" marL="0">
              <a:buNone/>
            </a:pPr>
            <a:r>
              <a:rPr lang="en-US" sz="750" b="1" dirty="0">
                <a:solidFill>
                  <a:srgbClr val="6E4400"/>
                </a:solidFill>
                <a:latin typeface="Calibri" pitchFamily="34" charset="0"/>
                <a:ea typeface="Calibri" pitchFamily="34" charset="-122"/>
                <a:cs typeface="Calibri" pitchFamily="34" charset="-120"/>
              </a:rPr>
              <a:t>AKU</a:t>
            </a:r>
            <a:endParaRPr lang="en-US" sz="750" dirty="0"/>
          </a:p>
        </p:txBody>
      </p:sp>
      <p:sp>
        <p:nvSpPr>
          <p:cNvPr id="42" name="Shape 35"/>
          <p:cNvSpPr/>
          <p:nvPr/>
        </p:nvSpPr>
        <p:spPr>
          <a:xfrm>
            <a:off x="1874520" y="4261104"/>
            <a:ext cx="777240" cy="658368"/>
          </a:xfrm>
          <a:prstGeom prst="roundRect">
            <a:avLst>
              <a:gd name="adj" fmla="val 8333"/>
            </a:avLst>
          </a:prstGeom>
          <a:solidFill>
            <a:srgbClr val="E1F4E7"/>
          </a:solidFill>
          <a:ln w="12700">
            <a:solidFill>
              <a:srgbClr val="6FC08F"/>
            </a:solidFill>
            <a:prstDash val="solid"/>
          </a:ln>
        </p:spPr>
      </p:sp>
      <p:pic>
        <p:nvPicPr>
          <p:cNvPr id="43" name="Image 4" descr="C:\Users\mikae\OneDrive\Documents\Lomba\IFEST\Nyambung\assets\symbols\png\makan.png">    </p:cNvPr>
          <p:cNvPicPr>
            <a:picLocks noChangeAspect="1"/>
          </p:cNvPicPr>
          <p:nvPr/>
        </p:nvPicPr>
        <p:blipFill>
          <a:blip r:embed="rId5"/>
          <a:stretch>
            <a:fillRect/>
          </a:stretch>
        </p:blipFill>
        <p:spPr>
          <a:xfrm>
            <a:off x="2078797" y="4313773"/>
            <a:ext cx="368686" cy="368686"/>
          </a:xfrm>
          <a:prstGeom prst="rect">
            <a:avLst/>
          </a:prstGeom>
        </p:spPr>
      </p:pic>
      <p:sp>
        <p:nvSpPr>
          <p:cNvPr id="44" name="Text 36"/>
          <p:cNvSpPr/>
          <p:nvPr/>
        </p:nvSpPr>
        <p:spPr>
          <a:xfrm>
            <a:off x="1874520" y="4695627"/>
            <a:ext cx="777240" cy="197510"/>
          </a:xfrm>
          <a:prstGeom prst="rect">
            <a:avLst/>
          </a:prstGeom>
          <a:noFill/>
          <a:ln/>
        </p:spPr>
        <p:txBody>
          <a:bodyPr wrap="square" lIns="0" tIns="0" rIns="0" bIns="0" rtlCol="0" anchor="ctr"/>
          <a:lstStyle/>
          <a:p>
            <a:pPr algn="ctr" indent="0" marL="0">
              <a:buNone/>
            </a:pPr>
            <a:r>
              <a:rPr lang="en-US" sz="750" b="1" dirty="0">
                <a:solidFill>
                  <a:srgbClr val="2A7445"/>
                </a:solidFill>
                <a:latin typeface="Calibri" pitchFamily="34" charset="0"/>
                <a:ea typeface="Calibri" pitchFamily="34" charset="-122"/>
                <a:cs typeface="Calibri" pitchFamily="34" charset="-120"/>
              </a:rPr>
              <a:t>MAKAN</a:t>
            </a:r>
            <a:endParaRPr lang="en-US" sz="750" dirty="0"/>
          </a:p>
        </p:txBody>
      </p:sp>
      <p:sp>
        <p:nvSpPr>
          <p:cNvPr id="45" name="Shape 37"/>
          <p:cNvSpPr/>
          <p:nvPr/>
        </p:nvSpPr>
        <p:spPr>
          <a:xfrm>
            <a:off x="2706624" y="4261104"/>
            <a:ext cx="777240" cy="658368"/>
          </a:xfrm>
          <a:prstGeom prst="roundRect">
            <a:avLst>
              <a:gd name="adj" fmla="val 8333"/>
            </a:avLst>
          </a:prstGeom>
          <a:solidFill>
            <a:srgbClr val="E1F4E7"/>
          </a:solidFill>
          <a:ln w="12700">
            <a:solidFill>
              <a:srgbClr val="6FC08F"/>
            </a:solidFill>
            <a:prstDash val="solid"/>
          </a:ln>
        </p:spPr>
      </p:sp>
      <p:pic>
        <p:nvPicPr>
          <p:cNvPr id="46" name="Image 5" descr="C:\Users\mikae\OneDrive\Documents\Lomba\IFEST\Nyambung\assets\symbols\png\minum.png">    </p:cNvPr>
          <p:cNvPicPr>
            <a:picLocks noChangeAspect="1"/>
          </p:cNvPicPr>
          <p:nvPr/>
        </p:nvPicPr>
        <p:blipFill>
          <a:blip r:embed="rId6"/>
          <a:stretch>
            <a:fillRect/>
          </a:stretch>
        </p:blipFill>
        <p:spPr>
          <a:xfrm>
            <a:off x="2910901" y="4313773"/>
            <a:ext cx="368686" cy="368686"/>
          </a:xfrm>
          <a:prstGeom prst="rect">
            <a:avLst/>
          </a:prstGeom>
        </p:spPr>
      </p:pic>
      <p:sp>
        <p:nvSpPr>
          <p:cNvPr id="47" name="Text 38"/>
          <p:cNvSpPr/>
          <p:nvPr/>
        </p:nvSpPr>
        <p:spPr>
          <a:xfrm>
            <a:off x="2706624" y="4695627"/>
            <a:ext cx="777240" cy="197510"/>
          </a:xfrm>
          <a:prstGeom prst="rect">
            <a:avLst/>
          </a:prstGeom>
          <a:noFill/>
          <a:ln/>
        </p:spPr>
        <p:txBody>
          <a:bodyPr wrap="square" lIns="0" tIns="0" rIns="0" bIns="0" rtlCol="0" anchor="ctr"/>
          <a:lstStyle/>
          <a:p>
            <a:pPr algn="ctr" indent="0" marL="0">
              <a:buNone/>
            </a:pPr>
            <a:r>
              <a:rPr lang="en-US" sz="750" b="1" dirty="0">
                <a:solidFill>
                  <a:srgbClr val="2A7445"/>
                </a:solidFill>
                <a:latin typeface="Calibri" pitchFamily="34" charset="0"/>
                <a:ea typeface="Calibri" pitchFamily="34" charset="-122"/>
                <a:cs typeface="Calibri" pitchFamily="34" charset="-120"/>
              </a:rPr>
              <a:t>MINUM</a:t>
            </a:r>
            <a:endParaRPr lang="en-US" sz="750" dirty="0"/>
          </a:p>
        </p:txBody>
      </p:sp>
      <p:sp>
        <p:nvSpPr>
          <p:cNvPr id="48" name="Shape 39"/>
          <p:cNvSpPr/>
          <p:nvPr/>
        </p:nvSpPr>
        <p:spPr>
          <a:xfrm>
            <a:off x="1042416" y="4974336"/>
            <a:ext cx="777240" cy="658368"/>
          </a:xfrm>
          <a:prstGeom prst="roundRect">
            <a:avLst>
              <a:gd name="adj" fmla="val 8333"/>
            </a:avLst>
          </a:prstGeom>
          <a:solidFill>
            <a:srgbClr val="E8F6F5"/>
          </a:solidFill>
          <a:ln w="12700">
            <a:solidFill>
              <a:srgbClr val="C7C7D2"/>
            </a:solidFill>
            <a:prstDash val="solid"/>
          </a:ln>
        </p:spPr>
      </p:sp>
      <p:sp>
        <p:nvSpPr>
          <p:cNvPr id="49" name="Text 40"/>
          <p:cNvSpPr/>
          <p:nvPr/>
        </p:nvSpPr>
        <p:spPr>
          <a:xfrm>
            <a:off x="1042416" y="5027005"/>
            <a:ext cx="777240" cy="368686"/>
          </a:xfrm>
          <a:prstGeom prst="rect">
            <a:avLst/>
          </a:prstGeom>
          <a:noFill/>
          <a:ln/>
        </p:spPr>
        <p:txBody>
          <a:bodyPr wrap="square" lIns="0" tIns="0" rIns="0" bIns="0" rtlCol="0" anchor="ctr"/>
          <a:lstStyle/>
          <a:p>
            <a:pPr algn="ctr" indent="0" marL="0">
              <a:buNone/>
            </a:pPr>
            <a:r>
              <a:rPr lang="en-US" sz="1600" b="1" dirty="0">
                <a:solidFill>
                  <a:srgbClr val="172C2A"/>
                </a:solidFill>
                <a:latin typeface="Trebuchet MS" pitchFamily="34" charset="0"/>
                <a:ea typeface="Trebuchet MS" pitchFamily="34" charset="-122"/>
                <a:cs typeface="Trebuchet MS" pitchFamily="34" charset="-120"/>
              </a:rPr>
              <a:t>Y</a:t>
            </a:r>
            <a:endParaRPr lang="en-US" sz="1600" dirty="0"/>
          </a:p>
        </p:txBody>
      </p:sp>
      <p:sp>
        <p:nvSpPr>
          <p:cNvPr id="50" name="Text 41"/>
          <p:cNvSpPr/>
          <p:nvPr/>
        </p:nvSpPr>
        <p:spPr>
          <a:xfrm>
            <a:off x="1042416" y="5408859"/>
            <a:ext cx="777240" cy="197510"/>
          </a:xfrm>
          <a:prstGeom prst="rect">
            <a:avLst/>
          </a:prstGeom>
          <a:noFill/>
          <a:ln/>
        </p:spPr>
        <p:txBody>
          <a:bodyPr wrap="square" lIns="0" tIns="0" rIns="0" bIns="0" rtlCol="0" anchor="ctr"/>
          <a:lstStyle/>
          <a:p>
            <a:pPr algn="ctr" indent="0" marL="0">
              <a:buNone/>
            </a:pPr>
            <a:r>
              <a:rPr lang="en-US" sz="750" b="1" dirty="0">
                <a:solidFill>
                  <a:srgbClr val="172C2A"/>
                </a:solidFill>
                <a:latin typeface="Calibri" pitchFamily="34" charset="0"/>
                <a:ea typeface="Calibri" pitchFamily="34" charset="-122"/>
                <a:cs typeface="Calibri" pitchFamily="34" charset="-120"/>
              </a:rPr>
              <a:t>YA</a:t>
            </a:r>
            <a:endParaRPr lang="en-US" sz="750" dirty="0"/>
          </a:p>
        </p:txBody>
      </p:sp>
      <p:sp>
        <p:nvSpPr>
          <p:cNvPr id="51" name="Shape 42"/>
          <p:cNvSpPr/>
          <p:nvPr/>
        </p:nvSpPr>
        <p:spPr>
          <a:xfrm>
            <a:off x="1874520" y="4974336"/>
            <a:ext cx="777240" cy="658368"/>
          </a:xfrm>
          <a:prstGeom prst="roundRect">
            <a:avLst>
              <a:gd name="adj" fmla="val 8333"/>
            </a:avLst>
          </a:prstGeom>
          <a:solidFill>
            <a:srgbClr val="E8F6F5"/>
          </a:solidFill>
          <a:ln w="12700">
            <a:solidFill>
              <a:srgbClr val="C7C7D2"/>
            </a:solidFill>
            <a:prstDash val="solid"/>
          </a:ln>
        </p:spPr>
      </p:sp>
      <p:pic>
        <p:nvPicPr>
          <p:cNvPr id="52" name="Image 6" descr="C:\Users\mikae\OneDrive\Documents\Lomba\IFEST\Nyambung\assets\symbols\png\lagi.png">    </p:cNvPr>
          <p:cNvPicPr>
            <a:picLocks noChangeAspect="1"/>
          </p:cNvPicPr>
          <p:nvPr/>
        </p:nvPicPr>
        <p:blipFill>
          <a:blip r:embed="rId7"/>
          <a:stretch>
            <a:fillRect/>
          </a:stretch>
        </p:blipFill>
        <p:spPr>
          <a:xfrm>
            <a:off x="2078797" y="5027005"/>
            <a:ext cx="368686" cy="368686"/>
          </a:xfrm>
          <a:prstGeom prst="rect">
            <a:avLst/>
          </a:prstGeom>
        </p:spPr>
      </p:pic>
      <p:sp>
        <p:nvSpPr>
          <p:cNvPr id="53" name="Text 43"/>
          <p:cNvSpPr/>
          <p:nvPr/>
        </p:nvSpPr>
        <p:spPr>
          <a:xfrm>
            <a:off x="1874520" y="5408859"/>
            <a:ext cx="777240" cy="197510"/>
          </a:xfrm>
          <a:prstGeom prst="rect">
            <a:avLst/>
          </a:prstGeom>
          <a:noFill/>
          <a:ln/>
        </p:spPr>
        <p:txBody>
          <a:bodyPr wrap="square" lIns="0" tIns="0" rIns="0" bIns="0" rtlCol="0" anchor="ctr"/>
          <a:lstStyle/>
          <a:p>
            <a:pPr algn="ctr" indent="0" marL="0">
              <a:buNone/>
            </a:pPr>
            <a:r>
              <a:rPr lang="en-US" sz="750" b="1" dirty="0">
                <a:solidFill>
                  <a:srgbClr val="172C2A"/>
                </a:solidFill>
                <a:latin typeface="Calibri" pitchFamily="34" charset="0"/>
                <a:ea typeface="Calibri" pitchFamily="34" charset="-122"/>
                <a:cs typeface="Calibri" pitchFamily="34" charset="-120"/>
              </a:rPr>
              <a:t>LAGI</a:t>
            </a:r>
            <a:endParaRPr lang="en-US" sz="750" dirty="0"/>
          </a:p>
        </p:txBody>
      </p:sp>
      <p:sp>
        <p:nvSpPr>
          <p:cNvPr id="54" name="Shape 44"/>
          <p:cNvSpPr/>
          <p:nvPr/>
        </p:nvSpPr>
        <p:spPr>
          <a:xfrm>
            <a:off x="2706624" y="4974336"/>
            <a:ext cx="777240" cy="658368"/>
          </a:xfrm>
          <a:prstGeom prst="roundRect">
            <a:avLst>
              <a:gd name="adj" fmla="val 8333"/>
            </a:avLst>
          </a:prstGeom>
          <a:solidFill>
            <a:srgbClr val="E8F6F5"/>
          </a:solidFill>
          <a:ln w="12700">
            <a:solidFill>
              <a:srgbClr val="C7C7D2"/>
            </a:solidFill>
            <a:prstDash val="solid"/>
          </a:ln>
        </p:spPr>
      </p:sp>
      <p:sp>
        <p:nvSpPr>
          <p:cNvPr id="55" name="Text 45"/>
          <p:cNvSpPr/>
          <p:nvPr/>
        </p:nvSpPr>
        <p:spPr>
          <a:xfrm>
            <a:off x="2706624" y="5027005"/>
            <a:ext cx="777240" cy="368686"/>
          </a:xfrm>
          <a:prstGeom prst="rect">
            <a:avLst/>
          </a:prstGeom>
          <a:noFill/>
          <a:ln/>
        </p:spPr>
        <p:txBody>
          <a:bodyPr wrap="square" lIns="0" tIns="0" rIns="0" bIns="0" rtlCol="0" anchor="ctr"/>
          <a:lstStyle/>
          <a:p>
            <a:pPr algn="ctr" indent="0" marL="0">
              <a:buNone/>
            </a:pPr>
            <a:r>
              <a:rPr lang="en-US" sz="1600" b="1" dirty="0">
                <a:solidFill>
                  <a:srgbClr val="172C2A"/>
                </a:solidFill>
                <a:latin typeface="Trebuchet MS" pitchFamily="34" charset="0"/>
                <a:ea typeface="Trebuchet MS" pitchFamily="34" charset="-122"/>
                <a:cs typeface="Trebuchet MS" pitchFamily="34" charset="-120"/>
              </a:rPr>
              <a:t>I</a:t>
            </a:r>
            <a:endParaRPr lang="en-US" sz="1600" dirty="0"/>
          </a:p>
        </p:txBody>
      </p:sp>
      <p:sp>
        <p:nvSpPr>
          <p:cNvPr id="56" name="Text 46"/>
          <p:cNvSpPr/>
          <p:nvPr/>
        </p:nvSpPr>
        <p:spPr>
          <a:xfrm>
            <a:off x="2706624" y="5408859"/>
            <a:ext cx="777240" cy="197510"/>
          </a:xfrm>
          <a:prstGeom prst="rect">
            <a:avLst/>
          </a:prstGeom>
          <a:noFill/>
          <a:ln/>
        </p:spPr>
        <p:txBody>
          <a:bodyPr wrap="square" lIns="0" tIns="0" rIns="0" bIns="0" rtlCol="0" anchor="ctr"/>
          <a:lstStyle/>
          <a:p>
            <a:pPr algn="ctr" indent="0" marL="0">
              <a:buNone/>
            </a:pPr>
            <a:r>
              <a:rPr lang="en-US" sz="750" b="1" dirty="0">
                <a:solidFill>
                  <a:srgbClr val="172C2A"/>
                </a:solidFill>
                <a:latin typeface="Calibri" pitchFamily="34" charset="0"/>
                <a:ea typeface="Calibri" pitchFamily="34" charset="-122"/>
                <a:cs typeface="Calibri" pitchFamily="34" charset="-120"/>
              </a:rPr>
              <a:t>ITU</a:t>
            </a:r>
            <a:endParaRPr lang="en-US" sz="750" dirty="0"/>
          </a:p>
        </p:txBody>
      </p:sp>
      <p:sp>
        <p:nvSpPr>
          <p:cNvPr id="57" name="Text 47"/>
          <p:cNvSpPr/>
          <p:nvPr/>
        </p:nvSpPr>
        <p:spPr>
          <a:xfrm>
            <a:off x="1234440" y="5724144"/>
            <a:ext cx="2057400" cy="274320"/>
          </a:xfrm>
          <a:prstGeom prst="roundRect">
            <a:avLst>
              <a:gd name="adj" fmla="val 50000"/>
            </a:avLst>
          </a:prstGeom>
          <a:solidFill>
            <a:srgbClr val="D34349"/>
          </a:solidFill>
          <a:ln>
            <a:solidFill>
              <a:srgbClr val="D34349"/>
            </a:solidFill>
          </a:ln>
        </p:spPr>
        <p:txBody>
          <a:bodyPr wrap="square" lIns="0" tIns="0" rIns="0" bIns="0" rtlCol="0" anchor="ctr"/>
          <a:lstStyle/>
          <a:p>
            <a:pPr algn="ctr" indent="0" marL="0">
              <a:buNone/>
            </a:pPr>
            <a:r>
              <a:rPr lang="en-US" sz="950" b="1" spc="150" kern="0" dirty="0">
                <a:solidFill>
                  <a:srgbClr val="FFFFFF"/>
                </a:solidFill>
                <a:latin typeface="Calibri" pitchFamily="34" charset="0"/>
                <a:ea typeface="Calibri" pitchFamily="34" charset="-122"/>
                <a:cs typeface="Calibri" pitchFamily="34" charset="-120"/>
              </a:rPr>
              <a:t>DEMO LANGSUNG</a:t>
            </a:r>
            <a:endParaRPr lang="en-US" sz="950" dirty="0"/>
          </a:p>
        </p:txBody>
      </p:sp>
      <p:sp>
        <p:nvSpPr>
          <p:cNvPr id="58" name="Shape 48"/>
          <p:cNvSpPr/>
          <p:nvPr/>
        </p:nvSpPr>
        <p:spPr>
          <a:xfrm>
            <a:off x="4069080" y="1783080"/>
            <a:ext cx="512064" cy="512064"/>
          </a:xfrm>
          <a:prstGeom prst="ellipse">
            <a:avLst/>
          </a:prstGeom>
          <a:solidFill>
            <a:srgbClr val="DFF6F3"/>
          </a:solidFill>
          <a:ln w="12700">
            <a:solidFill>
              <a:srgbClr val="DFF6F3"/>
            </a:solidFill>
            <a:prstDash val="solid"/>
          </a:ln>
        </p:spPr>
      </p:sp>
      <p:pic>
        <p:nvPicPr>
          <p:cNvPr id="59" name="Image 7" descr="preencoded.png">    </p:cNvPr>
          <p:cNvPicPr>
            <a:picLocks noChangeAspect="1"/>
          </p:cNvPicPr>
          <p:nvPr/>
        </p:nvPicPr>
        <p:blipFill>
          <a:blip r:embed="rId8"/>
          <a:stretch>
            <a:fillRect/>
          </a:stretch>
        </p:blipFill>
        <p:spPr>
          <a:xfrm>
            <a:off x="4191975" y="1905975"/>
            <a:ext cx="266273" cy="266273"/>
          </a:xfrm>
          <a:prstGeom prst="rect">
            <a:avLst/>
          </a:prstGeom>
        </p:spPr>
      </p:pic>
      <p:sp>
        <p:nvSpPr>
          <p:cNvPr id="60" name="Text 49"/>
          <p:cNvSpPr/>
          <p:nvPr/>
        </p:nvSpPr>
        <p:spPr>
          <a:xfrm>
            <a:off x="4709160" y="1737360"/>
            <a:ext cx="3063240" cy="1234440"/>
          </a:xfrm>
          <a:prstGeom prst="rect">
            <a:avLst/>
          </a:prstGeom>
          <a:noFill/>
          <a:ln/>
        </p:spPr>
        <p:txBody>
          <a:bodyPr wrap="square" lIns="0" tIns="0" rIns="0" bIns="0" rtlCol="0" anchor="t"/>
          <a:lstStyle/>
          <a:p>
            <a:pPr indent="0" marL="0">
              <a:buNone/>
            </a:pPr>
            <a:r>
              <a:rPr lang="en-US" sz="1450" b="1" dirty="0">
                <a:solidFill>
                  <a:srgbClr val="172C2A"/>
                </a:solidFill>
                <a:latin typeface="Trebuchet MS" pitchFamily="34" charset="0"/>
                <a:ea typeface="Trebuchet MS" pitchFamily="34" charset="-122"/>
                <a:cs typeface="Trebuchet MS" pitchFamily="34" charset="-120"/>
              </a:rPr>
              <a:t>Luring penuh</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Papan, suara, misi, dan pencatatan jalan tanpa jaringan. Luring adalah keadaan normal, bukan peringatan.</a:t>
            </a:r>
            <a:endParaRPr lang="en-US" sz="1450" dirty="0"/>
          </a:p>
        </p:txBody>
      </p:sp>
      <p:sp>
        <p:nvSpPr>
          <p:cNvPr id="61" name="Shape 50"/>
          <p:cNvSpPr/>
          <p:nvPr/>
        </p:nvSpPr>
        <p:spPr>
          <a:xfrm>
            <a:off x="4069080" y="3154680"/>
            <a:ext cx="512064" cy="512064"/>
          </a:xfrm>
          <a:prstGeom prst="ellipse">
            <a:avLst/>
          </a:prstGeom>
          <a:solidFill>
            <a:srgbClr val="DFF6F3"/>
          </a:solidFill>
          <a:ln w="12700">
            <a:solidFill>
              <a:srgbClr val="DFF6F3"/>
            </a:solidFill>
            <a:prstDash val="solid"/>
          </a:ln>
        </p:spPr>
      </p:sp>
      <p:pic>
        <p:nvPicPr>
          <p:cNvPr id="62" name="Image 8" descr="preencoded.png">    </p:cNvPr>
          <p:cNvPicPr>
            <a:picLocks noChangeAspect="1"/>
          </p:cNvPicPr>
          <p:nvPr/>
        </p:nvPicPr>
        <p:blipFill>
          <a:blip r:embed="rId9"/>
          <a:stretch>
            <a:fillRect/>
          </a:stretch>
        </p:blipFill>
        <p:spPr>
          <a:xfrm>
            <a:off x="4191975" y="3277575"/>
            <a:ext cx="266273" cy="266273"/>
          </a:xfrm>
          <a:prstGeom prst="rect">
            <a:avLst/>
          </a:prstGeom>
        </p:spPr>
      </p:pic>
      <p:sp>
        <p:nvSpPr>
          <p:cNvPr id="63" name="Text 51"/>
          <p:cNvSpPr/>
          <p:nvPr/>
        </p:nvSpPr>
        <p:spPr>
          <a:xfrm>
            <a:off x="4709160" y="3108960"/>
            <a:ext cx="3063240" cy="1234440"/>
          </a:xfrm>
          <a:prstGeom prst="rect">
            <a:avLst/>
          </a:prstGeom>
          <a:noFill/>
          <a:ln/>
        </p:spPr>
        <p:txBody>
          <a:bodyPr wrap="square" lIns="0" tIns="0" rIns="0" bIns="0" rtlCol="0" anchor="t"/>
          <a:lstStyle/>
          <a:p>
            <a:pPr indent="0" marL="0">
              <a:buNone/>
            </a:pPr>
            <a:r>
              <a:rPr lang="en-US" sz="1450" b="1" dirty="0">
                <a:solidFill>
                  <a:srgbClr val="172C2A"/>
                </a:solidFill>
                <a:latin typeface="Trebuchet MS" pitchFamily="34" charset="0"/>
                <a:ea typeface="Trebuchet MS" pitchFamily="34" charset="-122"/>
                <a:cs typeface="Trebuchet MS" pitchFamily="34" charset="-120"/>
              </a:rPr>
              <a:t>Posisi tidak pernah pindah</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Anak menghafal gerakan tangan. Menemukan simbol 3,3 dtk di susunan tetap vs 6,0 dtk bila berubah (Thistle 2018).</a:t>
            </a:r>
            <a:endParaRPr lang="en-US" sz="1450" dirty="0"/>
          </a:p>
        </p:txBody>
      </p:sp>
      <p:sp>
        <p:nvSpPr>
          <p:cNvPr id="64" name="Shape 52"/>
          <p:cNvSpPr/>
          <p:nvPr/>
        </p:nvSpPr>
        <p:spPr>
          <a:xfrm>
            <a:off x="4069080" y="4526280"/>
            <a:ext cx="512064" cy="512064"/>
          </a:xfrm>
          <a:prstGeom prst="ellipse">
            <a:avLst/>
          </a:prstGeom>
          <a:solidFill>
            <a:srgbClr val="DFF6F3"/>
          </a:solidFill>
          <a:ln w="12700">
            <a:solidFill>
              <a:srgbClr val="DFF6F3"/>
            </a:solidFill>
            <a:prstDash val="solid"/>
          </a:ln>
        </p:spPr>
      </p:sp>
      <p:pic>
        <p:nvPicPr>
          <p:cNvPr id="65" name="Image 9" descr="preencoded.png">    </p:cNvPr>
          <p:cNvPicPr>
            <a:picLocks noChangeAspect="1"/>
          </p:cNvPicPr>
          <p:nvPr/>
        </p:nvPicPr>
        <p:blipFill>
          <a:blip r:embed="rId10"/>
          <a:stretch>
            <a:fillRect/>
          </a:stretch>
        </p:blipFill>
        <p:spPr>
          <a:xfrm>
            <a:off x="4191975" y="4649175"/>
            <a:ext cx="266273" cy="266273"/>
          </a:xfrm>
          <a:prstGeom prst="rect">
            <a:avLst/>
          </a:prstGeom>
        </p:spPr>
      </p:pic>
      <p:sp>
        <p:nvSpPr>
          <p:cNvPr id="66" name="Text 53"/>
          <p:cNvSpPr/>
          <p:nvPr/>
        </p:nvSpPr>
        <p:spPr>
          <a:xfrm>
            <a:off x="4709160" y="4480560"/>
            <a:ext cx="3063240" cy="1234440"/>
          </a:xfrm>
          <a:prstGeom prst="rect">
            <a:avLst/>
          </a:prstGeom>
          <a:noFill/>
          <a:ln/>
        </p:spPr>
        <p:txBody>
          <a:bodyPr wrap="square" lIns="0" tIns="0" rIns="0" bIns="0" rtlCol="0" anchor="t"/>
          <a:lstStyle/>
          <a:p>
            <a:pPr indent="0" marL="0">
              <a:buNone/>
            </a:pPr>
            <a:r>
              <a:rPr lang="en-US" sz="1450" b="1" dirty="0">
                <a:solidFill>
                  <a:srgbClr val="172C2A"/>
                </a:solidFill>
                <a:latin typeface="Trebuchet MS" pitchFamily="34" charset="0"/>
                <a:ea typeface="Trebuchet MS" pitchFamily="34" charset="-122"/>
                <a:cs typeface="Trebuchet MS" pitchFamily="34" charset="-120"/>
              </a:rPr>
              <a:t>12 kata inti berbasis literatur</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9 dari 12 ada di Banajee (2003) atau Project Core. SAKIT masuk sebagai pengecualian keselamatan.</a:t>
            </a:r>
            <a:endParaRPr lang="en-US" sz="1450" dirty="0"/>
          </a:p>
        </p:txBody>
      </p:sp>
      <p:sp>
        <p:nvSpPr>
          <p:cNvPr id="67" name="Shape 54"/>
          <p:cNvSpPr/>
          <p:nvPr/>
        </p:nvSpPr>
        <p:spPr>
          <a:xfrm>
            <a:off x="8092440" y="1783080"/>
            <a:ext cx="3550615" cy="4114800"/>
          </a:xfrm>
          <a:prstGeom prst="roundRect">
            <a:avLst>
              <a:gd name="adj" fmla="val 3090"/>
            </a:avLst>
          </a:prstGeom>
          <a:solidFill>
            <a:srgbClr val="FFFFFF"/>
          </a:solidFill>
          <a:ln w="9525">
            <a:solidFill>
              <a:srgbClr val="DCEEEC"/>
            </a:solidFill>
            <a:prstDash val="solid"/>
          </a:ln>
        </p:spPr>
      </p:sp>
      <p:sp>
        <p:nvSpPr>
          <p:cNvPr id="68" name="Text 55"/>
          <p:cNvSpPr/>
          <p:nvPr/>
        </p:nvSpPr>
        <p:spPr>
          <a:xfrm>
            <a:off x="8321040" y="1901952"/>
            <a:ext cx="3093415" cy="256032"/>
          </a:xfrm>
          <a:prstGeom prst="rect">
            <a:avLst/>
          </a:prstGeom>
          <a:noFill/>
          <a:ln/>
        </p:spPr>
        <p:txBody>
          <a:bodyPr wrap="square" lIns="0" tIns="0" rIns="0" bIns="0" rtlCol="0" anchor="ctr"/>
          <a:lstStyle/>
          <a:p>
            <a:pPr indent="0" marL="0">
              <a:buNone/>
            </a:pPr>
            <a:r>
              <a:rPr lang="en-US" sz="1050" b="1" spc="150" kern="0" dirty="0">
                <a:solidFill>
                  <a:srgbClr val="026E65"/>
                </a:solidFill>
                <a:latin typeface="Calibri" pitchFamily="34" charset="0"/>
                <a:ea typeface="Calibri" pitchFamily="34" charset="-122"/>
                <a:cs typeface="Calibri" pitchFamily="34" charset="-120"/>
              </a:rPr>
              <a:t>TIGA LAPIS SUARA</a:t>
            </a:r>
            <a:endParaRPr lang="en-US" sz="1050" dirty="0"/>
          </a:p>
        </p:txBody>
      </p:sp>
      <p:sp>
        <p:nvSpPr>
          <p:cNvPr id="69" name="Shape 56"/>
          <p:cNvSpPr/>
          <p:nvPr/>
        </p:nvSpPr>
        <p:spPr>
          <a:xfrm>
            <a:off x="8275320" y="2267712"/>
            <a:ext cx="3184855" cy="1097280"/>
          </a:xfrm>
          <a:prstGeom prst="roundRect">
            <a:avLst>
              <a:gd name="adj" fmla="val 6667"/>
            </a:avLst>
          </a:prstGeom>
          <a:solidFill>
            <a:srgbClr val="DFF6F3"/>
          </a:solidFill>
          <a:ln w="12700">
            <a:solidFill>
              <a:srgbClr val="DFF6F3"/>
            </a:solidFill>
            <a:prstDash val="solid"/>
          </a:ln>
        </p:spPr>
      </p:sp>
      <p:sp>
        <p:nvSpPr>
          <p:cNvPr id="70" name="Text 57"/>
          <p:cNvSpPr/>
          <p:nvPr/>
        </p:nvSpPr>
        <p:spPr>
          <a:xfrm>
            <a:off x="8385048" y="2377440"/>
            <a:ext cx="365760" cy="365760"/>
          </a:xfrm>
          <a:prstGeom prst="rect">
            <a:avLst/>
          </a:prstGeom>
          <a:noFill/>
          <a:ln/>
        </p:spPr>
        <p:txBody>
          <a:bodyPr wrap="square" lIns="0" tIns="0" rIns="0" bIns="0" rtlCol="0" anchor="ctr"/>
          <a:lstStyle/>
          <a:p>
            <a:pPr indent="0" marL="0">
              <a:buNone/>
            </a:pPr>
            <a:r>
              <a:rPr lang="en-US" sz="2000" b="1" dirty="0">
                <a:solidFill>
                  <a:srgbClr val="098277"/>
                </a:solidFill>
                <a:latin typeface="Trebuchet MS" pitchFamily="34" charset="0"/>
                <a:ea typeface="Trebuchet MS" pitchFamily="34" charset="-122"/>
                <a:cs typeface="Trebuchet MS" pitchFamily="34" charset="-120"/>
              </a:rPr>
              <a:t>1</a:t>
            </a:r>
            <a:endParaRPr lang="en-US" sz="2000" dirty="0"/>
          </a:p>
        </p:txBody>
      </p:sp>
      <p:sp>
        <p:nvSpPr>
          <p:cNvPr id="71" name="Text 58"/>
          <p:cNvSpPr/>
          <p:nvPr/>
        </p:nvSpPr>
        <p:spPr>
          <a:xfrm>
            <a:off x="8750808" y="2359152"/>
            <a:ext cx="1630375" cy="329184"/>
          </a:xfrm>
          <a:prstGeom prst="rect">
            <a:avLst/>
          </a:prstGeom>
          <a:noFill/>
          <a:ln/>
        </p:spPr>
        <p:txBody>
          <a:bodyPr wrap="square" lIns="0" tIns="0" rIns="0" bIns="0" rtlCol="0" anchor="ctr"/>
          <a:lstStyle/>
          <a:p>
            <a:pPr indent="0" marL="0">
              <a:buNone/>
            </a:pPr>
            <a:r>
              <a:rPr lang="en-US" sz="1300" b="1" dirty="0">
                <a:solidFill>
                  <a:srgbClr val="172C2A"/>
                </a:solidFill>
                <a:latin typeface="Trebuchet MS" pitchFamily="34" charset="0"/>
                <a:ea typeface="Trebuchet MS" pitchFamily="34" charset="-122"/>
                <a:cs typeface="Trebuchet MS" pitchFamily="34" charset="-120"/>
              </a:rPr>
              <a:t>Suara papan</a:t>
            </a:r>
            <a:endParaRPr lang="en-US" sz="1300" dirty="0"/>
          </a:p>
        </p:txBody>
      </p:sp>
      <p:sp>
        <p:nvSpPr>
          <p:cNvPr id="72" name="Text 59"/>
          <p:cNvSpPr/>
          <p:nvPr/>
        </p:nvSpPr>
        <p:spPr>
          <a:xfrm>
            <a:off x="10454335" y="2386584"/>
            <a:ext cx="868680" cy="256032"/>
          </a:xfrm>
          <a:prstGeom prst="roundRect">
            <a:avLst>
              <a:gd name="adj" fmla="val 50000"/>
            </a:avLst>
          </a:prstGeom>
          <a:solidFill>
            <a:srgbClr val="098277"/>
          </a:solidFill>
          <a:ln>
            <a:solidFill>
              <a:srgbClr val="098277"/>
            </a:solid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SUDAH</a:t>
            </a:r>
            <a:endParaRPr lang="en-US" sz="850" dirty="0"/>
          </a:p>
        </p:txBody>
      </p:sp>
      <p:sp>
        <p:nvSpPr>
          <p:cNvPr id="73" name="Text 60"/>
          <p:cNvSpPr/>
          <p:nvPr/>
        </p:nvSpPr>
        <p:spPr>
          <a:xfrm>
            <a:off x="8750808" y="2688336"/>
            <a:ext cx="2590495" cy="64008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Klip suara dibuat sekali lalu dibundel di APK: sama di setiap HP, tanpa internet.</a:t>
            </a:r>
            <a:endParaRPr lang="en-US" sz="1050" dirty="0"/>
          </a:p>
        </p:txBody>
      </p:sp>
      <p:sp>
        <p:nvSpPr>
          <p:cNvPr id="74" name="Shape 61"/>
          <p:cNvSpPr/>
          <p:nvPr/>
        </p:nvSpPr>
        <p:spPr>
          <a:xfrm>
            <a:off x="8275320" y="3456432"/>
            <a:ext cx="3184855" cy="1097280"/>
          </a:xfrm>
          <a:prstGeom prst="roundRect">
            <a:avLst>
              <a:gd name="adj" fmla="val 6667"/>
            </a:avLst>
          </a:prstGeom>
          <a:solidFill>
            <a:srgbClr val="DFF6F3"/>
          </a:solidFill>
          <a:ln w="12700">
            <a:solidFill>
              <a:srgbClr val="DFF6F3"/>
            </a:solidFill>
            <a:prstDash val="solid"/>
          </a:ln>
        </p:spPr>
      </p:sp>
      <p:sp>
        <p:nvSpPr>
          <p:cNvPr id="75" name="Text 62"/>
          <p:cNvSpPr/>
          <p:nvPr/>
        </p:nvSpPr>
        <p:spPr>
          <a:xfrm>
            <a:off x="8385048" y="3566160"/>
            <a:ext cx="365760" cy="365760"/>
          </a:xfrm>
          <a:prstGeom prst="rect">
            <a:avLst/>
          </a:prstGeom>
          <a:noFill/>
          <a:ln/>
        </p:spPr>
        <p:txBody>
          <a:bodyPr wrap="square" lIns="0" tIns="0" rIns="0" bIns="0" rtlCol="0" anchor="ctr"/>
          <a:lstStyle/>
          <a:p>
            <a:pPr indent="0" marL="0">
              <a:buNone/>
            </a:pPr>
            <a:r>
              <a:rPr lang="en-US" sz="2000" b="1" dirty="0">
                <a:solidFill>
                  <a:srgbClr val="098277"/>
                </a:solidFill>
                <a:latin typeface="Trebuchet MS" pitchFamily="34" charset="0"/>
                <a:ea typeface="Trebuchet MS" pitchFamily="34" charset="-122"/>
                <a:cs typeface="Trebuchet MS" pitchFamily="34" charset="-120"/>
              </a:rPr>
              <a:t>2</a:t>
            </a:r>
            <a:endParaRPr lang="en-US" sz="2000" dirty="0"/>
          </a:p>
        </p:txBody>
      </p:sp>
      <p:sp>
        <p:nvSpPr>
          <p:cNvPr id="76" name="Text 63"/>
          <p:cNvSpPr/>
          <p:nvPr/>
        </p:nvSpPr>
        <p:spPr>
          <a:xfrm>
            <a:off x="8750808" y="3547872"/>
            <a:ext cx="1630375" cy="329184"/>
          </a:xfrm>
          <a:prstGeom prst="rect">
            <a:avLst/>
          </a:prstGeom>
          <a:noFill/>
          <a:ln/>
        </p:spPr>
        <p:txBody>
          <a:bodyPr wrap="square" lIns="0" tIns="0" rIns="0" bIns="0" rtlCol="0" anchor="ctr"/>
          <a:lstStyle/>
          <a:p>
            <a:pPr indent="0" marL="0">
              <a:buNone/>
            </a:pPr>
            <a:r>
              <a:rPr lang="en-US" sz="1300" b="1" dirty="0">
                <a:solidFill>
                  <a:srgbClr val="172C2A"/>
                </a:solidFill>
                <a:latin typeface="Trebuchet MS" pitchFamily="34" charset="0"/>
                <a:ea typeface="Trebuchet MS" pitchFamily="34" charset="-122"/>
                <a:cs typeface="Trebuchet MS" pitchFamily="34" charset="-120"/>
              </a:rPr>
              <a:t>Suara keluarga</a:t>
            </a:r>
            <a:endParaRPr lang="en-US" sz="1300" dirty="0"/>
          </a:p>
        </p:txBody>
      </p:sp>
      <p:sp>
        <p:nvSpPr>
          <p:cNvPr id="77" name="Text 64"/>
          <p:cNvSpPr/>
          <p:nvPr/>
        </p:nvSpPr>
        <p:spPr>
          <a:xfrm>
            <a:off x="10454335" y="3575304"/>
            <a:ext cx="868680" cy="256032"/>
          </a:xfrm>
          <a:prstGeom prst="roundRect">
            <a:avLst>
              <a:gd name="adj" fmla="val 50000"/>
            </a:avLst>
          </a:prstGeom>
          <a:solidFill>
            <a:srgbClr val="098277"/>
          </a:solidFill>
          <a:ln>
            <a:solidFill>
              <a:srgbClr val="098277"/>
            </a:solid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SUDAH</a:t>
            </a:r>
            <a:endParaRPr lang="en-US" sz="850" dirty="0"/>
          </a:p>
        </p:txBody>
      </p:sp>
      <p:sp>
        <p:nvSpPr>
          <p:cNvPr id="78" name="Text 65"/>
          <p:cNvSpPr/>
          <p:nvPr/>
        </p:nvSpPr>
        <p:spPr>
          <a:xfrm>
            <a:off x="8750808" y="3877056"/>
            <a:ext cx="2590495" cy="64008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Ibu atau Ayah merekam 12 kata inti. Rekaman tidak pernah keluar dari HP.</a:t>
            </a:r>
            <a:endParaRPr lang="en-US" sz="1050" dirty="0"/>
          </a:p>
        </p:txBody>
      </p:sp>
      <p:sp>
        <p:nvSpPr>
          <p:cNvPr id="79" name="Shape 66"/>
          <p:cNvSpPr/>
          <p:nvPr/>
        </p:nvSpPr>
        <p:spPr>
          <a:xfrm>
            <a:off x="8275320" y="4645152"/>
            <a:ext cx="3184855" cy="1097280"/>
          </a:xfrm>
          <a:prstGeom prst="roundRect">
            <a:avLst>
              <a:gd name="adj" fmla="val 6667"/>
            </a:avLst>
          </a:prstGeom>
          <a:solidFill>
            <a:srgbClr val="FDF0D2"/>
          </a:solidFill>
          <a:ln w="12700">
            <a:solidFill>
              <a:srgbClr val="F5C862"/>
            </a:solidFill>
            <a:prstDash val="dash"/>
          </a:ln>
        </p:spPr>
      </p:sp>
      <p:sp>
        <p:nvSpPr>
          <p:cNvPr id="80" name="Text 67"/>
          <p:cNvSpPr/>
          <p:nvPr/>
        </p:nvSpPr>
        <p:spPr>
          <a:xfrm>
            <a:off x="8385048" y="4754880"/>
            <a:ext cx="365760" cy="365760"/>
          </a:xfrm>
          <a:prstGeom prst="rect">
            <a:avLst/>
          </a:prstGeom>
          <a:noFill/>
          <a:ln/>
        </p:spPr>
        <p:txBody>
          <a:bodyPr wrap="square" lIns="0" tIns="0" rIns="0" bIns="0" rtlCol="0" anchor="ctr"/>
          <a:lstStyle/>
          <a:p>
            <a:pPr indent="0" marL="0">
              <a:buNone/>
            </a:pPr>
            <a:r>
              <a:rPr lang="en-US" sz="2000" b="1" dirty="0">
                <a:solidFill>
                  <a:srgbClr val="8A5B0A"/>
                </a:solidFill>
                <a:latin typeface="Trebuchet MS" pitchFamily="34" charset="0"/>
                <a:ea typeface="Trebuchet MS" pitchFamily="34" charset="-122"/>
                <a:cs typeface="Trebuchet MS" pitchFamily="34" charset="-120"/>
              </a:rPr>
              <a:t>3</a:t>
            </a:r>
            <a:endParaRPr lang="en-US" sz="2000" dirty="0"/>
          </a:p>
        </p:txBody>
      </p:sp>
      <p:sp>
        <p:nvSpPr>
          <p:cNvPr id="81" name="Text 68"/>
          <p:cNvSpPr/>
          <p:nvPr/>
        </p:nvSpPr>
        <p:spPr>
          <a:xfrm>
            <a:off x="8750808" y="4736592"/>
            <a:ext cx="1630375" cy="329184"/>
          </a:xfrm>
          <a:prstGeom prst="rect">
            <a:avLst/>
          </a:prstGeom>
          <a:noFill/>
          <a:ln/>
        </p:spPr>
        <p:txBody>
          <a:bodyPr wrap="square" lIns="0" tIns="0" rIns="0" bIns="0" rtlCol="0" anchor="ctr"/>
          <a:lstStyle/>
          <a:p>
            <a:pPr indent="0" marL="0">
              <a:buNone/>
            </a:pPr>
            <a:r>
              <a:rPr lang="en-US" sz="1300" b="1" dirty="0">
                <a:solidFill>
                  <a:srgbClr val="172C2A"/>
                </a:solidFill>
                <a:latin typeface="Trebuchet MS" pitchFamily="34" charset="0"/>
                <a:ea typeface="Trebuchet MS" pitchFamily="34" charset="-122"/>
                <a:cs typeface="Trebuchet MS" pitchFamily="34" charset="-120"/>
              </a:rPr>
              <a:t>Suara personal</a:t>
            </a:r>
            <a:endParaRPr lang="en-US" sz="1300" dirty="0"/>
          </a:p>
        </p:txBody>
      </p:sp>
      <p:sp>
        <p:nvSpPr>
          <p:cNvPr id="82" name="Text 69"/>
          <p:cNvSpPr/>
          <p:nvPr/>
        </p:nvSpPr>
        <p:spPr>
          <a:xfrm>
            <a:off x="10454335" y="4764024"/>
            <a:ext cx="868680" cy="256032"/>
          </a:xfrm>
          <a:prstGeom prst="roundRect">
            <a:avLst>
              <a:gd name="adj" fmla="val 50000"/>
            </a:avLst>
          </a:prstGeom>
          <a:solidFill>
            <a:srgbClr val="8A5B0A"/>
          </a:solidFill>
          <a:ln>
            <a:solidFill>
              <a:srgbClr val="8A5B0A"/>
            </a:solid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ROADMAP</a:t>
            </a:r>
            <a:endParaRPr lang="en-US" sz="850" dirty="0"/>
          </a:p>
        </p:txBody>
      </p:sp>
      <p:sp>
        <p:nvSpPr>
          <p:cNvPr id="83" name="Text 70"/>
          <p:cNvSpPr/>
          <p:nvPr/>
        </p:nvSpPr>
        <p:spPr>
          <a:xfrm>
            <a:off x="8750808" y="5065776"/>
            <a:ext cx="2590495" cy="64008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Kalimat baru dengan karakter suara keluarga. Syarat: rekaman tetap di perangkat.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ASET DAN SUMBERNYA</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Setiap simbol, kata, dan suara berlisensi jelas dan tercatat asal-usulnya</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5</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mulberrysymbols.org · Mizuko (1987), AAC 3(3) · Goossens', Crain &amp; Elder (1992) · WCAG 2.2 1.4.1 · assets/PROVENANCE.md (175 berkas diverifikasi SHA-256).</a:t>
            </a:r>
            <a:endParaRPr lang="en-US" sz="850" dirty="0"/>
          </a:p>
        </p:txBody>
      </p:sp>
      <p:sp>
        <p:nvSpPr>
          <p:cNvPr id="12" name="Shape 8"/>
          <p:cNvSpPr/>
          <p:nvPr/>
        </p:nvSpPr>
        <p:spPr>
          <a:xfrm>
            <a:off x="548640" y="1783080"/>
            <a:ext cx="3931920" cy="4114800"/>
          </a:xfrm>
          <a:prstGeom prst="roundRect">
            <a:avLst>
              <a:gd name="adj" fmla="val 2791"/>
            </a:avLst>
          </a:prstGeom>
          <a:solidFill>
            <a:srgbClr val="FFFFFF"/>
          </a:solidFill>
          <a:ln w="9525">
            <a:solidFill>
              <a:srgbClr val="DCEEEC"/>
            </a:solidFill>
            <a:prstDash val="solid"/>
          </a:ln>
        </p:spPr>
      </p:sp>
      <p:sp>
        <p:nvSpPr>
          <p:cNvPr id="13" name="Text 9"/>
          <p:cNvSpPr/>
          <p:nvPr/>
        </p:nvSpPr>
        <p:spPr>
          <a:xfrm>
            <a:off x="777240" y="1901952"/>
            <a:ext cx="3474720" cy="237744"/>
          </a:xfrm>
          <a:prstGeom prst="rect">
            <a:avLst/>
          </a:prstGeom>
          <a:noFill/>
          <a:ln/>
        </p:spPr>
        <p:txBody>
          <a:bodyPr wrap="square" lIns="0" tIns="0" rIns="0" bIns="0" rtlCol="0" anchor="ctr"/>
          <a:lstStyle/>
          <a:p>
            <a:pPr indent="0" marL="0">
              <a:buNone/>
            </a:pPr>
            <a:r>
              <a:rPr lang="en-US" sz="1000" b="1" spc="150" kern="0" dirty="0">
                <a:solidFill>
                  <a:srgbClr val="026E65"/>
                </a:solidFill>
                <a:latin typeface="Calibri" pitchFamily="34" charset="0"/>
                <a:ea typeface="Calibri" pitchFamily="34" charset="-122"/>
                <a:cs typeface="Calibri" pitchFamily="34" charset="-120"/>
              </a:rPr>
              <a:t>SIMBOL UTAMA</a:t>
            </a:r>
            <a:endParaRPr lang="en-US" sz="1000" dirty="0"/>
          </a:p>
        </p:txBody>
      </p:sp>
      <p:sp>
        <p:nvSpPr>
          <p:cNvPr id="14" name="Shape 10"/>
          <p:cNvSpPr/>
          <p:nvPr/>
        </p:nvSpPr>
        <p:spPr>
          <a:xfrm>
            <a:off x="777240" y="2240280"/>
            <a:ext cx="1024128" cy="1024128"/>
          </a:xfrm>
          <a:prstGeom prst="roundRect">
            <a:avLst>
              <a:gd name="adj" fmla="val 5357"/>
            </a:avLst>
          </a:prstGeom>
          <a:solidFill>
            <a:srgbClr val="E1F4E7"/>
          </a:solidFill>
          <a:ln w="12700">
            <a:solidFill>
              <a:srgbClr val="6FC08F"/>
            </a:solidFill>
            <a:prstDash val="solid"/>
          </a:ln>
        </p:spPr>
      </p:sp>
      <p:pic>
        <p:nvPicPr>
          <p:cNvPr id="15" name="Image 1" descr="C:\Users\mikae\OneDrive\Documents\Lomba\IFEST\Nyambung\assets\symbols\png\mau.png">    </p:cNvPr>
          <p:cNvPicPr>
            <a:picLocks noChangeAspect="1"/>
          </p:cNvPicPr>
          <p:nvPr/>
        </p:nvPicPr>
        <p:blipFill>
          <a:blip r:embed="rId2"/>
          <a:stretch>
            <a:fillRect/>
          </a:stretch>
        </p:blipFill>
        <p:spPr>
          <a:xfrm>
            <a:off x="1002548" y="2322210"/>
            <a:ext cx="573512" cy="573512"/>
          </a:xfrm>
          <a:prstGeom prst="rect">
            <a:avLst/>
          </a:prstGeom>
        </p:spPr>
      </p:pic>
      <p:sp>
        <p:nvSpPr>
          <p:cNvPr id="16" name="Text 11"/>
          <p:cNvSpPr/>
          <p:nvPr/>
        </p:nvSpPr>
        <p:spPr>
          <a:xfrm>
            <a:off x="777240" y="2916204"/>
            <a:ext cx="1024128" cy="307238"/>
          </a:xfrm>
          <a:prstGeom prst="rect">
            <a:avLst/>
          </a:prstGeom>
          <a:noFill/>
          <a:ln/>
        </p:spPr>
        <p:txBody>
          <a:bodyPr wrap="square" lIns="0" tIns="0" rIns="0" bIns="0" rtlCol="0" anchor="ctr"/>
          <a:lstStyle/>
          <a:p>
            <a:pPr algn="ctr" indent="0" marL="0">
              <a:buNone/>
            </a:pPr>
            <a:r>
              <a:rPr lang="en-US" sz="750" b="1" dirty="0">
                <a:solidFill>
                  <a:srgbClr val="2A7445"/>
                </a:solidFill>
                <a:latin typeface="Calibri" pitchFamily="34" charset="0"/>
                <a:ea typeface="Calibri" pitchFamily="34" charset="-122"/>
                <a:cs typeface="Calibri" pitchFamily="34" charset="-120"/>
              </a:rPr>
              <a:t>MAU</a:t>
            </a:r>
            <a:endParaRPr lang="en-US" sz="750" dirty="0"/>
          </a:p>
        </p:txBody>
      </p:sp>
      <p:sp>
        <p:nvSpPr>
          <p:cNvPr id="17" name="Shape 12"/>
          <p:cNvSpPr/>
          <p:nvPr/>
        </p:nvSpPr>
        <p:spPr>
          <a:xfrm>
            <a:off x="1929384" y="2240280"/>
            <a:ext cx="1024128" cy="1024128"/>
          </a:xfrm>
          <a:prstGeom prst="roundRect">
            <a:avLst>
              <a:gd name="adj" fmla="val 5357"/>
            </a:avLst>
          </a:prstGeom>
          <a:solidFill>
            <a:srgbClr val="E1F4E7"/>
          </a:solidFill>
          <a:ln w="12700">
            <a:solidFill>
              <a:srgbClr val="6FC08F"/>
            </a:solidFill>
            <a:prstDash val="solid"/>
          </a:ln>
        </p:spPr>
      </p:sp>
      <p:pic>
        <p:nvPicPr>
          <p:cNvPr id="18" name="Image 2" descr="C:\Users\mikae\OneDrive\Documents\Lomba\IFEST\Nyambung\assets\symbols\png\bantu.png">    </p:cNvPr>
          <p:cNvPicPr>
            <a:picLocks noChangeAspect="1"/>
          </p:cNvPicPr>
          <p:nvPr/>
        </p:nvPicPr>
        <p:blipFill>
          <a:blip r:embed="rId3"/>
          <a:stretch>
            <a:fillRect/>
          </a:stretch>
        </p:blipFill>
        <p:spPr>
          <a:xfrm>
            <a:off x="2154692" y="2322210"/>
            <a:ext cx="573512" cy="573512"/>
          </a:xfrm>
          <a:prstGeom prst="rect">
            <a:avLst/>
          </a:prstGeom>
        </p:spPr>
      </p:pic>
      <p:sp>
        <p:nvSpPr>
          <p:cNvPr id="19" name="Text 13"/>
          <p:cNvSpPr/>
          <p:nvPr/>
        </p:nvSpPr>
        <p:spPr>
          <a:xfrm>
            <a:off x="1929384" y="2916204"/>
            <a:ext cx="1024128" cy="307238"/>
          </a:xfrm>
          <a:prstGeom prst="rect">
            <a:avLst/>
          </a:prstGeom>
          <a:noFill/>
          <a:ln/>
        </p:spPr>
        <p:txBody>
          <a:bodyPr wrap="square" lIns="0" tIns="0" rIns="0" bIns="0" rtlCol="0" anchor="ctr"/>
          <a:lstStyle/>
          <a:p>
            <a:pPr algn="ctr" indent="0" marL="0">
              <a:buNone/>
            </a:pPr>
            <a:r>
              <a:rPr lang="en-US" sz="750" b="1" dirty="0">
                <a:solidFill>
                  <a:srgbClr val="2A7445"/>
                </a:solidFill>
                <a:latin typeface="Calibri" pitchFamily="34" charset="0"/>
                <a:ea typeface="Calibri" pitchFamily="34" charset="-122"/>
                <a:cs typeface="Calibri" pitchFamily="34" charset="-120"/>
              </a:rPr>
              <a:t>BANTU</a:t>
            </a:r>
            <a:endParaRPr lang="en-US" sz="750" dirty="0"/>
          </a:p>
        </p:txBody>
      </p:sp>
      <p:sp>
        <p:nvSpPr>
          <p:cNvPr id="20" name="Shape 14"/>
          <p:cNvSpPr/>
          <p:nvPr/>
        </p:nvSpPr>
        <p:spPr>
          <a:xfrm>
            <a:off x="3081528" y="2240280"/>
            <a:ext cx="1024128" cy="1024128"/>
          </a:xfrm>
          <a:prstGeom prst="roundRect">
            <a:avLst>
              <a:gd name="adj" fmla="val 5357"/>
            </a:avLst>
          </a:prstGeom>
          <a:solidFill>
            <a:srgbClr val="E1F4E7"/>
          </a:solidFill>
          <a:ln w="12700">
            <a:solidFill>
              <a:srgbClr val="6FC08F"/>
            </a:solidFill>
            <a:prstDash val="solid"/>
          </a:ln>
        </p:spPr>
      </p:sp>
      <p:pic>
        <p:nvPicPr>
          <p:cNvPr id="21" name="Image 3" descr="C:\Users\mikae\OneDrive\Documents\Lomba\IFEST\Nyambung\assets\symbols\png\makan.png">    </p:cNvPr>
          <p:cNvPicPr>
            <a:picLocks noChangeAspect="1"/>
          </p:cNvPicPr>
          <p:nvPr/>
        </p:nvPicPr>
        <p:blipFill>
          <a:blip r:embed="rId4"/>
          <a:stretch>
            <a:fillRect/>
          </a:stretch>
        </p:blipFill>
        <p:spPr>
          <a:xfrm>
            <a:off x="3306836" y="2322210"/>
            <a:ext cx="573512" cy="573512"/>
          </a:xfrm>
          <a:prstGeom prst="rect">
            <a:avLst/>
          </a:prstGeom>
        </p:spPr>
      </p:pic>
      <p:sp>
        <p:nvSpPr>
          <p:cNvPr id="22" name="Text 15"/>
          <p:cNvSpPr/>
          <p:nvPr/>
        </p:nvSpPr>
        <p:spPr>
          <a:xfrm>
            <a:off x="3081528" y="2916204"/>
            <a:ext cx="1024128" cy="307238"/>
          </a:xfrm>
          <a:prstGeom prst="rect">
            <a:avLst/>
          </a:prstGeom>
          <a:noFill/>
          <a:ln/>
        </p:spPr>
        <p:txBody>
          <a:bodyPr wrap="square" lIns="0" tIns="0" rIns="0" bIns="0" rtlCol="0" anchor="ctr"/>
          <a:lstStyle/>
          <a:p>
            <a:pPr algn="ctr" indent="0" marL="0">
              <a:buNone/>
            </a:pPr>
            <a:r>
              <a:rPr lang="en-US" sz="750" b="1" dirty="0">
                <a:solidFill>
                  <a:srgbClr val="2A7445"/>
                </a:solidFill>
                <a:latin typeface="Calibri" pitchFamily="34" charset="0"/>
                <a:ea typeface="Calibri" pitchFamily="34" charset="-122"/>
                <a:cs typeface="Calibri" pitchFamily="34" charset="-120"/>
              </a:rPr>
              <a:t>MAKAN</a:t>
            </a:r>
            <a:endParaRPr lang="en-US" sz="750" dirty="0"/>
          </a:p>
        </p:txBody>
      </p:sp>
      <p:sp>
        <p:nvSpPr>
          <p:cNvPr id="23" name="Shape 16"/>
          <p:cNvSpPr/>
          <p:nvPr/>
        </p:nvSpPr>
        <p:spPr>
          <a:xfrm>
            <a:off x="777240" y="3392424"/>
            <a:ext cx="1024128" cy="1024128"/>
          </a:xfrm>
          <a:prstGeom prst="roundRect">
            <a:avLst>
              <a:gd name="adj" fmla="val 5357"/>
            </a:avLst>
          </a:prstGeom>
          <a:solidFill>
            <a:srgbClr val="E1F4E7"/>
          </a:solidFill>
          <a:ln w="12700">
            <a:solidFill>
              <a:srgbClr val="6FC08F"/>
            </a:solidFill>
            <a:prstDash val="solid"/>
          </a:ln>
        </p:spPr>
      </p:sp>
      <p:pic>
        <p:nvPicPr>
          <p:cNvPr id="24" name="Image 4" descr="C:\Users\mikae\OneDrive\Documents\Lomba\IFEST\Nyambung\assets\symbols\png\minum.png">    </p:cNvPr>
          <p:cNvPicPr>
            <a:picLocks noChangeAspect="1"/>
          </p:cNvPicPr>
          <p:nvPr/>
        </p:nvPicPr>
        <p:blipFill>
          <a:blip r:embed="rId5"/>
          <a:stretch>
            <a:fillRect/>
          </a:stretch>
        </p:blipFill>
        <p:spPr>
          <a:xfrm>
            <a:off x="1002548" y="3474354"/>
            <a:ext cx="573512" cy="573512"/>
          </a:xfrm>
          <a:prstGeom prst="rect">
            <a:avLst/>
          </a:prstGeom>
        </p:spPr>
      </p:pic>
      <p:sp>
        <p:nvSpPr>
          <p:cNvPr id="25" name="Text 17"/>
          <p:cNvSpPr/>
          <p:nvPr/>
        </p:nvSpPr>
        <p:spPr>
          <a:xfrm>
            <a:off x="777240" y="4068348"/>
            <a:ext cx="1024128" cy="307238"/>
          </a:xfrm>
          <a:prstGeom prst="rect">
            <a:avLst/>
          </a:prstGeom>
          <a:noFill/>
          <a:ln/>
        </p:spPr>
        <p:txBody>
          <a:bodyPr wrap="square" lIns="0" tIns="0" rIns="0" bIns="0" rtlCol="0" anchor="ctr"/>
          <a:lstStyle/>
          <a:p>
            <a:pPr algn="ctr" indent="0" marL="0">
              <a:buNone/>
            </a:pPr>
            <a:r>
              <a:rPr lang="en-US" sz="750" b="1" dirty="0">
                <a:solidFill>
                  <a:srgbClr val="2A7445"/>
                </a:solidFill>
                <a:latin typeface="Calibri" pitchFamily="34" charset="0"/>
                <a:ea typeface="Calibri" pitchFamily="34" charset="-122"/>
                <a:cs typeface="Calibri" pitchFamily="34" charset="-120"/>
              </a:rPr>
              <a:t>MINUM</a:t>
            </a:r>
            <a:endParaRPr lang="en-US" sz="750" dirty="0"/>
          </a:p>
        </p:txBody>
      </p:sp>
      <p:sp>
        <p:nvSpPr>
          <p:cNvPr id="26" name="Shape 18"/>
          <p:cNvSpPr/>
          <p:nvPr/>
        </p:nvSpPr>
        <p:spPr>
          <a:xfrm>
            <a:off x="1929384" y="3392424"/>
            <a:ext cx="1024128" cy="1024128"/>
          </a:xfrm>
          <a:prstGeom prst="roundRect">
            <a:avLst>
              <a:gd name="adj" fmla="val 5357"/>
            </a:avLst>
          </a:prstGeom>
          <a:solidFill>
            <a:srgbClr val="E8F6F5"/>
          </a:solidFill>
          <a:ln w="12700">
            <a:solidFill>
              <a:srgbClr val="C7C7D2"/>
            </a:solidFill>
            <a:prstDash val="solid"/>
          </a:ln>
        </p:spPr>
      </p:sp>
      <p:pic>
        <p:nvPicPr>
          <p:cNvPr id="27" name="Image 5" descr="C:\Users\mikae\OneDrive\Documents\Lomba\IFEST\Nyambung\assets\symbols\png\lagi.png">    </p:cNvPr>
          <p:cNvPicPr>
            <a:picLocks noChangeAspect="1"/>
          </p:cNvPicPr>
          <p:nvPr/>
        </p:nvPicPr>
        <p:blipFill>
          <a:blip r:embed="rId6"/>
          <a:stretch>
            <a:fillRect/>
          </a:stretch>
        </p:blipFill>
        <p:spPr>
          <a:xfrm>
            <a:off x="2154692" y="3474354"/>
            <a:ext cx="573512" cy="573512"/>
          </a:xfrm>
          <a:prstGeom prst="rect">
            <a:avLst/>
          </a:prstGeom>
        </p:spPr>
      </p:pic>
      <p:sp>
        <p:nvSpPr>
          <p:cNvPr id="28" name="Text 19"/>
          <p:cNvSpPr/>
          <p:nvPr/>
        </p:nvSpPr>
        <p:spPr>
          <a:xfrm>
            <a:off x="1929384" y="4068348"/>
            <a:ext cx="1024128" cy="307238"/>
          </a:xfrm>
          <a:prstGeom prst="rect">
            <a:avLst/>
          </a:prstGeom>
          <a:noFill/>
          <a:ln/>
        </p:spPr>
        <p:txBody>
          <a:bodyPr wrap="square" lIns="0" tIns="0" rIns="0" bIns="0" rtlCol="0" anchor="ctr"/>
          <a:lstStyle/>
          <a:p>
            <a:pPr algn="ctr" indent="0" marL="0">
              <a:buNone/>
            </a:pPr>
            <a:r>
              <a:rPr lang="en-US" sz="750" b="1" dirty="0">
                <a:solidFill>
                  <a:srgbClr val="172C2A"/>
                </a:solidFill>
                <a:latin typeface="Calibri" pitchFamily="34" charset="0"/>
                <a:ea typeface="Calibri" pitchFamily="34" charset="-122"/>
                <a:cs typeface="Calibri" pitchFamily="34" charset="-120"/>
              </a:rPr>
              <a:t>LAGI</a:t>
            </a:r>
            <a:endParaRPr lang="en-US" sz="750" dirty="0"/>
          </a:p>
        </p:txBody>
      </p:sp>
      <p:sp>
        <p:nvSpPr>
          <p:cNvPr id="29" name="Shape 20"/>
          <p:cNvSpPr/>
          <p:nvPr/>
        </p:nvSpPr>
        <p:spPr>
          <a:xfrm>
            <a:off x="3081528" y="3392424"/>
            <a:ext cx="1024128" cy="1024128"/>
          </a:xfrm>
          <a:prstGeom prst="roundRect">
            <a:avLst>
              <a:gd name="adj" fmla="val 5357"/>
            </a:avLst>
          </a:prstGeom>
          <a:solidFill>
            <a:srgbClr val="E8F6F5"/>
          </a:solidFill>
          <a:ln w="12700">
            <a:solidFill>
              <a:srgbClr val="C7C7D2"/>
            </a:solidFill>
            <a:prstDash val="solid"/>
          </a:ln>
        </p:spPr>
      </p:sp>
      <p:pic>
        <p:nvPicPr>
          <p:cNvPr id="30" name="Image 6" descr="C:\Users\mikae\OneDrive\Documents\Lomba\IFEST\Nyambung\assets\symbols\png\selesai.png">    </p:cNvPr>
          <p:cNvPicPr>
            <a:picLocks noChangeAspect="1"/>
          </p:cNvPicPr>
          <p:nvPr/>
        </p:nvPicPr>
        <p:blipFill>
          <a:blip r:embed="rId7"/>
          <a:stretch>
            <a:fillRect/>
          </a:stretch>
        </p:blipFill>
        <p:spPr>
          <a:xfrm>
            <a:off x="3306836" y="3474354"/>
            <a:ext cx="573512" cy="573512"/>
          </a:xfrm>
          <a:prstGeom prst="rect">
            <a:avLst/>
          </a:prstGeom>
        </p:spPr>
      </p:pic>
      <p:sp>
        <p:nvSpPr>
          <p:cNvPr id="31" name="Text 21"/>
          <p:cNvSpPr/>
          <p:nvPr/>
        </p:nvSpPr>
        <p:spPr>
          <a:xfrm>
            <a:off x="3081528" y="4068348"/>
            <a:ext cx="1024128" cy="307238"/>
          </a:xfrm>
          <a:prstGeom prst="rect">
            <a:avLst/>
          </a:prstGeom>
          <a:noFill/>
          <a:ln/>
        </p:spPr>
        <p:txBody>
          <a:bodyPr wrap="square" lIns="0" tIns="0" rIns="0" bIns="0" rtlCol="0" anchor="ctr"/>
          <a:lstStyle/>
          <a:p>
            <a:pPr algn="ctr" indent="0" marL="0">
              <a:buNone/>
            </a:pPr>
            <a:r>
              <a:rPr lang="en-US" sz="750" b="1" dirty="0">
                <a:solidFill>
                  <a:srgbClr val="172C2A"/>
                </a:solidFill>
                <a:latin typeface="Calibri" pitchFamily="34" charset="0"/>
                <a:ea typeface="Calibri" pitchFamily="34" charset="-122"/>
                <a:cs typeface="Calibri" pitchFamily="34" charset="-120"/>
              </a:rPr>
              <a:t>SELESAI</a:t>
            </a:r>
            <a:endParaRPr lang="en-US" sz="750" dirty="0"/>
          </a:p>
        </p:txBody>
      </p:sp>
      <p:sp>
        <p:nvSpPr>
          <p:cNvPr id="32" name="Text 22"/>
          <p:cNvSpPr/>
          <p:nvPr/>
        </p:nvSpPr>
        <p:spPr>
          <a:xfrm>
            <a:off x="777240" y="4617720"/>
            <a:ext cx="3474720" cy="1188720"/>
          </a:xfrm>
          <a:prstGeom prst="rect">
            <a:avLst/>
          </a:prstGeom>
          <a:noFill/>
          <a:ln/>
        </p:spPr>
        <p:txBody>
          <a:bodyPr wrap="square" lIns="0" tIns="0" rIns="0" bIns="0" rtlCol="0" anchor="t"/>
          <a:lstStyle/>
          <a:p>
            <a:pPr indent="0" marL="0">
              <a:spcAft>
                <a:spcPts val="200"/>
              </a:spcAft>
              <a:buNone/>
            </a:pPr>
            <a:r>
              <a:rPr lang="en-US" sz="1500" b="1" dirty="0">
                <a:solidFill>
                  <a:srgbClr val="172C2A"/>
                </a:solidFill>
                <a:latin typeface="Trebuchet MS" pitchFamily="34" charset="0"/>
                <a:ea typeface="Trebuchet MS" pitchFamily="34" charset="-122"/>
                <a:cs typeface="Trebuchet MS" pitchFamily="34" charset="-120"/>
              </a:rPr>
              <a:t>Mulberry Symbols</a:t>
            </a:r>
            <a:endParaRPr lang="en-US" sz="1500" dirty="0"/>
          </a:p>
          <a:p>
            <a:pPr indent="0" marL="0">
              <a:spcAft>
                <a:spcPts val="200"/>
              </a:spcAft>
              <a:buNone/>
            </a:pPr>
            <a:r>
              <a:rPr lang="en-US" sz="1150" b="1" dirty="0">
                <a:solidFill>
                  <a:srgbClr val="026E65"/>
                </a:solidFill>
                <a:latin typeface="Calibri" pitchFamily="34" charset="0"/>
                <a:ea typeface="Calibri" pitchFamily="34" charset="-122"/>
                <a:cs typeface="Calibri" pitchFamily="34" charset="-120"/>
              </a:rPr>
              <a:t>© Steve Lee · CC BY-SA 4.0</a:t>
            </a:r>
            <a:endParaRPr lang="en-US" sz="1500" dirty="0"/>
          </a:p>
          <a:p>
            <a:pPr indent="0" marL="0">
              <a:spcAft>
                <a:spcPts val="200"/>
              </a:spcAft>
              <a:buNone/>
            </a:pPr>
            <a:r>
              <a:rPr lang="en-US" sz="1050" dirty="0">
                <a:solidFill>
                  <a:srgbClr val="172C2A"/>
                </a:solidFill>
                <a:latin typeface="Calibri" pitchFamily="34" charset="0"/>
                <a:ea typeface="Calibri" pitchFamily="34" charset="-122"/>
                <a:cs typeface="Calibri" pitchFamily="34" charset="-120"/>
              </a:rPr>
              <a:t>Digambar Claire Barge, ditinjau terapis wicara. 85 simbol dipakai; berkas asli tidak diubah, hanya dirasterkan 256 px.</a:t>
            </a:r>
            <a:endParaRPr lang="en-US" sz="1500" dirty="0"/>
          </a:p>
        </p:txBody>
      </p:sp>
      <p:sp>
        <p:nvSpPr>
          <p:cNvPr id="33" name="Shape 23"/>
          <p:cNvSpPr/>
          <p:nvPr/>
        </p:nvSpPr>
        <p:spPr>
          <a:xfrm>
            <a:off x="4709160" y="1783080"/>
            <a:ext cx="3352648" cy="1481328"/>
          </a:xfrm>
          <a:prstGeom prst="roundRect">
            <a:avLst>
              <a:gd name="adj" fmla="val 7407"/>
            </a:avLst>
          </a:prstGeom>
          <a:solidFill>
            <a:srgbClr val="FFFFFF"/>
          </a:solidFill>
          <a:ln w="9525">
            <a:solidFill>
              <a:srgbClr val="DCEEEC"/>
            </a:solidFill>
            <a:prstDash val="solid"/>
          </a:ln>
        </p:spPr>
      </p:sp>
      <p:sp>
        <p:nvSpPr>
          <p:cNvPr id="34" name="Shape 24"/>
          <p:cNvSpPr/>
          <p:nvPr/>
        </p:nvSpPr>
        <p:spPr>
          <a:xfrm>
            <a:off x="4892040" y="1965960"/>
            <a:ext cx="475488" cy="475488"/>
          </a:xfrm>
          <a:prstGeom prst="ellipse">
            <a:avLst/>
          </a:prstGeom>
          <a:solidFill>
            <a:srgbClr val="DFF6F3"/>
          </a:solidFill>
          <a:ln w="12700">
            <a:solidFill>
              <a:srgbClr val="DFF6F3"/>
            </a:solidFill>
            <a:prstDash val="solid"/>
          </a:ln>
        </p:spPr>
      </p:sp>
      <p:pic>
        <p:nvPicPr>
          <p:cNvPr id="35" name="Image 7" descr="preencoded.png">    </p:cNvPr>
          <p:cNvPicPr>
            <a:picLocks noChangeAspect="1"/>
          </p:cNvPicPr>
          <p:nvPr/>
        </p:nvPicPr>
        <p:blipFill>
          <a:blip r:embed="rId8"/>
          <a:stretch>
            <a:fillRect/>
          </a:stretch>
        </p:blipFill>
        <p:spPr>
          <a:xfrm>
            <a:off x="5006157" y="2080077"/>
            <a:ext cx="247254" cy="247254"/>
          </a:xfrm>
          <a:prstGeom prst="rect">
            <a:avLst/>
          </a:prstGeom>
        </p:spPr>
      </p:pic>
      <p:sp>
        <p:nvSpPr>
          <p:cNvPr id="36" name="Text 25"/>
          <p:cNvSpPr/>
          <p:nvPr/>
        </p:nvSpPr>
        <p:spPr>
          <a:xfrm>
            <a:off x="5486400" y="1965960"/>
            <a:ext cx="2392528" cy="475488"/>
          </a:xfrm>
          <a:prstGeom prst="rect">
            <a:avLst/>
          </a:prstGeom>
          <a:noFill/>
          <a:ln/>
        </p:spPr>
        <p:txBody>
          <a:bodyPr wrap="square" lIns="0" tIns="0" rIns="0" bIns="0" rtlCol="0" anchor="ctr"/>
          <a:lstStyle/>
          <a:p>
            <a:pPr indent="0" marL="0">
              <a:buNone/>
            </a:pPr>
            <a:r>
              <a:rPr lang="en-US" sz="1400" b="1" dirty="0">
                <a:solidFill>
                  <a:srgbClr val="172C2A"/>
                </a:solidFill>
                <a:latin typeface="Trebuchet MS" pitchFamily="34" charset="0"/>
                <a:ea typeface="Trebuchet MS" pitchFamily="34" charset="-122"/>
                <a:cs typeface="Trebuchet MS" pitchFamily="34" charset="-120"/>
              </a:rPr>
              <a:t>Simbol buatan tim</a:t>
            </a:r>
            <a:endParaRPr lang="en-US" sz="1400" dirty="0"/>
          </a:p>
        </p:txBody>
      </p:sp>
      <p:sp>
        <p:nvSpPr>
          <p:cNvPr id="37" name="Text 26"/>
          <p:cNvSpPr/>
          <p:nvPr/>
        </p:nvSpPr>
        <p:spPr>
          <a:xfrm>
            <a:off x="4892040" y="2514600"/>
            <a:ext cx="2986888" cy="50292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35 kata tanpa padanan jujur (TIDAK, YA, BERHENTI, SAKIT, AKU, ITU, …) digambar dengan gaya Mulberry. Sementara tampil sebagai huruf pertama.</a:t>
            </a:r>
            <a:endParaRPr lang="en-US" sz="1050" dirty="0"/>
          </a:p>
        </p:txBody>
      </p:sp>
      <p:sp>
        <p:nvSpPr>
          <p:cNvPr id="38" name="Text 27"/>
          <p:cNvSpPr/>
          <p:nvPr/>
        </p:nvSpPr>
        <p:spPr>
          <a:xfrm>
            <a:off x="4892040" y="2990088"/>
            <a:ext cx="2986888" cy="219456"/>
          </a:xfrm>
          <a:prstGeom prst="rect">
            <a:avLst/>
          </a:prstGeom>
          <a:noFill/>
          <a:ln/>
        </p:spPr>
        <p:txBody>
          <a:bodyPr wrap="square" lIns="0" tIns="0" rIns="0" bIns="0" rtlCol="0" anchor="ctr"/>
          <a:lstStyle/>
          <a:p>
            <a:pPr indent="0" marL="0">
              <a:buNone/>
            </a:pPr>
            <a:r>
              <a:rPr lang="en-US" sz="950" i="1" dirty="0">
                <a:solidFill>
                  <a:srgbClr val="52706D"/>
                </a:solidFill>
                <a:latin typeface="Calibri" pitchFamily="34" charset="0"/>
                <a:ea typeface="Calibri" pitchFamily="34" charset="-122"/>
                <a:cs typeface="Calibri" pitchFamily="34" charset="-120"/>
              </a:rPr>
              <a:t>CC BY-SA 4.0 · sedang dikerjakan</a:t>
            </a:r>
            <a:endParaRPr lang="en-US" sz="950" dirty="0"/>
          </a:p>
        </p:txBody>
      </p:sp>
      <p:sp>
        <p:nvSpPr>
          <p:cNvPr id="39" name="Shape 28"/>
          <p:cNvSpPr/>
          <p:nvPr/>
        </p:nvSpPr>
        <p:spPr>
          <a:xfrm>
            <a:off x="8290408" y="1783080"/>
            <a:ext cx="3352648" cy="1481328"/>
          </a:xfrm>
          <a:prstGeom prst="roundRect">
            <a:avLst>
              <a:gd name="adj" fmla="val 7407"/>
            </a:avLst>
          </a:prstGeom>
          <a:solidFill>
            <a:srgbClr val="FFFFFF"/>
          </a:solidFill>
          <a:ln w="9525">
            <a:solidFill>
              <a:srgbClr val="DCEEEC"/>
            </a:solidFill>
            <a:prstDash val="solid"/>
          </a:ln>
        </p:spPr>
      </p:sp>
      <p:sp>
        <p:nvSpPr>
          <p:cNvPr id="40" name="Shape 29"/>
          <p:cNvSpPr/>
          <p:nvPr/>
        </p:nvSpPr>
        <p:spPr>
          <a:xfrm>
            <a:off x="8473288" y="1965960"/>
            <a:ext cx="475488" cy="475488"/>
          </a:xfrm>
          <a:prstGeom prst="ellipse">
            <a:avLst/>
          </a:prstGeom>
          <a:solidFill>
            <a:srgbClr val="DFF6F3"/>
          </a:solidFill>
          <a:ln w="12700">
            <a:solidFill>
              <a:srgbClr val="DFF6F3"/>
            </a:solidFill>
            <a:prstDash val="solid"/>
          </a:ln>
        </p:spPr>
      </p:sp>
      <p:pic>
        <p:nvPicPr>
          <p:cNvPr id="41" name="Image 8" descr="preencoded.png">    </p:cNvPr>
          <p:cNvPicPr>
            <a:picLocks noChangeAspect="1"/>
          </p:cNvPicPr>
          <p:nvPr/>
        </p:nvPicPr>
        <p:blipFill>
          <a:blip r:embed="rId9"/>
          <a:stretch>
            <a:fillRect/>
          </a:stretch>
        </p:blipFill>
        <p:spPr>
          <a:xfrm>
            <a:off x="8587405" y="2080077"/>
            <a:ext cx="247254" cy="247254"/>
          </a:xfrm>
          <a:prstGeom prst="rect">
            <a:avLst/>
          </a:prstGeom>
        </p:spPr>
      </p:pic>
      <p:sp>
        <p:nvSpPr>
          <p:cNvPr id="42" name="Text 30"/>
          <p:cNvSpPr/>
          <p:nvPr/>
        </p:nvSpPr>
        <p:spPr>
          <a:xfrm>
            <a:off x="9067648" y="1965960"/>
            <a:ext cx="2392528" cy="475488"/>
          </a:xfrm>
          <a:prstGeom prst="rect">
            <a:avLst/>
          </a:prstGeom>
          <a:noFill/>
          <a:ln/>
        </p:spPr>
        <p:txBody>
          <a:bodyPr wrap="square" lIns="0" tIns="0" rIns="0" bIns="0" rtlCol="0" anchor="ctr"/>
          <a:lstStyle/>
          <a:p>
            <a:pPr indent="0" marL="0">
              <a:buNone/>
            </a:pPr>
            <a:r>
              <a:rPr lang="en-US" sz="1400" b="1" dirty="0">
                <a:solidFill>
                  <a:srgbClr val="172C2A"/>
                </a:solidFill>
                <a:latin typeface="Trebuchet MS" pitchFamily="34" charset="0"/>
                <a:ea typeface="Trebuchet MS" pitchFamily="34" charset="-122"/>
                <a:cs typeface="Trebuchet MS" pitchFamily="34" charset="-120"/>
              </a:rPr>
              <a:t>120 kata</a:t>
            </a:r>
            <a:endParaRPr lang="en-US" sz="1400" dirty="0"/>
          </a:p>
        </p:txBody>
      </p:sp>
      <p:sp>
        <p:nvSpPr>
          <p:cNvPr id="43" name="Text 31"/>
          <p:cNvSpPr/>
          <p:nvPr/>
        </p:nvSpPr>
        <p:spPr>
          <a:xfrm>
            <a:off x="8473288" y="2514600"/>
            <a:ext cx="2986888" cy="50292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Banajee (2003), Project Core, dan frekuensi OpenSubtitles 2018 sebagai pemecah seri.</a:t>
            </a:r>
            <a:endParaRPr lang="en-US" sz="1050" dirty="0"/>
          </a:p>
        </p:txBody>
      </p:sp>
      <p:sp>
        <p:nvSpPr>
          <p:cNvPr id="44" name="Text 32"/>
          <p:cNvSpPr/>
          <p:nvPr/>
        </p:nvSpPr>
        <p:spPr>
          <a:xfrm>
            <a:off x="8473288" y="2990088"/>
            <a:ext cx="2986888" cy="219456"/>
          </a:xfrm>
          <a:prstGeom prst="rect">
            <a:avLst/>
          </a:prstGeom>
          <a:noFill/>
          <a:ln/>
        </p:spPr>
        <p:txBody>
          <a:bodyPr wrap="square" lIns="0" tIns="0" rIns="0" bIns="0" rtlCol="0" anchor="ctr"/>
          <a:lstStyle/>
          <a:p>
            <a:pPr indent="0" marL="0">
              <a:buNone/>
            </a:pPr>
            <a:r>
              <a:rPr lang="en-US" sz="950" i="1" dirty="0">
                <a:solidFill>
                  <a:srgbClr val="52706D"/>
                </a:solidFill>
                <a:latin typeface="Calibri" pitchFamily="34" charset="0"/>
                <a:ea typeface="Calibri" pitchFamily="34" charset="-122"/>
                <a:cs typeface="Calibri" pitchFamily="34" charset="-120"/>
              </a:rPr>
              <a:t>riset tim · alasan tertulis per kata</a:t>
            </a:r>
            <a:endParaRPr lang="en-US" sz="950" dirty="0"/>
          </a:p>
        </p:txBody>
      </p:sp>
      <p:sp>
        <p:nvSpPr>
          <p:cNvPr id="45" name="Shape 33"/>
          <p:cNvSpPr/>
          <p:nvPr/>
        </p:nvSpPr>
        <p:spPr>
          <a:xfrm>
            <a:off x="4709160" y="3447288"/>
            <a:ext cx="3352648" cy="1481328"/>
          </a:xfrm>
          <a:prstGeom prst="roundRect">
            <a:avLst>
              <a:gd name="adj" fmla="val 7407"/>
            </a:avLst>
          </a:prstGeom>
          <a:solidFill>
            <a:srgbClr val="FFFFFF"/>
          </a:solidFill>
          <a:ln w="9525">
            <a:solidFill>
              <a:srgbClr val="DCEEEC"/>
            </a:solidFill>
            <a:prstDash val="solid"/>
          </a:ln>
        </p:spPr>
      </p:sp>
      <p:sp>
        <p:nvSpPr>
          <p:cNvPr id="46" name="Shape 34"/>
          <p:cNvSpPr/>
          <p:nvPr/>
        </p:nvSpPr>
        <p:spPr>
          <a:xfrm>
            <a:off x="4892040" y="3630168"/>
            <a:ext cx="475488" cy="475488"/>
          </a:xfrm>
          <a:prstGeom prst="ellipse">
            <a:avLst/>
          </a:prstGeom>
          <a:solidFill>
            <a:srgbClr val="DFF6F3"/>
          </a:solidFill>
          <a:ln w="12700">
            <a:solidFill>
              <a:srgbClr val="DFF6F3"/>
            </a:solidFill>
            <a:prstDash val="solid"/>
          </a:ln>
        </p:spPr>
      </p:sp>
      <p:pic>
        <p:nvPicPr>
          <p:cNvPr id="47" name="Image 9" descr="preencoded.png">    </p:cNvPr>
          <p:cNvPicPr>
            <a:picLocks noChangeAspect="1"/>
          </p:cNvPicPr>
          <p:nvPr/>
        </p:nvPicPr>
        <p:blipFill>
          <a:blip r:embed="rId10"/>
          <a:stretch>
            <a:fillRect/>
          </a:stretch>
        </p:blipFill>
        <p:spPr>
          <a:xfrm>
            <a:off x="5006157" y="3744285"/>
            <a:ext cx="247254" cy="247254"/>
          </a:xfrm>
          <a:prstGeom prst="rect">
            <a:avLst/>
          </a:prstGeom>
        </p:spPr>
      </p:pic>
      <p:sp>
        <p:nvSpPr>
          <p:cNvPr id="48" name="Text 35"/>
          <p:cNvSpPr/>
          <p:nvPr/>
        </p:nvSpPr>
        <p:spPr>
          <a:xfrm>
            <a:off x="5486400" y="3630168"/>
            <a:ext cx="2392528" cy="475488"/>
          </a:xfrm>
          <a:prstGeom prst="rect">
            <a:avLst/>
          </a:prstGeom>
          <a:noFill/>
          <a:ln/>
        </p:spPr>
        <p:txBody>
          <a:bodyPr wrap="square" lIns="0" tIns="0" rIns="0" bIns="0" rtlCol="0" anchor="ctr"/>
          <a:lstStyle/>
          <a:p>
            <a:pPr indent="0" marL="0">
              <a:buNone/>
            </a:pPr>
            <a:r>
              <a:rPr lang="en-US" sz="1400" b="1" dirty="0">
                <a:solidFill>
                  <a:srgbClr val="172C2A"/>
                </a:solidFill>
                <a:latin typeface="Trebuchet MS" pitchFamily="34" charset="0"/>
                <a:ea typeface="Trebuchet MS" pitchFamily="34" charset="-122"/>
                <a:cs typeface="Trebuchet MS" pitchFamily="34" charset="-120"/>
              </a:rPr>
              <a:t>Suara papan</a:t>
            </a:r>
            <a:endParaRPr lang="en-US" sz="1400" dirty="0"/>
          </a:p>
        </p:txBody>
      </p:sp>
      <p:sp>
        <p:nvSpPr>
          <p:cNvPr id="49" name="Text 36"/>
          <p:cNvSpPr/>
          <p:nvPr/>
        </p:nvSpPr>
        <p:spPr>
          <a:xfrm>
            <a:off x="4892040" y="4178808"/>
            <a:ext cx="2986888" cy="50292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2 × 120 klip dibuat sekali dengan OpenAI TTS, dibundel di APK, diputar luring.</a:t>
            </a:r>
            <a:endParaRPr lang="en-US" sz="1050" dirty="0"/>
          </a:p>
        </p:txBody>
      </p:sp>
      <p:sp>
        <p:nvSpPr>
          <p:cNvPr id="50" name="Text 37"/>
          <p:cNvSpPr/>
          <p:nvPr/>
        </p:nvSpPr>
        <p:spPr>
          <a:xfrm>
            <a:off x="4892040" y="4654296"/>
            <a:ext cx="2986888" cy="219456"/>
          </a:xfrm>
          <a:prstGeom prst="rect">
            <a:avLst/>
          </a:prstGeom>
          <a:noFill/>
          <a:ln/>
        </p:spPr>
        <p:txBody>
          <a:bodyPr wrap="square" lIns="0" tIns="0" rIns="0" bIns="0" rtlCol="0" anchor="ctr"/>
          <a:lstStyle/>
          <a:p>
            <a:pPr indent="0" marL="0">
              <a:buNone/>
            </a:pPr>
            <a:r>
              <a:rPr lang="en-US" sz="950" i="1" dirty="0">
                <a:solidFill>
                  <a:srgbClr val="52706D"/>
                </a:solidFill>
                <a:latin typeface="Calibri" pitchFamily="34" charset="0"/>
                <a:ea typeface="Calibri" pitchFamily="34" charset="-122"/>
                <a:cs typeface="Calibri" pitchFamily="34" charset="-120"/>
              </a:rPr>
              <a:t>diberi label suara buatan AI</a:t>
            </a:r>
            <a:endParaRPr lang="en-US" sz="950" dirty="0"/>
          </a:p>
        </p:txBody>
      </p:sp>
      <p:sp>
        <p:nvSpPr>
          <p:cNvPr id="51" name="Shape 38"/>
          <p:cNvSpPr/>
          <p:nvPr/>
        </p:nvSpPr>
        <p:spPr>
          <a:xfrm>
            <a:off x="8290408" y="3447288"/>
            <a:ext cx="3352648" cy="1481328"/>
          </a:xfrm>
          <a:prstGeom prst="roundRect">
            <a:avLst>
              <a:gd name="adj" fmla="val 7407"/>
            </a:avLst>
          </a:prstGeom>
          <a:solidFill>
            <a:srgbClr val="FFFFFF"/>
          </a:solidFill>
          <a:ln w="9525">
            <a:solidFill>
              <a:srgbClr val="DCEEEC"/>
            </a:solidFill>
            <a:prstDash val="solid"/>
          </a:ln>
        </p:spPr>
      </p:sp>
      <p:sp>
        <p:nvSpPr>
          <p:cNvPr id="52" name="Shape 39"/>
          <p:cNvSpPr/>
          <p:nvPr/>
        </p:nvSpPr>
        <p:spPr>
          <a:xfrm>
            <a:off x="8473288" y="3630168"/>
            <a:ext cx="475488" cy="475488"/>
          </a:xfrm>
          <a:prstGeom prst="ellipse">
            <a:avLst/>
          </a:prstGeom>
          <a:solidFill>
            <a:srgbClr val="DFF6F3"/>
          </a:solidFill>
          <a:ln w="12700">
            <a:solidFill>
              <a:srgbClr val="DFF6F3"/>
            </a:solidFill>
            <a:prstDash val="solid"/>
          </a:ln>
        </p:spPr>
      </p:sp>
      <p:pic>
        <p:nvPicPr>
          <p:cNvPr id="53" name="Image 10" descr="preencoded.png">    </p:cNvPr>
          <p:cNvPicPr>
            <a:picLocks noChangeAspect="1"/>
          </p:cNvPicPr>
          <p:nvPr/>
        </p:nvPicPr>
        <p:blipFill>
          <a:blip r:embed="rId11"/>
          <a:stretch>
            <a:fillRect/>
          </a:stretch>
        </p:blipFill>
        <p:spPr>
          <a:xfrm>
            <a:off x="8587405" y="3744285"/>
            <a:ext cx="247254" cy="247254"/>
          </a:xfrm>
          <a:prstGeom prst="rect">
            <a:avLst/>
          </a:prstGeom>
        </p:spPr>
      </p:pic>
      <p:sp>
        <p:nvSpPr>
          <p:cNvPr id="54" name="Text 40"/>
          <p:cNvSpPr/>
          <p:nvPr/>
        </p:nvSpPr>
        <p:spPr>
          <a:xfrm>
            <a:off x="9067648" y="3630168"/>
            <a:ext cx="2392528" cy="475488"/>
          </a:xfrm>
          <a:prstGeom prst="rect">
            <a:avLst/>
          </a:prstGeom>
          <a:noFill/>
          <a:ln/>
        </p:spPr>
        <p:txBody>
          <a:bodyPr wrap="square" lIns="0" tIns="0" rIns="0" bIns="0" rtlCol="0" anchor="ctr"/>
          <a:lstStyle/>
          <a:p>
            <a:pPr indent="0" marL="0">
              <a:buNone/>
            </a:pPr>
            <a:r>
              <a:rPr lang="en-US" sz="1400" b="1" dirty="0">
                <a:solidFill>
                  <a:srgbClr val="172C2A"/>
                </a:solidFill>
                <a:latin typeface="Trebuchet MS" pitchFamily="34" charset="0"/>
                <a:ea typeface="Trebuchet MS" pitchFamily="34" charset="-122"/>
                <a:cs typeface="Trebuchet MS" pitchFamily="34" charset="-120"/>
              </a:rPr>
              <a:t>Jejak audit</a:t>
            </a:r>
            <a:endParaRPr lang="en-US" sz="1400" dirty="0"/>
          </a:p>
        </p:txBody>
      </p:sp>
      <p:sp>
        <p:nvSpPr>
          <p:cNvPr id="55" name="Text 41"/>
          <p:cNvSpPr/>
          <p:nvPr/>
        </p:nvSpPr>
        <p:spPr>
          <a:xfrm>
            <a:off x="8473288" y="4178808"/>
            <a:ext cx="2986888" cy="50292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Font Fredoka dan Nunito (SIL OFL 1.1); logo buatan tim. 175 berkas aset diverifikasi SHA-256.</a:t>
            </a:r>
            <a:endParaRPr lang="en-US" sz="1050" dirty="0"/>
          </a:p>
        </p:txBody>
      </p:sp>
      <p:sp>
        <p:nvSpPr>
          <p:cNvPr id="56" name="Text 42"/>
          <p:cNvSpPr/>
          <p:nvPr/>
        </p:nvSpPr>
        <p:spPr>
          <a:xfrm>
            <a:off x="8473288" y="4654296"/>
            <a:ext cx="2986888" cy="219456"/>
          </a:xfrm>
          <a:prstGeom prst="rect">
            <a:avLst/>
          </a:prstGeom>
          <a:noFill/>
          <a:ln/>
        </p:spPr>
        <p:txBody>
          <a:bodyPr wrap="square" lIns="0" tIns="0" rIns="0" bIns="0" rtlCol="0" anchor="ctr"/>
          <a:lstStyle/>
          <a:p>
            <a:pPr indent="0" marL="0">
              <a:buNone/>
            </a:pPr>
            <a:r>
              <a:rPr lang="en-US" sz="950" i="1" dirty="0">
                <a:solidFill>
                  <a:srgbClr val="52706D"/>
                </a:solidFill>
                <a:latin typeface="Calibri" pitchFamily="34" charset="0"/>
                <a:ea typeface="Calibri" pitchFamily="34" charset="-122"/>
                <a:cs typeface="Calibri" pitchFamily="34" charset="-120"/>
              </a:rPr>
              <a:t>hanya konten, tanpa kode pra-acara</a:t>
            </a:r>
            <a:endParaRPr lang="en-US" sz="950" dirty="0"/>
          </a:p>
        </p:txBody>
      </p:sp>
      <p:sp>
        <p:nvSpPr>
          <p:cNvPr id="57" name="Text 43"/>
          <p:cNvSpPr/>
          <p:nvPr/>
        </p:nvSpPr>
        <p:spPr>
          <a:xfrm>
            <a:off x="4709160" y="5120640"/>
            <a:ext cx="6933895" cy="777240"/>
          </a:xfrm>
          <a:prstGeom prst="roundRect">
            <a:avLst>
              <a:gd name="adj" fmla="val 11765"/>
            </a:avLst>
          </a:prstGeom>
          <a:solidFill>
            <a:srgbClr val="098277"/>
          </a:solidFill>
          <a:ln>
            <a:solidFill>
              <a:srgbClr val="098277"/>
            </a:solidFill>
          </a:ln>
        </p:spPr>
        <p:txBody>
          <a:bodyPr wrap="square" lIns="127000" tIns="127000" rIns="127000" bIns="12700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Kenapa simbol bergambar dan berwarna?  </a:t>
            </a:r>
            <a:pPr indent="0" marL="0">
              <a:buNone/>
            </a:pPr>
            <a:r>
              <a:rPr lang="en-US" sz="1100" dirty="0">
                <a:solidFill>
                  <a:srgbClr val="DFF6F3"/>
                </a:solidFill>
                <a:latin typeface="Calibri" pitchFamily="34" charset="0"/>
                <a:ea typeface="Calibri" pitchFamily="34" charset="-122"/>
                <a:cs typeface="Calibri" pitchFamily="34" charset="-120"/>
              </a:rPr>
              <a:t>Simbol yang mudah ditebak maknanya lebih cepat dipelajari anak 3 tahun (Mizuko 1987). Warna per jenis kata (Modified Fitzgerald Key) selalu dipasangkan penanda bentuk, supaya warna bukan satu-satunya pembawa makna (WCAG 1.4.1).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SOLUSI 2 · PENDAMPING HARIAN</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Yang dilatih bukan hanya anak, tapi lingkungannya: kurang dari 5 menit sehari</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6</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O'Neill, Light &amp; Pope (2018), JSLHR · Kent-Walsh, Murza, Malani &amp; Binger (2015), AAC · Guerrera dkk. (2025), Frontiers in Psychiatry. Teks layar persis dari aplikasi.</a:t>
            </a:r>
            <a:endParaRPr lang="en-US" sz="850" dirty="0"/>
          </a:p>
        </p:txBody>
      </p:sp>
      <p:sp>
        <p:nvSpPr>
          <p:cNvPr id="12" name="Shape 8"/>
          <p:cNvSpPr/>
          <p:nvPr/>
        </p:nvSpPr>
        <p:spPr>
          <a:xfrm>
            <a:off x="868680" y="1783080"/>
            <a:ext cx="2788920" cy="4069080"/>
          </a:xfrm>
          <a:prstGeom prst="roundRect">
            <a:avLst>
              <a:gd name="adj" fmla="val 9836"/>
            </a:avLst>
          </a:prstGeom>
          <a:solidFill>
            <a:srgbClr val="172C2A"/>
          </a:solidFill>
          <a:ln w="12700">
            <a:solidFill>
              <a:srgbClr val="172C2A"/>
            </a:solidFill>
            <a:prstDash val="solid"/>
          </a:ln>
        </p:spPr>
      </p:sp>
      <p:sp>
        <p:nvSpPr>
          <p:cNvPr id="13" name="Shape 9"/>
          <p:cNvSpPr/>
          <p:nvPr/>
        </p:nvSpPr>
        <p:spPr>
          <a:xfrm>
            <a:off x="950976" y="1865376"/>
            <a:ext cx="2624328" cy="3904488"/>
          </a:xfrm>
          <a:prstGeom prst="roundRect">
            <a:avLst>
              <a:gd name="adj" fmla="val 8362"/>
            </a:avLst>
          </a:prstGeom>
          <a:solidFill>
            <a:srgbClr val="FCFEFE"/>
          </a:solidFill>
          <a:ln w="12700">
            <a:solidFill>
              <a:srgbClr val="FCFEFE"/>
            </a:solidFill>
            <a:prstDash val="solid"/>
          </a:ln>
        </p:spPr>
      </p:sp>
      <p:sp>
        <p:nvSpPr>
          <p:cNvPr id="14" name="Shape 10"/>
          <p:cNvSpPr/>
          <p:nvPr/>
        </p:nvSpPr>
        <p:spPr>
          <a:xfrm>
            <a:off x="2217420" y="1929384"/>
            <a:ext cx="91440" cy="91440"/>
          </a:xfrm>
          <a:prstGeom prst="ellipse">
            <a:avLst/>
          </a:prstGeom>
          <a:solidFill>
            <a:srgbClr val="172C2A"/>
          </a:solidFill>
          <a:ln w="12700">
            <a:solidFill>
              <a:srgbClr val="172C2A"/>
            </a:solidFill>
            <a:prstDash val="solid"/>
          </a:ln>
        </p:spPr>
      </p:sp>
      <p:sp>
        <p:nvSpPr>
          <p:cNvPr id="15" name="Text 11"/>
          <p:cNvSpPr/>
          <p:nvPr/>
        </p:nvSpPr>
        <p:spPr>
          <a:xfrm>
            <a:off x="1042416" y="2084832"/>
            <a:ext cx="2441448" cy="274320"/>
          </a:xfrm>
          <a:prstGeom prst="rect">
            <a:avLst/>
          </a:prstGeom>
          <a:noFill/>
          <a:ln/>
        </p:spPr>
        <p:txBody>
          <a:bodyPr wrap="square" lIns="0" tIns="0" rIns="0" bIns="0" rtlCol="0" anchor="ctr"/>
          <a:lstStyle/>
          <a:p>
            <a:pPr indent="0" marL="0">
              <a:buNone/>
            </a:pPr>
            <a:r>
              <a:rPr lang="en-US" sz="1200" b="1" dirty="0">
                <a:solidFill>
                  <a:srgbClr val="172C2A"/>
                </a:solidFill>
                <a:latin typeface="Trebuchet MS" pitchFamily="34" charset="0"/>
                <a:ea typeface="Trebuchet MS" pitchFamily="34" charset="-122"/>
                <a:cs typeface="Trebuchet MS" pitchFamily="34" charset="-120"/>
              </a:rPr>
              <a:t>Halo, keluarga Arka</a:t>
            </a:r>
            <a:endParaRPr lang="en-US" sz="1200" dirty="0"/>
          </a:p>
        </p:txBody>
      </p:sp>
      <p:sp>
        <p:nvSpPr>
          <p:cNvPr id="16" name="Shape 12"/>
          <p:cNvSpPr/>
          <p:nvPr/>
        </p:nvSpPr>
        <p:spPr>
          <a:xfrm>
            <a:off x="1042416" y="2377440"/>
            <a:ext cx="2441448" cy="1371600"/>
          </a:xfrm>
          <a:prstGeom prst="roundRect">
            <a:avLst>
              <a:gd name="adj" fmla="val 8000"/>
            </a:avLst>
          </a:prstGeom>
          <a:solidFill>
            <a:srgbClr val="098277"/>
          </a:solidFill>
          <a:ln w="12700">
            <a:solidFill>
              <a:srgbClr val="098277"/>
            </a:solidFill>
            <a:prstDash val="solid"/>
          </a:ln>
        </p:spPr>
      </p:sp>
      <p:sp>
        <p:nvSpPr>
          <p:cNvPr id="17" name="Text 13"/>
          <p:cNvSpPr/>
          <p:nvPr/>
        </p:nvSpPr>
        <p:spPr>
          <a:xfrm>
            <a:off x="1179576" y="2450592"/>
            <a:ext cx="2167128" cy="201168"/>
          </a:xfrm>
          <a:prstGeom prst="rect">
            <a:avLst/>
          </a:prstGeom>
          <a:noFill/>
          <a:ln/>
        </p:spPr>
        <p:txBody>
          <a:bodyPr wrap="square" lIns="0" tIns="0" rIns="0" bIns="0" rtlCol="0" anchor="ctr"/>
          <a:lstStyle/>
          <a:p>
            <a:pPr indent="0" marL="0">
              <a:buNone/>
            </a:pPr>
            <a:r>
              <a:rPr lang="en-US" sz="800" b="1" spc="150" kern="0" dirty="0">
                <a:solidFill>
                  <a:srgbClr val="A0DDD7"/>
                </a:solidFill>
                <a:latin typeface="Calibri" pitchFamily="34" charset="0"/>
                <a:ea typeface="Calibri" pitchFamily="34" charset="-122"/>
                <a:cs typeface="Calibri" pitchFamily="34" charset="-120"/>
              </a:rPr>
              <a:t>MISI HARI INI</a:t>
            </a:r>
            <a:endParaRPr lang="en-US" sz="800" dirty="0"/>
          </a:p>
        </p:txBody>
      </p:sp>
      <p:sp>
        <p:nvSpPr>
          <p:cNvPr id="18" name="Text 14"/>
          <p:cNvSpPr/>
          <p:nvPr/>
        </p:nvSpPr>
        <p:spPr>
          <a:xfrm>
            <a:off x="1179576" y="2651760"/>
            <a:ext cx="2167128" cy="566928"/>
          </a:xfrm>
          <a:prstGeom prst="rect">
            <a:avLst/>
          </a:prstGeom>
          <a:noFill/>
          <a:ln/>
        </p:spPr>
        <p:txBody>
          <a:bodyPr wrap="square" lIns="0" tIns="0" rIns="0" bIns="0" rtlCol="0" anchor="t"/>
          <a:lstStyle/>
          <a:p>
            <a:pPr indent="0" marL="0">
              <a:buNone/>
            </a:pPr>
            <a:r>
              <a:rPr lang="en-US" sz="1350" b="1" dirty="0">
                <a:solidFill>
                  <a:srgbClr val="FFFFFF"/>
                </a:solidFill>
                <a:latin typeface="Trebuchet MS" pitchFamily="34" charset="0"/>
                <a:ea typeface="Trebuchet MS" pitchFamily="34" charset="-122"/>
                <a:cs typeface="Trebuchet MS" pitchFamily="34" charset="-120"/>
              </a:rPr>
              <a:t>Tekan MAU lima kali saat makan</a:t>
            </a:r>
            <a:endParaRPr lang="en-US" sz="1350" dirty="0"/>
          </a:p>
        </p:txBody>
      </p:sp>
      <p:sp>
        <p:nvSpPr>
          <p:cNvPr id="19" name="Text 15"/>
          <p:cNvSpPr/>
          <p:nvPr/>
        </p:nvSpPr>
        <p:spPr>
          <a:xfrm>
            <a:off x="1179576" y="3291840"/>
            <a:ext cx="1161288" cy="310896"/>
          </a:xfrm>
          <a:prstGeom prst="roundRect">
            <a:avLst>
              <a:gd name="adj" fmla="val 50000"/>
            </a:avLst>
          </a:prstGeom>
          <a:solidFill>
            <a:srgbClr val="038075"/>
          </a:solidFill>
          <a:ln>
            <a:solidFill>
              <a:srgbClr val="A0DDD7"/>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Pelajaran 60 detik</a:t>
            </a:r>
            <a:endParaRPr lang="en-US" sz="800" dirty="0"/>
          </a:p>
        </p:txBody>
      </p:sp>
      <p:sp>
        <p:nvSpPr>
          <p:cNvPr id="20" name="Text 16"/>
          <p:cNvSpPr/>
          <p:nvPr/>
        </p:nvSpPr>
        <p:spPr>
          <a:xfrm>
            <a:off x="2414016" y="3291840"/>
            <a:ext cx="960120" cy="310896"/>
          </a:xfrm>
          <a:prstGeom prst="roundRect">
            <a:avLst>
              <a:gd name="adj" fmla="val 50000"/>
            </a:avLst>
          </a:prstGeom>
          <a:solidFill>
            <a:srgbClr val="BADE4A"/>
          </a:solidFill>
          <a:ln>
            <a:solidFill>
              <a:srgbClr val="BADE4A"/>
            </a:solidFill>
          </a:ln>
        </p:spPr>
        <p:txBody>
          <a:bodyPr wrap="square" lIns="0" tIns="0" rIns="0" bIns="0" rtlCol="0" anchor="ctr"/>
          <a:lstStyle/>
          <a:p>
            <a:pPr algn="ctr" indent="0" marL="0">
              <a:buNone/>
            </a:pPr>
            <a:r>
              <a:rPr lang="en-US" sz="850" b="1" dirty="0">
                <a:solidFill>
                  <a:srgbClr val="0B5E56"/>
                </a:solidFill>
                <a:latin typeface="Calibri" pitchFamily="34" charset="0"/>
                <a:ea typeface="Calibri" pitchFamily="34" charset="-122"/>
                <a:cs typeface="Calibri" pitchFamily="34" charset="-120"/>
              </a:rPr>
              <a:t>Mulai misi</a:t>
            </a:r>
            <a:endParaRPr lang="en-US" sz="850" dirty="0"/>
          </a:p>
        </p:txBody>
      </p:sp>
      <p:sp>
        <p:nvSpPr>
          <p:cNvPr id="21" name="Text 17"/>
          <p:cNvSpPr/>
          <p:nvPr/>
        </p:nvSpPr>
        <p:spPr>
          <a:xfrm>
            <a:off x="1042416" y="3840480"/>
            <a:ext cx="2441448" cy="237744"/>
          </a:xfrm>
          <a:prstGeom prst="rect">
            <a:avLst/>
          </a:prstGeom>
          <a:noFill/>
          <a:ln/>
        </p:spPr>
        <p:txBody>
          <a:bodyPr wrap="square" lIns="0" tIns="0" rIns="0" bIns="0" rtlCol="0" anchor="ctr"/>
          <a:lstStyle/>
          <a:p>
            <a:pPr indent="0" marL="0">
              <a:buNone/>
            </a:pPr>
            <a:r>
              <a:rPr lang="en-US" sz="900" b="1" dirty="0">
                <a:solidFill>
                  <a:srgbClr val="52706D"/>
                </a:solidFill>
                <a:latin typeface="Calibri" pitchFamily="34" charset="0"/>
                <a:ea typeface="Calibri" pitchFamily="34" charset="-122"/>
                <a:cs typeface="Calibri" pitchFamily="34" charset="-120"/>
              </a:rPr>
              <a:t>Misi berjalan</a:t>
            </a:r>
            <a:endParaRPr lang="en-US" sz="900" dirty="0"/>
          </a:p>
        </p:txBody>
      </p:sp>
      <p:sp>
        <p:nvSpPr>
          <p:cNvPr id="22" name="Text 18"/>
          <p:cNvSpPr/>
          <p:nvPr/>
        </p:nvSpPr>
        <p:spPr>
          <a:xfrm>
            <a:off x="1042416" y="4023360"/>
            <a:ext cx="2441448" cy="457200"/>
          </a:xfrm>
          <a:prstGeom prst="rect">
            <a:avLst/>
          </a:prstGeom>
          <a:noFill/>
          <a:ln/>
        </p:spPr>
        <p:txBody>
          <a:bodyPr wrap="square" lIns="0" tIns="0" rIns="0" bIns="0" rtlCol="0" anchor="ctr"/>
          <a:lstStyle/>
          <a:p>
            <a:pPr algn="ctr" indent="0" marL="0">
              <a:buNone/>
            </a:pPr>
            <a:r>
              <a:rPr lang="en-US" sz="2400" b="1" dirty="0">
                <a:solidFill>
                  <a:srgbClr val="172C2A"/>
                </a:solidFill>
                <a:latin typeface="Trebuchet MS" pitchFamily="34" charset="0"/>
                <a:ea typeface="Trebuchet MS" pitchFamily="34" charset="-122"/>
                <a:cs typeface="Trebuchet MS" pitchFamily="34" charset="-120"/>
              </a:rPr>
              <a:t>2 dari 5</a:t>
            </a:r>
            <a:endParaRPr lang="en-US" sz="2400" dirty="0"/>
          </a:p>
        </p:txBody>
      </p:sp>
      <p:sp>
        <p:nvSpPr>
          <p:cNvPr id="23" name="Shape 19"/>
          <p:cNvSpPr/>
          <p:nvPr/>
        </p:nvSpPr>
        <p:spPr>
          <a:xfrm>
            <a:off x="1495044" y="4498848"/>
            <a:ext cx="219456" cy="219456"/>
          </a:xfrm>
          <a:prstGeom prst="ellipse">
            <a:avLst/>
          </a:prstGeom>
          <a:solidFill>
            <a:srgbClr val="098277"/>
          </a:solidFill>
          <a:ln w="15875">
            <a:solidFill>
              <a:srgbClr val="098277"/>
            </a:solidFill>
            <a:prstDash val="solid"/>
          </a:ln>
        </p:spPr>
      </p:sp>
      <p:sp>
        <p:nvSpPr>
          <p:cNvPr id="24" name="Shape 20"/>
          <p:cNvSpPr/>
          <p:nvPr/>
        </p:nvSpPr>
        <p:spPr>
          <a:xfrm>
            <a:off x="1824228" y="4498848"/>
            <a:ext cx="219456" cy="219456"/>
          </a:xfrm>
          <a:prstGeom prst="ellipse">
            <a:avLst/>
          </a:prstGeom>
          <a:solidFill>
            <a:srgbClr val="098277"/>
          </a:solidFill>
          <a:ln w="15875">
            <a:solidFill>
              <a:srgbClr val="098277"/>
            </a:solidFill>
            <a:prstDash val="solid"/>
          </a:ln>
        </p:spPr>
      </p:sp>
      <p:sp>
        <p:nvSpPr>
          <p:cNvPr id="25" name="Shape 21"/>
          <p:cNvSpPr/>
          <p:nvPr/>
        </p:nvSpPr>
        <p:spPr>
          <a:xfrm>
            <a:off x="2153412" y="4498848"/>
            <a:ext cx="219456" cy="219456"/>
          </a:xfrm>
          <a:prstGeom prst="ellipse">
            <a:avLst/>
          </a:prstGeom>
          <a:solidFill>
            <a:srgbClr val="FFFFFF"/>
          </a:solidFill>
          <a:ln w="15875">
            <a:solidFill>
              <a:srgbClr val="098277"/>
            </a:solidFill>
            <a:prstDash val="solid"/>
          </a:ln>
        </p:spPr>
      </p:sp>
      <p:sp>
        <p:nvSpPr>
          <p:cNvPr id="26" name="Shape 22"/>
          <p:cNvSpPr/>
          <p:nvPr/>
        </p:nvSpPr>
        <p:spPr>
          <a:xfrm>
            <a:off x="2482596" y="4498848"/>
            <a:ext cx="219456" cy="219456"/>
          </a:xfrm>
          <a:prstGeom prst="ellipse">
            <a:avLst/>
          </a:prstGeom>
          <a:solidFill>
            <a:srgbClr val="FFFFFF"/>
          </a:solidFill>
          <a:ln w="15875">
            <a:solidFill>
              <a:srgbClr val="098277"/>
            </a:solidFill>
            <a:prstDash val="solid"/>
          </a:ln>
        </p:spPr>
      </p:sp>
      <p:sp>
        <p:nvSpPr>
          <p:cNvPr id="27" name="Shape 23"/>
          <p:cNvSpPr/>
          <p:nvPr/>
        </p:nvSpPr>
        <p:spPr>
          <a:xfrm>
            <a:off x="2811780" y="4498848"/>
            <a:ext cx="219456" cy="219456"/>
          </a:xfrm>
          <a:prstGeom prst="ellipse">
            <a:avLst/>
          </a:prstGeom>
          <a:solidFill>
            <a:srgbClr val="FFFFFF"/>
          </a:solidFill>
          <a:ln w="15875">
            <a:solidFill>
              <a:srgbClr val="098277"/>
            </a:solidFill>
            <a:prstDash val="solid"/>
          </a:ln>
        </p:spPr>
      </p:sp>
      <p:sp>
        <p:nvSpPr>
          <p:cNvPr id="28" name="Text 24"/>
          <p:cNvSpPr/>
          <p:nvPr/>
        </p:nvSpPr>
        <p:spPr>
          <a:xfrm>
            <a:off x="1042416" y="4773168"/>
            <a:ext cx="2441448" cy="384048"/>
          </a:xfrm>
          <a:prstGeom prst="rect">
            <a:avLst/>
          </a:prstGeom>
          <a:noFill/>
          <a:ln/>
        </p:spPr>
        <p:txBody>
          <a:bodyPr wrap="square" lIns="0" tIns="0" rIns="0" bIns="0" rtlCol="0" anchor="ctr"/>
          <a:lstStyle/>
          <a:p>
            <a:pPr algn="ctr" indent="0" marL="0">
              <a:buNone/>
            </a:pPr>
            <a:r>
              <a:rPr lang="en-US" sz="750" dirty="0">
                <a:solidFill>
                  <a:srgbClr val="52706D"/>
                </a:solidFill>
                <a:latin typeface="Calibri" pitchFamily="34" charset="0"/>
                <a:ea typeface="Calibri" pitchFamily="34" charset="-122"/>
                <a:cs typeface="Calibri" pitchFamily="34" charset="-120"/>
              </a:rPr>
              <a:t>Terisi sendiri dari papan. Mencatat contoh dari Ibu atau Ayah, bukan menilai anak.</a:t>
            </a:r>
            <a:endParaRPr lang="en-US" sz="750" dirty="0"/>
          </a:p>
        </p:txBody>
      </p:sp>
      <p:sp>
        <p:nvSpPr>
          <p:cNvPr id="29" name="Text 25"/>
          <p:cNvSpPr/>
          <p:nvPr/>
        </p:nvSpPr>
        <p:spPr>
          <a:xfrm>
            <a:off x="1042416" y="5212080"/>
            <a:ext cx="1175004" cy="329184"/>
          </a:xfrm>
          <a:prstGeom prst="roundRect">
            <a:avLst>
              <a:gd name="adj" fmla="val 50000"/>
            </a:avLst>
          </a:prstGeom>
          <a:solidFill>
            <a:srgbClr val="FFFFFF"/>
          </a:solidFill>
          <a:ln>
            <a:solidFill>
              <a:srgbClr val="026E65"/>
            </a:solidFill>
          </a:ln>
        </p:spPr>
        <p:txBody>
          <a:bodyPr wrap="square" lIns="0" tIns="0" rIns="0" bIns="0" rtlCol="0" anchor="ctr"/>
          <a:lstStyle/>
          <a:p>
            <a:pPr algn="ctr" indent="0" marL="0">
              <a:buNone/>
            </a:pPr>
            <a:r>
              <a:rPr lang="en-US" sz="800" b="1" dirty="0">
                <a:solidFill>
                  <a:srgbClr val="026E65"/>
                </a:solidFill>
                <a:latin typeface="Calibri" pitchFamily="34" charset="0"/>
                <a:ea typeface="Calibri" pitchFamily="34" charset="-122"/>
                <a:cs typeface="Calibri" pitchFamily="34" charset="-120"/>
              </a:rPr>
              <a:t>Belum sempat hari ini</a:t>
            </a:r>
            <a:endParaRPr lang="en-US" sz="800" dirty="0"/>
          </a:p>
        </p:txBody>
      </p:sp>
      <p:sp>
        <p:nvSpPr>
          <p:cNvPr id="30" name="Text 26"/>
          <p:cNvSpPr/>
          <p:nvPr/>
        </p:nvSpPr>
        <p:spPr>
          <a:xfrm>
            <a:off x="2308860" y="5212080"/>
            <a:ext cx="1175004" cy="329184"/>
          </a:xfrm>
          <a:prstGeom prst="roundRect">
            <a:avLst>
              <a:gd name="adj" fmla="val 50000"/>
            </a:avLst>
          </a:prstGeom>
          <a:solidFill>
            <a:srgbClr val="FFFFFF"/>
          </a:solidFill>
          <a:ln>
            <a:solidFill>
              <a:srgbClr val="026E65"/>
            </a:solidFill>
          </a:ln>
        </p:spPr>
        <p:txBody>
          <a:bodyPr wrap="square" lIns="0" tIns="0" rIns="0" bIns="0" rtlCol="0" anchor="ctr"/>
          <a:lstStyle/>
          <a:p>
            <a:pPr algn="ctr" indent="0" marL="0">
              <a:buNone/>
            </a:pPr>
            <a:r>
              <a:rPr lang="en-US" sz="850" b="1" dirty="0">
                <a:solidFill>
                  <a:srgbClr val="026E65"/>
                </a:solidFill>
                <a:latin typeface="Calibri" pitchFamily="34" charset="0"/>
                <a:ea typeface="Calibri" pitchFamily="34" charset="-122"/>
                <a:cs typeface="Calibri" pitchFamily="34" charset="-120"/>
              </a:rPr>
              <a:t>Selesai</a:t>
            </a:r>
            <a:endParaRPr lang="en-US" sz="850" dirty="0"/>
          </a:p>
        </p:txBody>
      </p:sp>
      <p:sp>
        <p:nvSpPr>
          <p:cNvPr id="31" name="Text 27"/>
          <p:cNvSpPr/>
          <p:nvPr/>
        </p:nvSpPr>
        <p:spPr>
          <a:xfrm>
            <a:off x="1234440" y="5724144"/>
            <a:ext cx="2057400" cy="274320"/>
          </a:xfrm>
          <a:prstGeom prst="roundRect">
            <a:avLst>
              <a:gd name="adj" fmla="val 50000"/>
            </a:avLst>
          </a:prstGeom>
          <a:solidFill>
            <a:srgbClr val="D34349"/>
          </a:solidFill>
          <a:ln>
            <a:solidFill>
              <a:srgbClr val="D34349"/>
            </a:solidFill>
          </a:ln>
        </p:spPr>
        <p:txBody>
          <a:bodyPr wrap="square" lIns="0" tIns="0" rIns="0" bIns="0" rtlCol="0" anchor="ctr"/>
          <a:lstStyle/>
          <a:p>
            <a:pPr algn="ctr" indent="0" marL="0">
              <a:buNone/>
            </a:pPr>
            <a:r>
              <a:rPr lang="en-US" sz="950" b="1" spc="150" kern="0" dirty="0">
                <a:solidFill>
                  <a:srgbClr val="FFFFFF"/>
                </a:solidFill>
                <a:latin typeface="Calibri" pitchFamily="34" charset="0"/>
                <a:ea typeface="Calibri" pitchFamily="34" charset="-122"/>
                <a:cs typeface="Calibri" pitchFamily="34" charset="-120"/>
              </a:rPr>
              <a:t>DEMO LANGSUNG</a:t>
            </a:r>
            <a:endParaRPr lang="en-US" sz="950" dirty="0"/>
          </a:p>
        </p:txBody>
      </p:sp>
      <p:sp>
        <p:nvSpPr>
          <p:cNvPr id="32" name="Shape 28"/>
          <p:cNvSpPr/>
          <p:nvPr/>
        </p:nvSpPr>
        <p:spPr>
          <a:xfrm>
            <a:off x="4069080" y="1783080"/>
            <a:ext cx="2390546" cy="2240280"/>
          </a:xfrm>
          <a:prstGeom prst="roundRect">
            <a:avLst>
              <a:gd name="adj" fmla="val 4898"/>
            </a:avLst>
          </a:prstGeom>
          <a:solidFill>
            <a:srgbClr val="FFFFFF"/>
          </a:solidFill>
          <a:ln w="9525">
            <a:solidFill>
              <a:srgbClr val="DCEEEC"/>
            </a:solidFill>
            <a:prstDash val="solid"/>
          </a:ln>
        </p:spPr>
      </p:sp>
      <p:sp>
        <p:nvSpPr>
          <p:cNvPr id="33" name="Shape 29"/>
          <p:cNvSpPr/>
          <p:nvPr/>
        </p:nvSpPr>
        <p:spPr>
          <a:xfrm>
            <a:off x="4270248" y="1947672"/>
            <a:ext cx="548640" cy="548640"/>
          </a:xfrm>
          <a:prstGeom prst="ellipse">
            <a:avLst/>
          </a:prstGeom>
          <a:solidFill>
            <a:srgbClr val="FDE1E2"/>
          </a:solidFill>
          <a:ln w="12700">
            <a:solidFill>
              <a:srgbClr val="FDE1E2"/>
            </a:solidFill>
            <a:prstDash val="solid"/>
          </a:ln>
        </p:spPr>
      </p:sp>
      <p:pic>
        <p:nvPicPr>
          <p:cNvPr id="34" name="Image 1" descr="preencoded.png">    </p:cNvPr>
          <p:cNvPicPr>
            <a:picLocks noChangeAspect="1"/>
          </p:cNvPicPr>
          <p:nvPr/>
        </p:nvPicPr>
        <p:blipFill>
          <a:blip r:embed="rId2"/>
          <a:stretch>
            <a:fillRect/>
          </a:stretch>
        </p:blipFill>
        <p:spPr>
          <a:xfrm>
            <a:off x="4401922" y="2079346"/>
            <a:ext cx="285293" cy="285293"/>
          </a:xfrm>
          <a:prstGeom prst="rect">
            <a:avLst/>
          </a:prstGeom>
        </p:spPr>
      </p:pic>
      <p:sp>
        <p:nvSpPr>
          <p:cNvPr id="35" name="Text 30"/>
          <p:cNvSpPr/>
          <p:nvPr/>
        </p:nvSpPr>
        <p:spPr>
          <a:xfrm>
            <a:off x="4270248" y="2606040"/>
            <a:ext cx="2024786" cy="329184"/>
          </a:xfrm>
          <a:prstGeom prst="rect">
            <a:avLst/>
          </a:prstGeom>
          <a:noFill/>
          <a:ln/>
        </p:spPr>
        <p:txBody>
          <a:bodyPr wrap="square" lIns="0" tIns="0" rIns="0" bIns="0" rtlCol="0" anchor="ctr"/>
          <a:lstStyle/>
          <a:p>
            <a:pPr indent="0" marL="0">
              <a:buNone/>
            </a:pPr>
            <a:r>
              <a:rPr lang="en-US" sz="1350" b="1" dirty="0">
                <a:solidFill>
                  <a:srgbClr val="172C2A"/>
                </a:solidFill>
                <a:latin typeface="Trebuchet MS" pitchFamily="34" charset="0"/>
                <a:ea typeface="Trebuchet MS" pitchFamily="34" charset="-122"/>
                <a:cs typeface="Trebuchet MS" pitchFamily="34" charset="-120"/>
              </a:rPr>
              <a:t>1 · Pelajaran 60 detik</a:t>
            </a:r>
            <a:endParaRPr lang="en-US" sz="1350" dirty="0"/>
          </a:p>
        </p:txBody>
      </p:sp>
      <p:sp>
        <p:nvSpPr>
          <p:cNvPr id="36" name="Text 31"/>
          <p:cNvSpPr/>
          <p:nvPr/>
        </p:nvSpPr>
        <p:spPr>
          <a:xfrm>
            <a:off x="4270248" y="2953512"/>
            <a:ext cx="2024786" cy="1005840"/>
          </a:xfrm>
          <a:prstGeom prst="rect">
            <a:avLst/>
          </a:prstGeom>
          <a:noFill/>
          <a:ln/>
        </p:spPr>
        <p:txBody>
          <a:bodyPr wrap="square" lIns="0" tIns="0" rIns="0" bIns="0" rtlCol="0" anchor="t"/>
          <a:lstStyle/>
          <a:p>
            <a:pPr indent="0" marL="0">
              <a:buNone/>
            </a:pPr>
            <a:r>
              <a:rPr lang="en-US" sz="1150" dirty="0">
                <a:solidFill>
                  <a:srgbClr val="172C2A"/>
                </a:solidFill>
                <a:latin typeface="Calibri" pitchFamily="34" charset="0"/>
                <a:ea typeface="Calibri" pitchFamily="34" charset="-122"/>
                <a:cs typeface="Calibri" pitchFamily="34" charset="-120"/>
              </a:rPr>
              <a:t>Caranya, contoh, kenapa. Lima pelajaran: tekan sambil bicara, tunggu lima detik, tanpa memaksa.</a:t>
            </a:r>
            <a:endParaRPr lang="en-US" sz="1150" dirty="0"/>
          </a:p>
        </p:txBody>
      </p:sp>
      <p:sp>
        <p:nvSpPr>
          <p:cNvPr id="37" name="Shape 32"/>
          <p:cNvSpPr/>
          <p:nvPr/>
        </p:nvSpPr>
        <p:spPr>
          <a:xfrm>
            <a:off x="6660794" y="1783080"/>
            <a:ext cx="2390546" cy="2240280"/>
          </a:xfrm>
          <a:prstGeom prst="roundRect">
            <a:avLst>
              <a:gd name="adj" fmla="val 4898"/>
            </a:avLst>
          </a:prstGeom>
          <a:solidFill>
            <a:srgbClr val="FFFFFF"/>
          </a:solidFill>
          <a:ln w="9525">
            <a:solidFill>
              <a:srgbClr val="DCEEEC"/>
            </a:solidFill>
            <a:prstDash val="solid"/>
          </a:ln>
        </p:spPr>
      </p:sp>
      <p:sp>
        <p:nvSpPr>
          <p:cNvPr id="38" name="Shape 33"/>
          <p:cNvSpPr/>
          <p:nvPr/>
        </p:nvSpPr>
        <p:spPr>
          <a:xfrm>
            <a:off x="6861962" y="1947672"/>
            <a:ext cx="548640" cy="548640"/>
          </a:xfrm>
          <a:prstGeom prst="ellipse">
            <a:avLst/>
          </a:prstGeom>
          <a:solidFill>
            <a:srgbClr val="FDE1E2"/>
          </a:solidFill>
          <a:ln w="12700">
            <a:solidFill>
              <a:srgbClr val="FDE1E2"/>
            </a:solidFill>
            <a:prstDash val="solid"/>
          </a:ln>
        </p:spPr>
      </p:sp>
      <p:pic>
        <p:nvPicPr>
          <p:cNvPr id="39" name="Image 2" descr="preencoded.png">    </p:cNvPr>
          <p:cNvPicPr>
            <a:picLocks noChangeAspect="1"/>
          </p:cNvPicPr>
          <p:nvPr/>
        </p:nvPicPr>
        <p:blipFill>
          <a:blip r:embed="rId3"/>
          <a:stretch>
            <a:fillRect/>
          </a:stretch>
        </p:blipFill>
        <p:spPr>
          <a:xfrm>
            <a:off x="6993636" y="2079346"/>
            <a:ext cx="285293" cy="285293"/>
          </a:xfrm>
          <a:prstGeom prst="rect">
            <a:avLst/>
          </a:prstGeom>
        </p:spPr>
      </p:pic>
      <p:sp>
        <p:nvSpPr>
          <p:cNvPr id="40" name="Text 34"/>
          <p:cNvSpPr/>
          <p:nvPr/>
        </p:nvSpPr>
        <p:spPr>
          <a:xfrm>
            <a:off x="6861962" y="2606040"/>
            <a:ext cx="2024786" cy="329184"/>
          </a:xfrm>
          <a:prstGeom prst="rect">
            <a:avLst/>
          </a:prstGeom>
          <a:noFill/>
          <a:ln/>
        </p:spPr>
        <p:txBody>
          <a:bodyPr wrap="square" lIns="0" tIns="0" rIns="0" bIns="0" rtlCol="0" anchor="ctr"/>
          <a:lstStyle/>
          <a:p>
            <a:pPr indent="0" marL="0">
              <a:buNone/>
            </a:pPr>
            <a:r>
              <a:rPr lang="en-US" sz="1350" b="1" dirty="0">
                <a:solidFill>
                  <a:srgbClr val="172C2A"/>
                </a:solidFill>
                <a:latin typeface="Trebuchet MS" pitchFamily="34" charset="0"/>
                <a:ea typeface="Trebuchet MS" pitchFamily="34" charset="-122"/>
                <a:cs typeface="Trebuchet MS" pitchFamily="34" charset="-120"/>
              </a:rPr>
              <a:t>2 · Satu misi di rutinitas</a:t>
            </a:r>
            <a:endParaRPr lang="en-US" sz="1350" dirty="0"/>
          </a:p>
        </p:txBody>
      </p:sp>
      <p:sp>
        <p:nvSpPr>
          <p:cNvPr id="41" name="Text 35"/>
          <p:cNvSpPr/>
          <p:nvPr/>
        </p:nvSpPr>
        <p:spPr>
          <a:xfrm>
            <a:off x="6861962" y="2953512"/>
            <a:ext cx="2024786" cy="1005840"/>
          </a:xfrm>
          <a:prstGeom prst="rect">
            <a:avLst/>
          </a:prstGeom>
          <a:noFill/>
          <a:ln/>
        </p:spPr>
        <p:txBody>
          <a:bodyPr wrap="square" lIns="0" tIns="0" rIns="0" bIns="0" rtlCol="0" anchor="t"/>
          <a:lstStyle/>
          <a:p>
            <a:pPr indent="0" marL="0">
              <a:buNone/>
            </a:pPr>
            <a:r>
              <a:rPr lang="en-US" sz="1150" dirty="0">
                <a:solidFill>
                  <a:srgbClr val="172C2A"/>
                </a:solidFill>
                <a:latin typeface="Calibri" pitchFamily="34" charset="0"/>
                <a:ea typeface="Calibri" pitchFamily="34" charset="-122"/>
                <a:cs typeface="Calibri" pitchFamily="34" charset="-120"/>
              </a:rPr>
              <a:t>Tekan MAU lima kali saat makan, di papan bersama anak. Anak tidak dituntut menekan.</a:t>
            </a:r>
            <a:endParaRPr lang="en-US" sz="1150" dirty="0"/>
          </a:p>
        </p:txBody>
      </p:sp>
      <p:sp>
        <p:nvSpPr>
          <p:cNvPr id="42" name="Shape 36"/>
          <p:cNvSpPr/>
          <p:nvPr/>
        </p:nvSpPr>
        <p:spPr>
          <a:xfrm>
            <a:off x="9252509" y="1783080"/>
            <a:ext cx="2390546" cy="2240280"/>
          </a:xfrm>
          <a:prstGeom prst="roundRect">
            <a:avLst>
              <a:gd name="adj" fmla="val 4898"/>
            </a:avLst>
          </a:prstGeom>
          <a:solidFill>
            <a:srgbClr val="FFFFFF"/>
          </a:solidFill>
          <a:ln w="9525">
            <a:solidFill>
              <a:srgbClr val="DCEEEC"/>
            </a:solidFill>
            <a:prstDash val="solid"/>
          </a:ln>
        </p:spPr>
      </p:sp>
      <p:sp>
        <p:nvSpPr>
          <p:cNvPr id="43" name="Shape 37"/>
          <p:cNvSpPr/>
          <p:nvPr/>
        </p:nvSpPr>
        <p:spPr>
          <a:xfrm>
            <a:off x="9453677" y="1947672"/>
            <a:ext cx="548640" cy="548640"/>
          </a:xfrm>
          <a:prstGeom prst="ellipse">
            <a:avLst/>
          </a:prstGeom>
          <a:solidFill>
            <a:srgbClr val="FDE1E2"/>
          </a:solidFill>
          <a:ln w="12700">
            <a:solidFill>
              <a:srgbClr val="FDE1E2"/>
            </a:solidFill>
            <a:prstDash val="solid"/>
          </a:ln>
        </p:spPr>
      </p:sp>
      <p:pic>
        <p:nvPicPr>
          <p:cNvPr id="44" name="Image 3" descr="preencoded.png">    </p:cNvPr>
          <p:cNvPicPr>
            <a:picLocks noChangeAspect="1"/>
          </p:cNvPicPr>
          <p:nvPr/>
        </p:nvPicPr>
        <p:blipFill>
          <a:blip r:embed="rId4"/>
          <a:stretch>
            <a:fillRect/>
          </a:stretch>
        </p:blipFill>
        <p:spPr>
          <a:xfrm>
            <a:off x="9585350" y="2079346"/>
            <a:ext cx="285293" cy="285293"/>
          </a:xfrm>
          <a:prstGeom prst="rect">
            <a:avLst/>
          </a:prstGeom>
        </p:spPr>
      </p:pic>
      <p:sp>
        <p:nvSpPr>
          <p:cNvPr id="45" name="Text 38"/>
          <p:cNvSpPr/>
          <p:nvPr/>
        </p:nvSpPr>
        <p:spPr>
          <a:xfrm>
            <a:off x="9453677" y="2606040"/>
            <a:ext cx="2024786" cy="329184"/>
          </a:xfrm>
          <a:prstGeom prst="rect">
            <a:avLst/>
          </a:prstGeom>
          <a:noFill/>
          <a:ln/>
        </p:spPr>
        <p:txBody>
          <a:bodyPr wrap="square" lIns="0" tIns="0" rIns="0" bIns="0" rtlCol="0" anchor="ctr"/>
          <a:lstStyle/>
          <a:p>
            <a:pPr indent="0" marL="0">
              <a:buNone/>
            </a:pPr>
            <a:r>
              <a:rPr lang="en-US" sz="1350" b="1" dirty="0">
                <a:solidFill>
                  <a:srgbClr val="172C2A"/>
                </a:solidFill>
                <a:latin typeface="Trebuchet MS" pitchFamily="34" charset="0"/>
                <a:ea typeface="Trebuchet MS" pitchFamily="34" charset="-122"/>
                <a:cs typeface="Trebuchet MS" pitchFamily="34" charset="-120"/>
              </a:rPr>
              <a:t>3 · Tercatat sendiri</a:t>
            </a:r>
            <a:endParaRPr lang="en-US" sz="1350" dirty="0"/>
          </a:p>
        </p:txBody>
      </p:sp>
      <p:sp>
        <p:nvSpPr>
          <p:cNvPr id="46" name="Text 39"/>
          <p:cNvSpPr/>
          <p:nvPr/>
        </p:nvSpPr>
        <p:spPr>
          <a:xfrm>
            <a:off x="9453677" y="2953512"/>
            <a:ext cx="2024786" cy="1005840"/>
          </a:xfrm>
          <a:prstGeom prst="rect">
            <a:avLst/>
          </a:prstGeom>
          <a:noFill/>
          <a:ln/>
        </p:spPr>
        <p:txBody>
          <a:bodyPr wrap="square" lIns="0" tIns="0" rIns="0" bIns="0" rtlCol="0" anchor="t"/>
          <a:lstStyle/>
          <a:p>
            <a:pPr indent="0" marL="0">
              <a:buNone/>
            </a:pPr>
            <a:r>
              <a:rPr lang="en-US" sz="1150" dirty="0">
                <a:solidFill>
                  <a:srgbClr val="172C2A"/>
                </a:solidFill>
                <a:latin typeface="Calibri" pitchFamily="34" charset="0"/>
                <a:ea typeface="Calibri" pitchFamily="34" charset="-122"/>
                <a:cs typeface="Calibri" pitchFamily="34" charset="-120"/>
              </a:rPr>
              <a:t>Penghitung terisi dari ketukan. Tidak ada jurnal atau formulir untuk orang tua.</a:t>
            </a:r>
            <a:endParaRPr lang="en-US" sz="1150" dirty="0"/>
          </a:p>
        </p:txBody>
      </p:sp>
      <p:sp>
        <p:nvSpPr>
          <p:cNvPr id="47" name="Text 40"/>
          <p:cNvSpPr/>
          <p:nvPr/>
        </p:nvSpPr>
        <p:spPr>
          <a:xfrm>
            <a:off x="4069080" y="4187952"/>
            <a:ext cx="7573975" cy="777240"/>
          </a:xfrm>
          <a:prstGeom prst="roundRect">
            <a:avLst>
              <a:gd name="adj" fmla="val 11765"/>
            </a:avLst>
          </a:prstGeom>
          <a:solidFill>
            <a:srgbClr val="098277"/>
          </a:solidFill>
          <a:ln>
            <a:solidFill>
              <a:srgbClr val="098277"/>
            </a:solidFill>
          </a:ln>
        </p:spPr>
        <p:txBody>
          <a:bodyPr wrap="square" lIns="127000" tIns="127000" rIns="127000" bIns="12700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Tanpa streak · tanpa rasa bersalah · tanpa formulir.  </a:t>
            </a:r>
            <a:pPr indent="0" marL="0">
              <a:buNone/>
            </a:pPr>
            <a:r>
              <a:rPr lang="en-US" sz="1150" dirty="0">
                <a:solidFill>
                  <a:srgbClr val="DFF6F3"/>
                </a:solidFill>
                <a:latin typeface="Calibri" pitchFamily="34" charset="0"/>
                <a:ea typeface="Calibri" pitchFamily="34" charset="-122"/>
                <a:cs typeface="Calibri" pitchFamily="34" charset="-120"/>
              </a:rPr>
              <a:t>"Selesai" dan "Belum sempat hari ini" setara, karena orang tua anak minimally verbal melaporkan stres pengasuhan lebih tinggi (Guerrera 2025).</a:t>
            </a:r>
            <a:endParaRPr lang="en-US" sz="1150" dirty="0"/>
          </a:p>
        </p:txBody>
      </p:sp>
      <p:sp>
        <p:nvSpPr>
          <p:cNvPr id="48" name="Shape 41"/>
          <p:cNvSpPr/>
          <p:nvPr/>
        </p:nvSpPr>
        <p:spPr>
          <a:xfrm>
            <a:off x="4069080" y="5102352"/>
            <a:ext cx="7573975" cy="841248"/>
          </a:xfrm>
          <a:prstGeom prst="roundRect">
            <a:avLst>
              <a:gd name="adj" fmla="val 13043"/>
            </a:avLst>
          </a:prstGeom>
          <a:solidFill>
            <a:srgbClr val="FFFFFF"/>
          </a:solidFill>
          <a:ln w="9525">
            <a:solidFill>
              <a:srgbClr val="DCEEEC"/>
            </a:solidFill>
            <a:prstDash val="solid"/>
          </a:ln>
        </p:spPr>
      </p:sp>
      <p:sp>
        <p:nvSpPr>
          <p:cNvPr id="49" name="Text 42"/>
          <p:cNvSpPr/>
          <p:nvPr/>
        </p:nvSpPr>
        <p:spPr>
          <a:xfrm>
            <a:off x="4270248" y="5138928"/>
            <a:ext cx="7208215" cy="768096"/>
          </a:xfrm>
          <a:prstGeom prst="rect">
            <a:avLst/>
          </a:prstGeom>
          <a:noFill/>
          <a:ln/>
        </p:spPr>
        <p:txBody>
          <a:bodyPr wrap="square" lIns="0" tIns="0" rIns="0" bIns="0" rtlCol="0" anchor="ctr"/>
          <a:lstStyle/>
          <a:p>
            <a:pPr indent="0" marL="0">
              <a:buNone/>
            </a:pPr>
            <a:r>
              <a:rPr lang="en-US" sz="1150" b="1" dirty="0">
                <a:solidFill>
                  <a:srgbClr val="026E65"/>
                </a:solidFill>
                <a:latin typeface="Calibri" pitchFamily="34" charset="0"/>
                <a:ea typeface="Calibri" pitchFamily="34" charset="-122"/>
                <a:cs typeface="Calibri" pitchFamily="34" charset="-120"/>
              </a:rPr>
              <a:t>Beban orang tua: </a:t>
            </a:r>
            <a:pPr indent="0" marL="0">
              <a:buNone/>
            </a:pPr>
            <a:r>
              <a:rPr lang="en-US" sz="1150" dirty="0">
                <a:solidFill>
                  <a:srgbClr val="172C2A"/>
                </a:solidFill>
                <a:latin typeface="Calibri" pitchFamily="34" charset="0"/>
                <a:ea typeface="Calibri" pitchFamily="34" charset="-122"/>
                <a:cs typeface="Calibri" pitchFamily="34" charset="-120"/>
              </a:rPr>
              <a:t>1 pelajaran + 1 misi, kurang dari 5 menit sehari. </a:t>
            </a:r>
            <a:pPr indent="0" marL="0">
              <a:buNone/>
            </a:pPr>
            <a:r>
              <a:rPr lang="en-US" sz="1150" b="1" dirty="0">
                <a:solidFill>
                  <a:srgbClr val="026E65"/>
                </a:solidFill>
                <a:latin typeface="Calibri" pitchFamily="34" charset="0"/>
                <a:ea typeface="Calibri" pitchFamily="34" charset="-122"/>
                <a:cs typeface="Calibri" pitchFamily="34" charset="-120"/>
              </a:rPr>
              <a:t>Anak: </a:t>
            </a:r>
            <a:pPr indent="0" marL="0">
              <a:buNone/>
            </a:pPr>
            <a:r>
              <a:rPr lang="en-US" sz="1150" dirty="0">
                <a:solidFill>
                  <a:srgbClr val="172C2A"/>
                </a:solidFill>
                <a:latin typeface="Calibri" pitchFamily="34" charset="0"/>
                <a:ea typeface="Calibri" pitchFamily="34" charset="-122"/>
                <a:cs typeface="Calibri" pitchFamily="34" charset="-120"/>
              </a:rPr>
              <a:t>tidak dituntut menekan; kalau ia menekan sendiri, itu bonus dan ikut tercatat.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KENAPA MISINYA DIRANCANG BEGINI</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Setiap elemen misi harian berpijak pada riset, dan yang belum teruji kami tandai</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7</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Steinbrenner dkk. (2020), NCAEP: 972 artikel, 28 praktik berbasis bukti · Wetherby dkk. (2014), Pediatrics · Biggs, Carter &amp; Gilson (2018), AJIDD · O'Neill dkk. (2018) · Gollwitzer &amp; Sheeran (2006) · Lally dkk. (2010), EJSP · Keller dkk. (2021), BJHP.</a:t>
            </a:r>
            <a:endParaRPr lang="en-US" sz="850" dirty="0"/>
          </a:p>
        </p:txBody>
      </p:sp>
      <p:sp>
        <p:nvSpPr>
          <p:cNvPr id="12" name="Shape 8"/>
          <p:cNvSpPr/>
          <p:nvPr/>
        </p:nvSpPr>
        <p:spPr>
          <a:xfrm>
            <a:off x="548640" y="1755648"/>
            <a:ext cx="11094415" cy="566928"/>
          </a:xfrm>
          <a:prstGeom prst="roundRect">
            <a:avLst>
              <a:gd name="adj" fmla="val 19355"/>
            </a:avLst>
          </a:prstGeom>
          <a:solidFill>
            <a:srgbClr val="FFFFFF"/>
          </a:solidFill>
          <a:ln w="9525">
            <a:solidFill>
              <a:srgbClr val="DCEEEC"/>
            </a:solidFill>
            <a:prstDash val="solid"/>
          </a:ln>
        </p:spPr>
      </p:sp>
      <p:sp>
        <p:nvSpPr>
          <p:cNvPr id="13" name="Shape 9"/>
          <p:cNvSpPr/>
          <p:nvPr/>
        </p:nvSpPr>
        <p:spPr>
          <a:xfrm>
            <a:off x="685800" y="1828800"/>
            <a:ext cx="420624" cy="420624"/>
          </a:xfrm>
          <a:prstGeom prst="ellipse">
            <a:avLst/>
          </a:prstGeom>
          <a:solidFill>
            <a:srgbClr val="DFF6F3"/>
          </a:solidFill>
          <a:ln w="12700">
            <a:solidFill>
              <a:srgbClr val="DFF6F3"/>
            </a:solidFill>
            <a:prstDash val="solid"/>
          </a:ln>
        </p:spPr>
      </p:sp>
      <p:pic>
        <p:nvPicPr>
          <p:cNvPr id="14" name="Image 1" descr="preencoded.png">    </p:cNvPr>
          <p:cNvPicPr>
            <a:picLocks noChangeAspect="1"/>
          </p:cNvPicPr>
          <p:nvPr/>
        </p:nvPicPr>
        <p:blipFill>
          <a:blip r:embed="rId2"/>
          <a:stretch>
            <a:fillRect/>
          </a:stretch>
        </p:blipFill>
        <p:spPr>
          <a:xfrm>
            <a:off x="786750" y="1929750"/>
            <a:ext cx="218724" cy="218724"/>
          </a:xfrm>
          <a:prstGeom prst="rect">
            <a:avLst/>
          </a:prstGeom>
        </p:spPr>
      </p:pic>
      <p:sp>
        <p:nvSpPr>
          <p:cNvPr id="15" name="Text 10"/>
          <p:cNvSpPr/>
          <p:nvPr/>
        </p:nvSpPr>
        <p:spPr>
          <a:xfrm>
            <a:off x="1234440" y="1755648"/>
            <a:ext cx="2606040" cy="566928"/>
          </a:xfrm>
          <a:prstGeom prst="rect">
            <a:avLst/>
          </a:prstGeom>
          <a:noFill/>
          <a:ln/>
        </p:spPr>
        <p:txBody>
          <a:bodyPr wrap="square" lIns="0" tIns="0" rIns="0" bIns="0" rtlCol="0" anchor="ctr"/>
          <a:lstStyle/>
          <a:p>
            <a:pPr indent="0" marL="0">
              <a:buNone/>
            </a:pPr>
            <a:r>
              <a:rPr lang="en-US" sz="1300" b="1" dirty="0">
                <a:solidFill>
                  <a:srgbClr val="172C2A"/>
                </a:solidFill>
                <a:latin typeface="Trebuchet MS" pitchFamily="34" charset="0"/>
                <a:ea typeface="Trebuchet MS" pitchFamily="34" charset="-122"/>
                <a:cs typeface="Trebuchet MS" pitchFamily="34" charset="-120"/>
              </a:rPr>
              <a:t>Orang tua yang menjalankan</a:t>
            </a:r>
            <a:endParaRPr lang="en-US" sz="1300" dirty="0"/>
          </a:p>
        </p:txBody>
      </p:sp>
      <p:sp>
        <p:nvSpPr>
          <p:cNvPr id="16" name="Text 11"/>
          <p:cNvSpPr/>
          <p:nvPr/>
        </p:nvSpPr>
        <p:spPr>
          <a:xfrm>
            <a:off x="3886200" y="1755648"/>
            <a:ext cx="6751015" cy="566928"/>
          </a:xfrm>
          <a:prstGeom prst="rect">
            <a:avLst/>
          </a:prstGeom>
          <a:noFill/>
          <a:ln/>
        </p:spPr>
        <p:txBody>
          <a:bodyPr wrap="square" lIns="0" tIns="0" rIns="0" bIns="0" rtlCol="0" anchor="ctr"/>
          <a:lstStyle/>
          <a:p>
            <a:pPr indent="0" marL="0">
              <a:buNone/>
            </a:pPr>
            <a:r>
              <a:rPr lang="en-US" sz="1100" dirty="0">
                <a:solidFill>
                  <a:srgbClr val="172C2A"/>
                </a:solidFill>
                <a:latin typeface="Calibri" pitchFamily="34" charset="0"/>
                <a:ea typeface="Calibri" pitchFamily="34" charset="-122"/>
                <a:cs typeface="Calibri" pitchFamily="34" charset="-120"/>
              </a:rPr>
              <a:t>Parent-Implemented Intervention: praktik berbasis bukti, 55 artikel (NCAEP 2020). RCT 82 balita: pelatihan orang tua di kegiatan sehari-hari meningkatkan komunikasi sosial (Wetherby 2014).</a:t>
            </a:r>
            <a:endParaRPr lang="en-US" sz="1100" dirty="0"/>
          </a:p>
        </p:txBody>
      </p:sp>
      <p:sp>
        <p:nvSpPr>
          <p:cNvPr id="17" name="Text 12"/>
          <p:cNvSpPr/>
          <p:nvPr/>
        </p:nvSpPr>
        <p:spPr>
          <a:xfrm>
            <a:off x="10774375" y="1883664"/>
            <a:ext cx="685800" cy="310896"/>
          </a:xfrm>
          <a:prstGeom prst="roundRect">
            <a:avLst>
              <a:gd name="adj" fmla="val 50000"/>
            </a:avLst>
          </a:prstGeom>
          <a:solidFill>
            <a:srgbClr val="098277"/>
          </a:solidFill>
          <a:ln>
            <a:solidFill>
              <a:srgbClr val="098277"/>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8" name="Shape 13"/>
          <p:cNvSpPr/>
          <p:nvPr/>
        </p:nvSpPr>
        <p:spPr>
          <a:xfrm>
            <a:off x="548640" y="2395728"/>
            <a:ext cx="11094415" cy="566928"/>
          </a:xfrm>
          <a:prstGeom prst="roundRect">
            <a:avLst>
              <a:gd name="adj" fmla="val 19355"/>
            </a:avLst>
          </a:prstGeom>
          <a:solidFill>
            <a:srgbClr val="FFFFFF"/>
          </a:solidFill>
          <a:ln w="9525">
            <a:solidFill>
              <a:srgbClr val="DCEEEC"/>
            </a:solidFill>
            <a:prstDash val="solid"/>
          </a:ln>
        </p:spPr>
      </p:sp>
      <p:sp>
        <p:nvSpPr>
          <p:cNvPr id="19" name="Shape 14"/>
          <p:cNvSpPr/>
          <p:nvPr/>
        </p:nvSpPr>
        <p:spPr>
          <a:xfrm>
            <a:off x="685800" y="2468880"/>
            <a:ext cx="420624" cy="420624"/>
          </a:xfrm>
          <a:prstGeom prst="ellipse">
            <a:avLst/>
          </a:prstGeom>
          <a:solidFill>
            <a:srgbClr val="DFF6F3"/>
          </a:solidFill>
          <a:ln w="12700">
            <a:solidFill>
              <a:srgbClr val="DFF6F3"/>
            </a:solidFill>
            <a:prstDash val="solid"/>
          </a:ln>
        </p:spPr>
      </p:sp>
      <p:pic>
        <p:nvPicPr>
          <p:cNvPr id="20" name="Image 2" descr="preencoded.png">    </p:cNvPr>
          <p:cNvPicPr>
            <a:picLocks noChangeAspect="1"/>
          </p:cNvPicPr>
          <p:nvPr/>
        </p:nvPicPr>
        <p:blipFill>
          <a:blip r:embed="rId3"/>
          <a:stretch>
            <a:fillRect/>
          </a:stretch>
        </p:blipFill>
        <p:spPr>
          <a:xfrm>
            <a:off x="786750" y="2569830"/>
            <a:ext cx="218724" cy="218724"/>
          </a:xfrm>
          <a:prstGeom prst="rect">
            <a:avLst/>
          </a:prstGeom>
        </p:spPr>
      </p:pic>
      <p:sp>
        <p:nvSpPr>
          <p:cNvPr id="21" name="Text 15"/>
          <p:cNvSpPr/>
          <p:nvPr/>
        </p:nvSpPr>
        <p:spPr>
          <a:xfrm>
            <a:off x="1234440" y="2395728"/>
            <a:ext cx="2606040" cy="566928"/>
          </a:xfrm>
          <a:prstGeom prst="rect">
            <a:avLst/>
          </a:prstGeom>
          <a:noFill/>
          <a:ln/>
        </p:spPr>
        <p:txBody>
          <a:bodyPr wrap="square" lIns="0" tIns="0" rIns="0" bIns="0" rtlCol="0" anchor="ctr"/>
          <a:lstStyle/>
          <a:p>
            <a:pPr indent="0" marL="0">
              <a:buNone/>
            </a:pPr>
            <a:r>
              <a:rPr lang="en-US" sz="1300" b="1" dirty="0">
                <a:solidFill>
                  <a:srgbClr val="172C2A"/>
                </a:solidFill>
                <a:latin typeface="Trebuchet MS" pitchFamily="34" charset="0"/>
                <a:ea typeface="Trebuchet MS" pitchFamily="34" charset="-122"/>
                <a:cs typeface="Trebuchet MS" pitchFamily="34" charset="-120"/>
              </a:rPr>
              <a:t>Tekan sambil bicara</a:t>
            </a:r>
            <a:endParaRPr lang="en-US" sz="1300" dirty="0"/>
          </a:p>
        </p:txBody>
      </p:sp>
      <p:sp>
        <p:nvSpPr>
          <p:cNvPr id="22" name="Text 16"/>
          <p:cNvSpPr/>
          <p:nvPr/>
        </p:nvSpPr>
        <p:spPr>
          <a:xfrm>
            <a:off x="3886200" y="2395728"/>
            <a:ext cx="6751015" cy="566928"/>
          </a:xfrm>
          <a:prstGeom prst="rect">
            <a:avLst/>
          </a:prstGeom>
          <a:noFill/>
          <a:ln/>
        </p:spPr>
        <p:txBody>
          <a:bodyPr wrap="square" lIns="0" tIns="0" rIns="0" bIns="0" rtlCol="0" anchor="ctr"/>
          <a:lstStyle/>
          <a:p>
            <a:pPr indent="0" marL="0">
              <a:buNone/>
            </a:pPr>
            <a:r>
              <a:rPr lang="en-US" sz="1100" dirty="0">
                <a:solidFill>
                  <a:srgbClr val="172C2A"/>
                </a:solidFill>
                <a:latin typeface="Calibri" pitchFamily="34" charset="0"/>
                <a:ea typeface="Calibri" pitchFamily="34" charset="-122"/>
                <a:cs typeface="Calibri" pitchFamily="34" charset="-120"/>
              </a:rPr>
              <a:t>Aided AAC modeling umumnya efektif: tinjauan 48 studi, 267 anak (Biggs 2018); meta-analisis O'Neill 2018.</a:t>
            </a:r>
            <a:endParaRPr lang="en-US" sz="1100" dirty="0"/>
          </a:p>
        </p:txBody>
      </p:sp>
      <p:sp>
        <p:nvSpPr>
          <p:cNvPr id="23" name="Text 17"/>
          <p:cNvSpPr/>
          <p:nvPr/>
        </p:nvSpPr>
        <p:spPr>
          <a:xfrm>
            <a:off x="10774375" y="2523744"/>
            <a:ext cx="685800" cy="310896"/>
          </a:xfrm>
          <a:prstGeom prst="roundRect">
            <a:avLst>
              <a:gd name="adj" fmla="val 50000"/>
            </a:avLst>
          </a:prstGeom>
          <a:solidFill>
            <a:srgbClr val="098277"/>
          </a:solidFill>
          <a:ln>
            <a:solidFill>
              <a:srgbClr val="098277"/>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4" name="Shape 18"/>
          <p:cNvSpPr/>
          <p:nvPr/>
        </p:nvSpPr>
        <p:spPr>
          <a:xfrm>
            <a:off x="548640" y="3035808"/>
            <a:ext cx="11094415" cy="566928"/>
          </a:xfrm>
          <a:prstGeom prst="roundRect">
            <a:avLst>
              <a:gd name="adj" fmla="val 19355"/>
            </a:avLst>
          </a:prstGeom>
          <a:solidFill>
            <a:srgbClr val="FFFFFF"/>
          </a:solidFill>
          <a:ln w="9525">
            <a:solidFill>
              <a:srgbClr val="DCEEEC"/>
            </a:solidFill>
            <a:prstDash val="solid"/>
          </a:ln>
        </p:spPr>
      </p:sp>
      <p:sp>
        <p:nvSpPr>
          <p:cNvPr id="25" name="Shape 19"/>
          <p:cNvSpPr/>
          <p:nvPr/>
        </p:nvSpPr>
        <p:spPr>
          <a:xfrm>
            <a:off x="685800" y="3108960"/>
            <a:ext cx="420624" cy="420624"/>
          </a:xfrm>
          <a:prstGeom prst="ellipse">
            <a:avLst/>
          </a:prstGeom>
          <a:solidFill>
            <a:srgbClr val="DFF6F3"/>
          </a:solidFill>
          <a:ln w="12700">
            <a:solidFill>
              <a:srgbClr val="DFF6F3"/>
            </a:solidFill>
            <a:prstDash val="solid"/>
          </a:ln>
        </p:spPr>
      </p:sp>
      <p:pic>
        <p:nvPicPr>
          <p:cNvPr id="26" name="Image 3" descr="preencoded.png">    </p:cNvPr>
          <p:cNvPicPr>
            <a:picLocks noChangeAspect="1"/>
          </p:cNvPicPr>
          <p:nvPr/>
        </p:nvPicPr>
        <p:blipFill>
          <a:blip r:embed="rId4"/>
          <a:stretch>
            <a:fillRect/>
          </a:stretch>
        </p:blipFill>
        <p:spPr>
          <a:xfrm>
            <a:off x="786750" y="3209910"/>
            <a:ext cx="218724" cy="218724"/>
          </a:xfrm>
          <a:prstGeom prst="rect">
            <a:avLst/>
          </a:prstGeom>
        </p:spPr>
      </p:pic>
      <p:sp>
        <p:nvSpPr>
          <p:cNvPr id="27" name="Text 20"/>
          <p:cNvSpPr/>
          <p:nvPr/>
        </p:nvSpPr>
        <p:spPr>
          <a:xfrm>
            <a:off x="1234440" y="3035808"/>
            <a:ext cx="2606040" cy="566928"/>
          </a:xfrm>
          <a:prstGeom prst="rect">
            <a:avLst/>
          </a:prstGeom>
          <a:noFill/>
          <a:ln/>
        </p:spPr>
        <p:txBody>
          <a:bodyPr wrap="square" lIns="0" tIns="0" rIns="0" bIns="0" rtlCol="0" anchor="ctr"/>
          <a:lstStyle/>
          <a:p>
            <a:pPr indent="0" marL="0">
              <a:buNone/>
            </a:pPr>
            <a:r>
              <a:rPr lang="en-US" sz="1300" b="1" dirty="0">
                <a:solidFill>
                  <a:srgbClr val="172C2A"/>
                </a:solidFill>
                <a:latin typeface="Trebuchet MS" pitchFamily="34" charset="0"/>
                <a:ea typeface="Trebuchet MS" pitchFamily="34" charset="-122"/>
                <a:cs typeface="Trebuchet MS" pitchFamily="34" charset="-120"/>
              </a:rPr>
              <a:t>Menempel pada rutinitas</a:t>
            </a:r>
            <a:endParaRPr lang="en-US" sz="1300" dirty="0"/>
          </a:p>
        </p:txBody>
      </p:sp>
      <p:sp>
        <p:nvSpPr>
          <p:cNvPr id="28" name="Text 21"/>
          <p:cNvSpPr/>
          <p:nvPr/>
        </p:nvSpPr>
        <p:spPr>
          <a:xfrm>
            <a:off x="3886200" y="3035808"/>
            <a:ext cx="6751015" cy="566928"/>
          </a:xfrm>
          <a:prstGeom prst="rect">
            <a:avLst/>
          </a:prstGeom>
          <a:noFill/>
          <a:ln/>
        </p:spPr>
        <p:txBody>
          <a:bodyPr wrap="square" lIns="0" tIns="0" rIns="0" bIns="0" rtlCol="0" anchor="ctr"/>
          <a:lstStyle/>
          <a:p>
            <a:pPr indent="0" marL="0">
              <a:buNone/>
            </a:pPr>
            <a:r>
              <a:rPr lang="en-US" sz="1100" dirty="0">
                <a:solidFill>
                  <a:srgbClr val="172C2A"/>
                </a:solidFill>
                <a:latin typeface="Calibri" pitchFamily="34" charset="0"/>
                <a:ea typeface="Calibri" pitchFamily="34" charset="-122"/>
                <a:cs typeface="Calibri" pitchFamily="34" charset="-120"/>
              </a:rPr>
              <a:t>Naturalistic Intervention: praktik berbasis bukti, 75 artikel (NCAEP 2020). Rencana "jika–maka": d = 0,65 dari 94 studi (Gollwitzer &amp; Sheeran 2006).</a:t>
            </a:r>
            <a:endParaRPr lang="en-US" sz="1100" dirty="0"/>
          </a:p>
        </p:txBody>
      </p:sp>
      <p:sp>
        <p:nvSpPr>
          <p:cNvPr id="29" name="Text 22"/>
          <p:cNvSpPr/>
          <p:nvPr/>
        </p:nvSpPr>
        <p:spPr>
          <a:xfrm>
            <a:off x="10774375" y="3163824"/>
            <a:ext cx="685800" cy="310896"/>
          </a:xfrm>
          <a:prstGeom prst="roundRect">
            <a:avLst>
              <a:gd name="adj" fmla="val 50000"/>
            </a:avLst>
          </a:prstGeom>
          <a:solidFill>
            <a:srgbClr val="098277"/>
          </a:solidFill>
          <a:ln>
            <a:solidFill>
              <a:srgbClr val="098277"/>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0" name="Shape 23"/>
          <p:cNvSpPr/>
          <p:nvPr/>
        </p:nvSpPr>
        <p:spPr>
          <a:xfrm>
            <a:off x="548640" y="3675888"/>
            <a:ext cx="11094415" cy="566928"/>
          </a:xfrm>
          <a:prstGeom prst="roundRect">
            <a:avLst>
              <a:gd name="adj" fmla="val 19355"/>
            </a:avLst>
          </a:prstGeom>
          <a:solidFill>
            <a:srgbClr val="FFFFFF"/>
          </a:solidFill>
          <a:ln w="9525">
            <a:solidFill>
              <a:srgbClr val="DCEEEC"/>
            </a:solidFill>
            <a:prstDash val="solid"/>
          </a:ln>
        </p:spPr>
      </p:sp>
      <p:sp>
        <p:nvSpPr>
          <p:cNvPr id="31" name="Shape 24"/>
          <p:cNvSpPr/>
          <p:nvPr/>
        </p:nvSpPr>
        <p:spPr>
          <a:xfrm>
            <a:off x="685800" y="3749040"/>
            <a:ext cx="420624" cy="420624"/>
          </a:xfrm>
          <a:prstGeom prst="ellipse">
            <a:avLst/>
          </a:prstGeom>
          <a:solidFill>
            <a:srgbClr val="DFF6F3"/>
          </a:solidFill>
          <a:ln w="12700">
            <a:solidFill>
              <a:srgbClr val="DFF6F3"/>
            </a:solidFill>
            <a:prstDash val="solid"/>
          </a:ln>
        </p:spPr>
      </p:sp>
      <p:pic>
        <p:nvPicPr>
          <p:cNvPr id="32" name="Image 4" descr="preencoded.png">    </p:cNvPr>
          <p:cNvPicPr>
            <a:picLocks noChangeAspect="1"/>
          </p:cNvPicPr>
          <p:nvPr/>
        </p:nvPicPr>
        <p:blipFill>
          <a:blip r:embed="rId5"/>
          <a:stretch>
            <a:fillRect/>
          </a:stretch>
        </p:blipFill>
        <p:spPr>
          <a:xfrm>
            <a:off x="786750" y="3849990"/>
            <a:ext cx="218724" cy="218724"/>
          </a:xfrm>
          <a:prstGeom prst="rect">
            <a:avLst/>
          </a:prstGeom>
        </p:spPr>
      </p:pic>
      <p:sp>
        <p:nvSpPr>
          <p:cNvPr id="33" name="Text 25"/>
          <p:cNvSpPr/>
          <p:nvPr/>
        </p:nvSpPr>
        <p:spPr>
          <a:xfrm>
            <a:off x="1234440" y="3675888"/>
            <a:ext cx="2606040" cy="566928"/>
          </a:xfrm>
          <a:prstGeom prst="rect">
            <a:avLst/>
          </a:prstGeom>
          <a:noFill/>
          <a:ln/>
        </p:spPr>
        <p:txBody>
          <a:bodyPr wrap="square" lIns="0" tIns="0" rIns="0" bIns="0" rtlCol="0" anchor="ctr"/>
          <a:lstStyle/>
          <a:p>
            <a:pPr indent="0" marL="0">
              <a:buNone/>
            </a:pPr>
            <a:r>
              <a:rPr lang="en-US" sz="1300" b="1" dirty="0">
                <a:solidFill>
                  <a:srgbClr val="172C2A"/>
                </a:solidFill>
                <a:latin typeface="Trebuchet MS" pitchFamily="34" charset="0"/>
                <a:ea typeface="Trebuchet MS" pitchFamily="34" charset="-122"/>
                <a:cs typeface="Trebuchet MS" pitchFamily="34" charset="-120"/>
              </a:rPr>
              <a:t>Tunggu lima detik</a:t>
            </a:r>
            <a:endParaRPr lang="en-US" sz="1300" dirty="0"/>
          </a:p>
        </p:txBody>
      </p:sp>
      <p:sp>
        <p:nvSpPr>
          <p:cNvPr id="34" name="Text 26"/>
          <p:cNvSpPr/>
          <p:nvPr/>
        </p:nvSpPr>
        <p:spPr>
          <a:xfrm>
            <a:off x="3886200" y="3675888"/>
            <a:ext cx="6751015" cy="566928"/>
          </a:xfrm>
          <a:prstGeom prst="rect">
            <a:avLst/>
          </a:prstGeom>
          <a:noFill/>
          <a:ln/>
        </p:spPr>
        <p:txBody>
          <a:bodyPr wrap="square" lIns="0" tIns="0" rIns="0" bIns="0" rtlCol="0" anchor="ctr"/>
          <a:lstStyle/>
          <a:p>
            <a:pPr indent="0" marL="0">
              <a:buNone/>
            </a:pPr>
            <a:r>
              <a:rPr lang="en-US" sz="1100" dirty="0">
                <a:solidFill>
                  <a:srgbClr val="172C2A"/>
                </a:solidFill>
                <a:latin typeface="Calibri" pitchFamily="34" charset="0"/>
                <a:ea typeface="Calibri" pitchFamily="34" charset="-122"/>
                <a:cs typeface="Calibri" pitchFamily="34" charset="-120"/>
              </a:rPr>
              <a:t>Time Delay: praktik berbasis bukti, 31 artikel (NCAEP 2020). Angka "lima detik" adalah angka praktis.</a:t>
            </a:r>
            <a:endParaRPr lang="en-US" sz="1100" dirty="0"/>
          </a:p>
        </p:txBody>
      </p:sp>
      <p:sp>
        <p:nvSpPr>
          <p:cNvPr id="35" name="Text 27"/>
          <p:cNvSpPr/>
          <p:nvPr/>
        </p:nvSpPr>
        <p:spPr>
          <a:xfrm>
            <a:off x="10774375" y="3803904"/>
            <a:ext cx="685800" cy="310896"/>
          </a:xfrm>
          <a:prstGeom prst="roundRect">
            <a:avLst>
              <a:gd name="adj" fmla="val 50000"/>
            </a:avLst>
          </a:prstGeom>
          <a:solidFill>
            <a:srgbClr val="098277"/>
          </a:solidFill>
          <a:ln>
            <a:solidFill>
              <a:srgbClr val="098277"/>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6" name="Shape 28"/>
          <p:cNvSpPr/>
          <p:nvPr/>
        </p:nvSpPr>
        <p:spPr>
          <a:xfrm>
            <a:off x="548640" y="4315968"/>
            <a:ext cx="11094415" cy="566928"/>
          </a:xfrm>
          <a:prstGeom prst="roundRect">
            <a:avLst>
              <a:gd name="adj" fmla="val 19355"/>
            </a:avLst>
          </a:prstGeom>
          <a:solidFill>
            <a:srgbClr val="FFFFFF"/>
          </a:solidFill>
          <a:ln w="9525">
            <a:solidFill>
              <a:srgbClr val="DCEEEC"/>
            </a:solidFill>
            <a:prstDash val="solid"/>
          </a:ln>
        </p:spPr>
      </p:sp>
      <p:sp>
        <p:nvSpPr>
          <p:cNvPr id="37" name="Shape 29"/>
          <p:cNvSpPr/>
          <p:nvPr/>
        </p:nvSpPr>
        <p:spPr>
          <a:xfrm>
            <a:off x="685800" y="4389120"/>
            <a:ext cx="420624" cy="420624"/>
          </a:xfrm>
          <a:prstGeom prst="ellipse">
            <a:avLst/>
          </a:prstGeom>
          <a:solidFill>
            <a:srgbClr val="DFF6F3"/>
          </a:solidFill>
          <a:ln w="12700">
            <a:solidFill>
              <a:srgbClr val="DFF6F3"/>
            </a:solidFill>
            <a:prstDash val="solid"/>
          </a:ln>
        </p:spPr>
      </p:sp>
      <p:pic>
        <p:nvPicPr>
          <p:cNvPr id="38" name="Image 5" descr="preencoded.png">    </p:cNvPr>
          <p:cNvPicPr>
            <a:picLocks noChangeAspect="1"/>
          </p:cNvPicPr>
          <p:nvPr/>
        </p:nvPicPr>
        <p:blipFill>
          <a:blip r:embed="rId6"/>
          <a:stretch>
            <a:fillRect/>
          </a:stretch>
        </p:blipFill>
        <p:spPr>
          <a:xfrm>
            <a:off x="786750" y="4490070"/>
            <a:ext cx="218724" cy="218724"/>
          </a:xfrm>
          <a:prstGeom prst="rect">
            <a:avLst/>
          </a:prstGeom>
        </p:spPr>
      </p:pic>
      <p:sp>
        <p:nvSpPr>
          <p:cNvPr id="39" name="Text 30"/>
          <p:cNvSpPr/>
          <p:nvPr/>
        </p:nvSpPr>
        <p:spPr>
          <a:xfrm>
            <a:off x="1234440" y="4315968"/>
            <a:ext cx="2606040" cy="566928"/>
          </a:xfrm>
          <a:prstGeom prst="rect">
            <a:avLst/>
          </a:prstGeom>
          <a:noFill/>
          <a:ln/>
        </p:spPr>
        <p:txBody>
          <a:bodyPr wrap="square" lIns="0" tIns="0" rIns="0" bIns="0" rtlCol="0" anchor="ctr"/>
          <a:lstStyle/>
          <a:p>
            <a:pPr indent="0" marL="0">
              <a:buNone/>
            </a:pPr>
            <a:r>
              <a:rPr lang="en-US" sz="1300" b="1" dirty="0">
                <a:solidFill>
                  <a:srgbClr val="172C2A"/>
                </a:solidFill>
                <a:latin typeface="Trebuchet MS" pitchFamily="34" charset="0"/>
                <a:ea typeface="Trebuchet MS" pitchFamily="34" charset="-122"/>
                <a:cs typeface="Trebuchet MS" pitchFamily="34" charset="-120"/>
              </a:rPr>
              <a:t>Setiap hari, tanpa streak</a:t>
            </a:r>
            <a:endParaRPr lang="en-US" sz="1300" dirty="0"/>
          </a:p>
        </p:txBody>
      </p:sp>
      <p:sp>
        <p:nvSpPr>
          <p:cNvPr id="40" name="Text 31"/>
          <p:cNvSpPr/>
          <p:nvPr/>
        </p:nvSpPr>
        <p:spPr>
          <a:xfrm>
            <a:off x="3886200" y="4315968"/>
            <a:ext cx="6751015" cy="566928"/>
          </a:xfrm>
          <a:prstGeom prst="rect">
            <a:avLst/>
          </a:prstGeom>
          <a:noFill/>
          <a:ln/>
        </p:spPr>
        <p:txBody>
          <a:bodyPr wrap="square" lIns="0" tIns="0" rIns="0" bIns="0" rtlCol="0" anchor="ctr"/>
          <a:lstStyle/>
          <a:p>
            <a:pPr indent="0" marL="0">
              <a:buNone/>
            </a:pPr>
            <a:r>
              <a:rPr lang="en-US" sz="1100" dirty="0">
                <a:solidFill>
                  <a:srgbClr val="172C2A"/>
                </a:solidFill>
                <a:latin typeface="Calibri" pitchFamily="34" charset="0"/>
                <a:ea typeface="Calibri" pitchFamily="34" charset="-122"/>
                <a:cs typeface="Calibri" pitchFamily="34" charset="-120"/>
              </a:rPr>
              <a:t>Melewatkan satu hari tidak berpengaruh berarti pada pembentukan kebiasaan (Lally 2010, 96 orang). Pengulangan adalah prediktor utama (Keller 2021, RCT 192 orang).</a:t>
            </a:r>
            <a:endParaRPr lang="en-US" sz="1100" dirty="0"/>
          </a:p>
        </p:txBody>
      </p:sp>
      <p:sp>
        <p:nvSpPr>
          <p:cNvPr id="41" name="Text 32"/>
          <p:cNvSpPr/>
          <p:nvPr/>
        </p:nvSpPr>
        <p:spPr>
          <a:xfrm>
            <a:off x="10774375" y="4443984"/>
            <a:ext cx="685800" cy="310896"/>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1100" b="1" dirty="0">
                <a:solidFill>
                  <a:srgbClr val="026E65"/>
                </a:solidFill>
                <a:latin typeface="Calibri" pitchFamily="34" charset="0"/>
                <a:ea typeface="Calibri" pitchFamily="34" charset="-122"/>
                <a:cs typeface="Calibri" pitchFamily="34" charset="-120"/>
              </a:rPr>
              <a:t>A/B</a:t>
            </a:r>
            <a:endParaRPr lang="en-US" sz="1100" dirty="0"/>
          </a:p>
        </p:txBody>
      </p:sp>
      <p:sp>
        <p:nvSpPr>
          <p:cNvPr id="42" name="Shape 33"/>
          <p:cNvSpPr/>
          <p:nvPr/>
        </p:nvSpPr>
        <p:spPr>
          <a:xfrm>
            <a:off x="548640" y="4956048"/>
            <a:ext cx="11094415" cy="566928"/>
          </a:xfrm>
          <a:prstGeom prst="roundRect">
            <a:avLst>
              <a:gd name="adj" fmla="val 19355"/>
            </a:avLst>
          </a:prstGeom>
          <a:solidFill>
            <a:srgbClr val="FDF0D2"/>
          </a:solidFill>
          <a:ln w="9525">
            <a:solidFill>
              <a:srgbClr val="F5C862"/>
            </a:solidFill>
            <a:prstDash val="solid"/>
          </a:ln>
        </p:spPr>
      </p:sp>
      <p:sp>
        <p:nvSpPr>
          <p:cNvPr id="43" name="Shape 34"/>
          <p:cNvSpPr/>
          <p:nvPr/>
        </p:nvSpPr>
        <p:spPr>
          <a:xfrm>
            <a:off x="685800" y="5029200"/>
            <a:ext cx="420624" cy="420624"/>
          </a:xfrm>
          <a:prstGeom prst="ellipse">
            <a:avLst/>
          </a:prstGeom>
          <a:solidFill>
            <a:srgbClr val="FFFFFF"/>
          </a:solidFill>
          <a:ln w="12700">
            <a:solidFill>
              <a:srgbClr val="FFFFFF"/>
            </a:solidFill>
            <a:prstDash val="solid"/>
          </a:ln>
        </p:spPr>
      </p:sp>
      <p:pic>
        <p:nvPicPr>
          <p:cNvPr id="44" name="Image 6" descr="preencoded.png">    </p:cNvPr>
          <p:cNvPicPr>
            <a:picLocks noChangeAspect="1"/>
          </p:cNvPicPr>
          <p:nvPr/>
        </p:nvPicPr>
        <p:blipFill>
          <a:blip r:embed="rId7"/>
          <a:stretch>
            <a:fillRect/>
          </a:stretch>
        </p:blipFill>
        <p:spPr>
          <a:xfrm>
            <a:off x="786750" y="5130150"/>
            <a:ext cx="218724" cy="218724"/>
          </a:xfrm>
          <a:prstGeom prst="rect">
            <a:avLst/>
          </a:prstGeom>
        </p:spPr>
      </p:pic>
      <p:sp>
        <p:nvSpPr>
          <p:cNvPr id="45" name="Text 35"/>
          <p:cNvSpPr/>
          <p:nvPr/>
        </p:nvSpPr>
        <p:spPr>
          <a:xfrm>
            <a:off x="1234440" y="4956048"/>
            <a:ext cx="2606040" cy="566928"/>
          </a:xfrm>
          <a:prstGeom prst="rect">
            <a:avLst/>
          </a:prstGeom>
          <a:noFill/>
          <a:ln/>
        </p:spPr>
        <p:txBody>
          <a:bodyPr wrap="square" lIns="0" tIns="0" rIns="0" bIns="0" rtlCol="0" anchor="ctr"/>
          <a:lstStyle/>
          <a:p>
            <a:pPr indent="0" marL="0">
              <a:buNone/>
            </a:pPr>
            <a:r>
              <a:rPr lang="en-US" sz="1300" b="1" dirty="0">
                <a:solidFill>
                  <a:srgbClr val="172C2A"/>
                </a:solidFill>
                <a:latin typeface="Trebuchet MS" pitchFamily="34" charset="0"/>
                <a:ea typeface="Trebuchet MS" pitchFamily="34" charset="-122"/>
                <a:cs typeface="Trebuchet MS" pitchFamily="34" charset="-120"/>
              </a:rPr>
              <a:t>Pelajaran 60 dtk, 5 contoh/hari</a:t>
            </a:r>
            <a:endParaRPr lang="en-US" sz="1300" dirty="0"/>
          </a:p>
        </p:txBody>
      </p:sp>
      <p:sp>
        <p:nvSpPr>
          <p:cNvPr id="46" name="Text 36"/>
          <p:cNvSpPr/>
          <p:nvPr/>
        </p:nvSpPr>
        <p:spPr>
          <a:xfrm>
            <a:off x="3886200" y="4956048"/>
            <a:ext cx="6751015" cy="566928"/>
          </a:xfrm>
          <a:prstGeom prst="rect">
            <a:avLst/>
          </a:prstGeom>
          <a:noFill/>
          <a:ln/>
        </p:spPr>
        <p:txBody>
          <a:bodyPr wrap="square" lIns="0" tIns="0" rIns="0" bIns="0" rtlCol="0" anchor="ctr"/>
          <a:lstStyle/>
          <a:p>
            <a:pPr indent="0" marL="0">
              <a:buNone/>
            </a:pPr>
            <a:r>
              <a:rPr lang="en-US" sz="1100" dirty="0">
                <a:solidFill>
                  <a:srgbClr val="172C2A"/>
                </a:solidFill>
                <a:latin typeface="Calibri" pitchFamily="34" charset="0"/>
                <a:ea typeface="Calibri" pitchFamily="34" charset="-122"/>
                <a:cs typeface="Calibri" pitchFamily="34" charset="-120"/>
              </a:rPr>
              <a:t>Belum ada bukti langsung. Diuji di pilot.</a:t>
            </a:r>
            <a:endParaRPr lang="en-US" sz="1100" dirty="0"/>
          </a:p>
        </p:txBody>
      </p:sp>
      <p:sp>
        <p:nvSpPr>
          <p:cNvPr id="47" name="Text 37"/>
          <p:cNvSpPr/>
          <p:nvPr/>
        </p:nvSpPr>
        <p:spPr>
          <a:xfrm>
            <a:off x="10774375" y="5084064"/>
            <a:ext cx="685800" cy="310896"/>
          </a:xfrm>
          <a:prstGeom prst="roundRect">
            <a:avLst>
              <a:gd name="adj" fmla="val 50000"/>
            </a:avLst>
          </a:prstGeom>
          <a:solidFill>
            <a:srgbClr val="8A5B0A"/>
          </a:solidFill>
          <a:ln>
            <a:solidFill>
              <a:srgbClr val="8A5B0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48" name="Text 38"/>
          <p:cNvSpPr/>
          <p:nvPr/>
        </p:nvSpPr>
        <p:spPr>
          <a:xfrm>
            <a:off x="548640" y="5687568"/>
            <a:ext cx="11094415" cy="274320"/>
          </a:xfrm>
          <a:prstGeom prst="rect">
            <a:avLst/>
          </a:prstGeom>
          <a:noFill/>
          <a:ln/>
        </p:spPr>
        <p:txBody>
          <a:bodyPr wrap="square" lIns="0" tIns="0" rIns="0" bIns="0" rtlCol="0" anchor="ctr"/>
          <a:lstStyle/>
          <a:p>
            <a:pPr indent="0" marL="0">
              <a:buNone/>
            </a:pPr>
            <a:r>
              <a:rPr lang="en-US" sz="1000" dirty="0">
                <a:solidFill>
                  <a:srgbClr val="52706D"/>
                </a:solidFill>
                <a:latin typeface="Calibri" pitchFamily="34" charset="0"/>
                <a:ea typeface="Calibri" pitchFamily="34" charset="-122"/>
                <a:cs typeface="Calibri" pitchFamily="34" charset="-120"/>
              </a:rPr>
              <a:t>Tingkat: A uji acak, meta-analisis, atau tinjauan sistematis · B studi terbatas · D asumsi tim yang belum diuji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SOLUSI 3 · ARSITEKTUR LOCAL-FIRST</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Internet boleh putus. Kesinambungan datanya tidak.</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8</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Kleppmann dkk. (2019), Local-first software · Richardson, pola Transactional Outbox &amp; Idempotent Consumer · UU 27/2022 Pasal 4 &amp; 25. Hasil uji: status jalur 3 &amp; 4, pytest 18 Sep 2026.</a:t>
            </a:r>
            <a:endParaRPr lang="en-US" sz="850" dirty="0"/>
          </a:p>
        </p:txBody>
      </p:sp>
      <p:sp>
        <p:nvSpPr>
          <p:cNvPr id="12" name="Shape 8"/>
          <p:cNvSpPr/>
          <p:nvPr/>
        </p:nvSpPr>
        <p:spPr>
          <a:xfrm>
            <a:off x="548640" y="1783080"/>
            <a:ext cx="1847088" cy="1600200"/>
          </a:xfrm>
          <a:prstGeom prst="roundRect">
            <a:avLst>
              <a:gd name="adj" fmla="val 6857"/>
            </a:avLst>
          </a:prstGeom>
          <a:solidFill>
            <a:srgbClr val="FFFFFF"/>
          </a:solidFill>
          <a:ln w="9525">
            <a:solidFill>
              <a:srgbClr val="DCEEEC"/>
            </a:solidFill>
            <a:prstDash val="solid"/>
          </a:ln>
        </p:spPr>
      </p:sp>
      <p:sp>
        <p:nvSpPr>
          <p:cNvPr id="13" name="Shape 9"/>
          <p:cNvSpPr/>
          <p:nvPr/>
        </p:nvSpPr>
        <p:spPr>
          <a:xfrm>
            <a:off x="1170432" y="1920240"/>
            <a:ext cx="603504" cy="603504"/>
          </a:xfrm>
          <a:prstGeom prst="ellipse">
            <a:avLst/>
          </a:prstGeom>
          <a:solidFill>
            <a:srgbClr val="DFF6F3"/>
          </a:solidFill>
          <a:ln w="12700">
            <a:solidFill>
              <a:srgbClr val="DFF6F3"/>
            </a:solidFill>
            <a:prstDash val="solid"/>
          </a:ln>
        </p:spPr>
      </p:sp>
      <p:pic>
        <p:nvPicPr>
          <p:cNvPr id="14" name="Image 1" descr="preencoded.png">    </p:cNvPr>
          <p:cNvPicPr>
            <a:picLocks noChangeAspect="1"/>
          </p:cNvPicPr>
          <p:nvPr/>
        </p:nvPicPr>
        <p:blipFill>
          <a:blip r:embed="rId2"/>
          <a:stretch>
            <a:fillRect/>
          </a:stretch>
        </p:blipFill>
        <p:spPr>
          <a:xfrm>
            <a:off x="1315273" y="2065081"/>
            <a:ext cx="313822" cy="313822"/>
          </a:xfrm>
          <a:prstGeom prst="rect">
            <a:avLst/>
          </a:prstGeom>
        </p:spPr>
      </p:pic>
      <p:sp>
        <p:nvSpPr>
          <p:cNvPr id="15" name="Text 10"/>
          <p:cNvSpPr/>
          <p:nvPr/>
        </p:nvSpPr>
        <p:spPr>
          <a:xfrm>
            <a:off x="640080" y="2596896"/>
            <a:ext cx="1664208" cy="329184"/>
          </a:xfrm>
          <a:prstGeom prst="rect">
            <a:avLst/>
          </a:prstGeom>
          <a:noFill/>
          <a:ln/>
        </p:spPr>
        <p:txBody>
          <a:bodyPr wrap="square" lIns="0" tIns="0" rIns="0" bIns="0" rtlCol="0" anchor="ctr"/>
          <a:lstStyle/>
          <a:p>
            <a:pPr algn="ctr" indent="0" marL="0">
              <a:buNone/>
            </a:pPr>
            <a:r>
              <a:rPr lang="en-US" sz="1350" b="1" dirty="0">
                <a:solidFill>
                  <a:srgbClr val="172C2A"/>
                </a:solidFill>
                <a:latin typeface="Trebuchet MS" pitchFamily="34" charset="0"/>
                <a:ea typeface="Trebuchet MS" pitchFamily="34" charset="-122"/>
                <a:cs typeface="Trebuchet MS" pitchFamily="34" charset="-120"/>
              </a:rPr>
              <a:t>Ketukan</a:t>
            </a:r>
            <a:endParaRPr lang="en-US" sz="1350" dirty="0"/>
          </a:p>
        </p:txBody>
      </p:sp>
      <p:sp>
        <p:nvSpPr>
          <p:cNvPr id="16" name="Text 11"/>
          <p:cNvSpPr/>
          <p:nvPr/>
        </p:nvSpPr>
        <p:spPr>
          <a:xfrm>
            <a:off x="640080" y="2907792"/>
            <a:ext cx="1664208" cy="365760"/>
          </a:xfrm>
          <a:prstGeom prst="rect">
            <a:avLst/>
          </a:prstGeom>
          <a:noFill/>
          <a:ln/>
        </p:spPr>
        <p:txBody>
          <a:bodyPr wrap="square" lIns="0" tIns="0" rIns="0" bIns="0" rtlCol="0" anchor="ctr"/>
          <a:lstStyle/>
          <a:p>
            <a:pPr algn="ctr" indent="0" marL="0">
              <a:buNone/>
            </a:pPr>
            <a:r>
              <a:rPr lang="en-US" sz="1050" dirty="0">
                <a:solidFill>
                  <a:srgbClr val="52706D"/>
                </a:solidFill>
                <a:latin typeface="Calibri" pitchFamily="34" charset="0"/>
                <a:ea typeface="Calibri" pitchFamily="34" charset="-122"/>
                <a:cs typeface="Calibri" pitchFamily="34" charset="-120"/>
              </a:rPr>
              <a:t>HP · Flutter</a:t>
            </a:r>
            <a:endParaRPr lang="en-US" sz="1050" dirty="0"/>
          </a:p>
        </p:txBody>
      </p:sp>
      <p:sp>
        <p:nvSpPr>
          <p:cNvPr id="17" name="Text 12"/>
          <p:cNvSpPr/>
          <p:nvPr/>
        </p:nvSpPr>
        <p:spPr>
          <a:xfrm>
            <a:off x="2395728" y="2286000"/>
            <a:ext cx="464744" cy="457200"/>
          </a:xfrm>
          <a:prstGeom prst="rect">
            <a:avLst/>
          </a:prstGeom>
          <a:noFill/>
          <a:ln/>
        </p:spPr>
        <p:txBody>
          <a:bodyPr wrap="square" lIns="0" tIns="0" rIns="0" bIns="0" rtlCol="0" anchor="ctr"/>
          <a:lstStyle/>
          <a:p>
            <a:pPr algn="ctr" indent="0" marL="0">
              <a:buNone/>
            </a:pPr>
            <a:r>
              <a:rPr lang="en-US" sz="2000" b="1" dirty="0">
                <a:solidFill>
                  <a:srgbClr val="14B3A6"/>
                </a:solidFill>
                <a:latin typeface="Calibri" pitchFamily="34" charset="0"/>
                <a:ea typeface="Calibri" pitchFamily="34" charset="-122"/>
                <a:cs typeface="Calibri" pitchFamily="34" charset="-120"/>
              </a:rPr>
              <a:t>→</a:t>
            </a:r>
            <a:endParaRPr lang="en-US" sz="2000" dirty="0"/>
          </a:p>
        </p:txBody>
      </p:sp>
      <p:sp>
        <p:nvSpPr>
          <p:cNvPr id="18" name="Shape 13"/>
          <p:cNvSpPr/>
          <p:nvPr/>
        </p:nvSpPr>
        <p:spPr>
          <a:xfrm>
            <a:off x="2860472" y="1783080"/>
            <a:ext cx="1847088" cy="1600200"/>
          </a:xfrm>
          <a:prstGeom prst="roundRect">
            <a:avLst>
              <a:gd name="adj" fmla="val 6857"/>
            </a:avLst>
          </a:prstGeom>
          <a:solidFill>
            <a:srgbClr val="FFFFFF"/>
          </a:solidFill>
          <a:ln w="9525">
            <a:solidFill>
              <a:srgbClr val="DCEEEC"/>
            </a:solidFill>
            <a:prstDash val="solid"/>
          </a:ln>
        </p:spPr>
      </p:sp>
      <p:sp>
        <p:nvSpPr>
          <p:cNvPr id="19" name="Shape 14"/>
          <p:cNvSpPr/>
          <p:nvPr/>
        </p:nvSpPr>
        <p:spPr>
          <a:xfrm>
            <a:off x="3482264" y="1920240"/>
            <a:ext cx="603504" cy="603504"/>
          </a:xfrm>
          <a:prstGeom prst="ellipse">
            <a:avLst/>
          </a:prstGeom>
          <a:solidFill>
            <a:srgbClr val="DFF6F3"/>
          </a:solidFill>
          <a:ln w="12700">
            <a:solidFill>
              <a:srgbClr val="DFF6F3"/>
            </a:solidFill>
            <a:prstDash val="solid"/>
          </a:ln>
        </p:spPr>
      </p:sp>
      <p:pic>
        <p:nvPicPr>
          <p:cNvPr id="20" name="Image 2" descr="preencoded.png">    </p:cNvPr>
          <p:cNvPicPr>
            <a:picLocks noChangeAspect="1"/>
          </p:cNvPicPr>
          <p:nvPr/>
        </p:nvPicPr>
        <p:blipFill>
          <a:blip r:embed="rId3"/>
          <a:stretch>
            <a:fillRect/>
          </a:stretch>
        </p:blipFill>
        <p:spPr>
          <a:xfrm>
            <a:off x="3627105" y="2065081"/>
            <a:ext cx="313822" cy="313822"/>
          </a:xfrm>
          <a:prstGeom prst="rect">
            <a:avLst/>
          </a:prstGeom>
        </p:spPr>
      </p:pic>
      <p:sp>
        <p:nvSpPr>
          <p:cNvPr id="21" name="Text 15"/>
          <p:cNvSpPr/>
          <p:nvPr/>
        </p:nvSpPr>
        <p:spPr>
          <a:xfrm>
            <a:off x="2951912" y="2596896"/>
            <a:ext cx="1664208" cy="329184"/>
          </a:xfrm>
          <a:prstGeom prst="rect">
            <a:avLst/>
          </a:prstGeom>
          <a:noFill/>
          <a:ln/>
        </p:spPr>
        <p:txBody>
          <a:bodyPr wrap="square" lIns="0" tIns="0" rIns="0" bIns="0" rtlCol="0" anchor="ctr"/>
          <a:lstStyle/>
          <a:p>
            <a:pPr algn="ctr" indent="0" marL="0">
              <a:buNone/>
            </a:pPr>
            <a:r>
              <a:rPr lang="en-US" sz="1350" b="1" dirty="0">
                <a:solidFill>
                  <a:srgbClr val="172C2A"/>
                </a:solidFill>
                <a:latin typeface="Trebuchet MS" pitchFamily="34" charset="0"/>
                <a:ea typeface="Trebuchet MS" pitchFamily="34" charset="-122"/>
                <a:cs typeface="Trebuchet MS" pitchFamily="34" charset="-120"/>
              </a:rPr>
              <a:t>SQLite di HP</a:t>
            </a:r>
            <a:endParaRPr lang="en-US" sz="1350" dirty="0"/>
          </a:p>
        </p:txBody>
      </p:sp>
      <p:sp>
        <p:nvSpPr>
          <p:cNvPr id="22" name="Text 16"/>
          <p:cNvSpPr/>
          <p:nvPr/>
        </p:nvSpPr>
        <p:spPr>
          <a:xfrm>
            <a:off x="2951912" y="2907792"/>
            <a:ext cx="1664208" cy="365760"/>
          </a:xfrm>
          <a:prstGeom prst="rect">
            <a:avLst/>
          </a:prstGeom>
          <a:noFill/>
          <a:ln/>
        </p:spPr>
        <p:txBody>
          <a:bodyPr wrap="square" lIns="0" tIns="0" rIns="0" bIns="0" rtlCol="0" anchor="ctr"/>
          <a:lstStyle/>
          <a:p>
            <a:pPr algn="ctr" indent="0" marL="0">
              <a:buNone/>
            </a:pPr>
            <a:r>
              <a:rPr lang="en-US" sz="1050" dirty="0">
                <a:solidFill>
                  <a:srgbClr val="52706D"/>
                </a:solidFill>
                <a:latin typeface="Calibri" pitchFamily="34" charset="0"/>
                <a:ea typeface="Calibri" pitchFamily="34" charset="-122"/>
                <a:cs typeface="Calibri" pitchFamily="34" charset="-120"/>
              </a:rPr>
              <a:t>log + antrean kirim</a:t>
            </a:r>
            <a:endParaRPr lang="en-US" sz="1050" dirty="0"/>
          </a:p>
        </p:txBody>
      </p:sp>
      <p:sp>
        <p:nvSpPr>
          <p:cNvPr id="23" name="Text 17"/>
          <p:cNvSpPr/>
          <p:nvPr/>
        </p:nvSpPr>
        <p:spPr>
          <a:xfrm>
            <a:off x="4707560" y="2286000"/>
            <a:ext cx="464744" cy="457200"/>
          </a:xfrm>
          <a:prstGeom prst="rect">
            <a:avLst/>
          </a:prstGeom>
          <a:noFill/>
          <a:ln/>
        </p:spPr>
        <p:txBody>
          <a:bodyPr wrap="square" lIns="0" tIns="0" rIns="0" bIns="0" rtlCol="0" anchor="ctr"/>
          <a:lstStyle/>
          <a:p>
            <a:pPr algn="ctr" indent="0" marL="0">
              <a:buNone/>
            </a:pPr>
            <a:r>
              <a:rPr lang="en-US" sz="2000" b="1" dirty="0">
                <a:solidFill>
                  <a:srgbClr val="14B3A6"/>
                </a:solidFill>
                <a:latin typeface="Calibri" pitchFamily="34" charset="0"/>
                <a:ea typeface="Calibri" pitchFamily="34" charset="-122"/>
                <a:cs typeface="Calibri" pitchFamily="34" charset="-120"/>
              </a:rPr>
              <a:t>→</a:t>
            </a:r>
            <a:endParaRPr lang="en-US" sz="2000" dirty="0"/>
          </a:p>
        </p:txBody>
      </p:sp>
      <p:sp>
        <p:nvSpPr>
          <p:cNvPr id="24" name="Shape 18"/>
          <p:cNvSpPr/>
          <p:nvPr/>
        </p:nvSpPr>
        <p:spPr>
          <a:xfrm>
            <a:off x="5172304" y="1783080"/>
            <a:ext cx="1847088" cy="1600200"/>
          </a:xfrm>
          <a:prstGeom prst="roundRect">
            <a:avLst>
              <a:gd name="adj" fmla="val 6857"/>
            </a:avLst>
          </a:prstGeom>
          <a:solidFill>
            <a:srgbClr val="FFFFFF"/>
          </a:solidFill>
          <a:ln w="9525">
            <a:solidFill>
              <a:srgbClr val="DCEEEC"/>
            </a:solidFill>
            <a:prstDash val="solid"/>
          </a:ln>
        </p:spPr>
      </p:sp>
      <p:sp>
        <p:nvSpPr>
          <p:cNvPr id="25" name="Shape 19"/>
          <p:cNvSpPr/>
          <p:nvPr/>
        </p:nvSpPr>
        <p:spPr>
          <a:xfrm>
            <a:off x="5794096" y="1920240"/>
            <a:ext cx="603504" cy="603504"/>
          </a:xfrm>
          <a:prstGeom prst="ellipse">
            <a:avLst/>
          </a:prstGeom>
          <a:solidFill>
            <a:srgbClr val="FDF0D2"/>
          </a:solidFill>
          <a:ln w="12700">
            <a:solidFill>
              <a:srgbClr val="FDF0D2"/>
            </a:solidFill>
            <a:prstDash val="solid"/>
          </a:ln>
        </p:spPr>
      </p:sp>
      <p:pic>
        <p:nvPicPr>
          <p:cNvPr id="26" name="Image 3" descr="preencoded.png">    </p:cNvPr>
          <p:cNvPicPr>
            <a:picLocks noChangeAspect="1"/>
          </p:cNvPicPr>
          <p:nvPr/>
        </p:nvPicPr>
        <p:blipFill>
          <a:blip r:embed="rId4"/>
          <a:stretch>
            <a:fillRect/>
          </a:stretch>
        </p:blipFill>
        <p:spPr>
          <a:xfrm>
            <a:off x="5938937" y="2065081"/>
            <a:ext cx="313822" cy="313822"/>
          </a:xfrm>
          <a:prstGeom prst="rect">
            <a:avLst/>
          </a:prstGeom>
        </p:spPr>
      </p:pic>
      <p:sp>
        <p:nvSpPr>
          <p:cNvPr id="27" name="Text 20"/>
          <p:cNvSpPr/>
          <p:nvPr/>
        </p:nvSpPr>
        <p:spPr>
          <a:xfrm>
            <a:off x="5263744" y="2596896"/>
            <a:ext cx="1664208" cy="329184"/>
          </a:xfrm>
          <a:prstGeom prst="rect">
            <a:avLst/>
          </a:prstGeom>
          <a:noFill/>
          <a:ln/>
        </p:spPr>
        <p:txBody>
          <a:bodyPr wrap="square" lIns="0" tIns="0" rIns="0" bIns="0" rtlCol="0" anchor="ctr"/>
          <a:lstStyle/>
          <a:p>
            <a:pPr algn="ctr" indent="0" marL="0">
              <a:buNone/>
            </a:pPr>
            <a:r>
              <a:rPr lang="en-US" sz="1350" b="1" dirty="0">
                <a:solidFill>
                  <a:srgbClr val="172C2A"/>
                </a:solidFill>
                <a:latin typeface="Trebuchet MS" pitchFamily="34" charset="0"/>
                <a:ea typeface="Trebuchet MS" pitchFamily="34" charset="-122"/>
                <a:cs typeface="Trebuchet MS" pitchFamily="34" charset="-120"/>
              </a:rPr>
              <a:t>Sinkron otomatis</a:t>
            </a:r>
            <a:endParaRPr lang="en-US" sz="1350" dirty="0"/>
          </a:p>
        </p:txBody>
      </p:sp>
      <p:sp>
        <p:nvSpPr>
          <p:cNvPr id="28" name="Text 21"/>
          <p:cNvSpPr/>
          <p:nvPr/>
        </p:nvSpPr>
        <p:spPr>
          <a:xfrm>
            <a:off x="5263744" y="2907792"/>
            <a:ext cx="1664208" cy="365760"/>
          </a:xfrm>
          <a:prstGeom prst="rect">
            <a:avLst/>
          </a:prstGeom>
          <a:noFill/>
          <a:ln/>
        </p:spPr>
        <p:txBody>
          <a:bodyPr wrap="square" lIns="0" tIns="0" rIns="0" bIns="0" rtlCol="0" anchor="ctr"/>
          <a:lstStyle/>
          <a:p>
            <a:pPr algn="ctr" indent="0" marL="0">
              <a:buNone/>
            </a:pPr>
            <a:r>
              <a:rPr lang="en-US" sz="1050" dirty="0">
                <a:solidFill>
                  <a:srgbClr val="52706D"/>
                </a:solidFill>
                <a:latin typeface="Calibri" pitchFamily="34" charset="0"/>
                <a:ea typeface="Calibri" pitchFamily="34" charset="-122"/>
                <a:cs typeface="Calibri" pitchFamily="34" charset="-120"/>
              </a:rPr>
              <a:t>tiap 20 dtk saat online</a:t>
            </a:r>
            <a:endParaRPr lang="en-US" sz="1050" dirty="0"/>
          </a:p>
        </p:txBody>
      </p:sp>
      <p:sp>
        <p:nvSpPr>
          <p:cNvPr id="29" name="Text 22"/>
          <p:cNvSpPr/>
          <p:nvPr/>
        </p:nvSpPr>
        <p:spPr>
          <a:xfrm>
            <a:off x="7019392" y="2286000"/>
            <a:ext cx="464744" cy="457200"/>
          </a:xfrm>
          <a:prstGeom prst="rect">
            <a:avLst/>
          </a:prstGeom>
          <a:noFill/>
          <a:ln/>
        </p:spPr>
        <p:txBody>
          <a:bodyPr wrap="square" lIns="0" tIns="0" rIns="0" bIns="0" rtlCol="0" anchor="ctr"/>
          <a:lstStyle/>
          <a:p>
            <a:pPr algn="ctr" indent="0" marL="0">
              <a:buNone/>
            </a:pPr>
            <a:r>
              <a:rPr lang="en-US" sz="2000" b="1" dirty="0">
                <a:solidFill>
                  <a:srgbClr val="14B3A6"/>
                </a:solidFill>
                <a:latin typeface="Calibri" pitchFamily="34" charset="0"/>
                <a:ea typeface="Calibri" pitchFamily="34" charset="-122"/>
                <a:cs typeface="Calibri" pitchFamily="34" charset="-120"/>
              </a:rPr>
              <a:t>→</a:t>
            </a:r>
            <a:endParaRPr lang="en-US" sz="2000" dirty="0"/>
          </a:p>
        </p:txBody>
      </p:sp>
      <p:sp>
        <p:nvSpPr>
          <p:cNvPr id="30" name="Shape 23"/>
          <p:cNvSpPr/>
          <p:nvPr/>
        </p:nvSpPr>
        <p:spPr>
          <a:xfrm>
            <a:off x="7484135" y="1783080"/>
            <a:ext cx="1847088" cy="1600200"/>
          </a:xfrm>
          <a:prstGeom prst="roundRect">
            <a:avLst>
              <a:gd name="adj" fmla="val 6857"/>
            </a:avLst>
          </a:prstGeom>
          <a:solidFill>
            <a:srgbClr val="FFFFFF"/>
          </a:solidFill>
          <a:ln w="9525">
            <a:solidFill>
              <a:srgbClr val="DCEEEC"/>
            </a:solidFill>
            <a:prstDash val="solid"/>
          </a:ln>
        </p:spPr>
      </p:sp>
      <p:sp>
        <p:nvSpPr>
          <p:cNvPr id="31" name="Shape 24"/>
          <p:cNvSpPr/>
          <p:nvPr/>
        </p:nvSpPr>
        <p:spPr>
          <a:xfrm>
            <a:off x="8105927" y="1920240"/>
            <a:ext cx="603504" cy="603504"/>
          </a:xfrm>
          <a:prstGeom prst="ellipse">
            <a:avLst/>
          </a:prstGeom>
          <a:solidFill>
            <a:srgbClr val="EDECFB"/>
          </a:solidFill>
          <a:ln w="12700">
            <a:solidFill>
              <a:srgbClr val="EDECFB"/>
            </a:solidFill>
            <a:prstDash val="solid"/>
          </a:ln>
        </p:spPr>
      </p:sp>
      <p:pic>
        <p:nvPicPr>
          <p:cNvPr id="32" name="Image 4" descr="preencoded.png">    </p:cNvPr>
          <p:cNvPicPr>
            <a:picLocks noChangeAspect="1"/>
          </p:cNvPicPr>
          <p:nvPr/>
        </p:nvPicPr>
        <p:blipFill>
          <a:blip r:embed="rId5"/>
          <a:stretch>
            <a:fillRect/>
          </a:stretch>
        </p:blipFill>
        <p:spPr>
          <a:xfrm>
            <a:off x="8250768" y="2065081"/>
            <a:ext cx="313822" cy="313822"/>
          </a:xfrm>
          <a:prstGeom prst="rect">
            <a:avLst/>
          </a:prstGeom>
        </p:spPr>
      </p:pic>
      <p:sp>
        <p:nvSpPr>
          <p:cNvPr id="33" name="Text 25"/>
          <p:cNvSpPr/>
          <p:nvPr/>
        </p:nvSpPr>
        <p:spPr>
          <a:xfrm>
            <a:off x="7575575" y="2596896"/>
            <a:ext cx="1664208" cy="329184"/>
          </a:xfrm>
          <a:prstGeom prst="rect">
            <a:avLst/>
          </a:prstGeom>
          <a:noFill/>
          <a:ln/>
        </p:spPr>
        <p:txBody>
          <a:bodyPr wrap="square" lIns="0" tIns="0" rIns="0" bIns="0" rtlCol="0" anchor="ctr"/>
          <a:lstStyle/>
          <a:p>
            <a:pPr algn="ctr" indent="0" marL="0">
              <a:buNone/>
            </a:pPr>
            <a:r>
              <a:rPr lang="en-US" sz="1350" b="1" dirty="0">
                <a:solidFill>
                  <a:srgbClr val="172C2A"/>
                </a:solidFill>
                <a:latin typeface="Trebuchet MS" pitchFamily="34" charset="0"/>
                <a:ea typeface="Trebuchet MS" pitchFamily="34" charset="-122"/>
                <a:cs typeface="Trebuchet MS" pitchFamily="34" charset="-120"/>
              </a:rPr>
              <a:t>Server</a:t>
            </a:r>
            <a:endParaRPr lang="en-US" sz="1350" dirty="0"/>
          </a:p>
        </p:txBody>
      </p:sp>
      <p:sp>
        <p:nvSpPr>
          <p:cNvPr id="34" name="Text 26"/>
          <p:cNvSpPr/>
          <p:nvPr/>
        </p:nvSpPr>
        <p:spPr>
          <a:xfrm>
            <a:off x="7575575" y="2907792"/>
            <a:ext cx="1664208" cy="365760"/>
          </a:xfrm>
          <a:prstGeom prst="rect">
            <a:avLst/>
          </a:prstGeom>
          <a:noFill/>
          <a:ln/>
        </p:spPr>
        <p:txBody>
          <a:bodyPr wrap="square" lIns="0" tIns="0" rIns="0" bIns="0" rtlCol="0" anchor="ctr"/>
          <a:lstStyle/>
          <a:p>
            <a:pPr algn="ctr" indent="0" marL="0">
              <a:buNone/>
            </a:pPr>
            <a:r>
              <a:rPr lang="en-US" sz="1050" dirty="0">
                <a:solidFill>
                  <a:srgbClr val="52706D"/>
                </a:solidFill>
                <a:latin typeface="Calibri" pitchFamily="34" charset="0"/>
                <a:ea typeface="Calibri" pitchFamily="34" charset="-122"/>
                <a:cs typeface="Calibri" pitchFamily="34" charset="-120"/>
              </a:rPr>
              <a:t>FastAPI + SQLite WAL</a:t>
            </a:r>
            <a:endParaRPr lang="en-US" sz="1050" dirty="0"/>
          </a:p>
        </p:txBody>
      </p:sp>
      <p:sp>
        <p:nvSpPr>
          <p:cNvPr id="35" name="Text 27"/>
          <p:cNvSpPr/>
          <p:nvPr/>
        </p:nvSpPr>
        <p:spPr>
          <a:xfrm>
            <a:off x="9331223" y="2286000"/>
            <a:ext cx="464744" cy="457200"/>
          </a:xfrm>
          <a:prstGeom prst="rect">
            <a:avLst/>
          </a:prstGeom>
          <a:noFill/>
          <a:ln/>
        </p:spPr>
        <p:txBody>
          <a:bodyPr wrap="square" lIns="0" tIns="0" rIns="0" bIns="0" rtlCol="0" anchor="ctr"/>
          <a:lstStyle/>
          <a:p>
            <a:pPr algn="ctr" indent="0" marL="0">
              <a:buNone/>
            </a:pPr>
            <a:r>
              <a:rPr lang="en-US" sz="2000" b="1" dirty="0">
                <a:solidFill>
                  <a:srgbClr val="14B3A6"/>
                </a:solidFill>
                <a:latin typeface="Calibri" pitchFamily="34" charset="0"/>
                <a:ea typeface="Calibri" pitchFamily="34" charset="-122"/>
                <a:cs typeface="Calibri" pitchFamily="34" charset="-120"/>
              </a:rPr>
              <a:t>→</a:t>
            </a:r>
            <a:endParaRPr lang="en-US" sz="2000" dirty="0"/>
          </a:p>
        </p:txBody>
      </p:sp>
      <p:sp>
        <p:nvSpPr>
          <p:cNvPr id="36" name="Shape 28"/>
          <p:cNvSpPr/>
          <p:nvPr/>
        </p:nvSpPr>
        <p:spPr>
          <a:xfrm>
            <a:off x="9795967" y="1783080"/>
            <a:ext cx="1847088" cy="1600200"/>
          </a:xfrm>
          <a:prstGeom prst="roundRect">
            <a:avLst>
              <a:gd name="adj" fmla="val 6857"/>
            </a:avLst>
          </a:prstGeom>
          <a:solidFill>
            <a:srgbClr val="FFFFFF"/>
          </a:solidFill>
          <a:ln w="9525">
            <a:solidFill>
              <a:srgbClr val="DCEEEC"/>
            </a:solidFill>
            <a:prstDash val="solid"/>
          </a:ln>
        </p:spPr>
      </p:sp>
      <p:sp>
        <p:nvSpPr>
          <p:cNvPr id="37" name="Shape 29"/>
          <p:cNvSpPr/>
          <p:nvPr/>
        </p:nvSpPr>
        <p:spPr>
          <a:xfrm>
            <a:off x="10417759" y="1920240"/>
            <a:ext cx="603504" cy="603504"/>
          </a:xfrm>
          <a:prstGeom prst="ellipse">
            <a:avLst/>
          </a:prstGeom>
          <a:solidFill>
            <a:srgbClr val="FDE1E2"/>
          </a:solidFill>
          <a:ln w="12700">
            <a:solidFill>
              <a:srgbClr val="FDE1E2"/>
            </a:solidFill>
            <a:prstDash val="solid"/>
          </a:ln>
        </p:spPr>
      </p:sp>
      <p:pic>
        <p:nvPicPr>
          <p:cNvPr id="38" name="Image 5" descr="preencoded.png">    </p:cNvPr>
          <p:cNvPicPr>
            <a:picLocks noChangeAspect="1"/>
          </p:cNvPicPr>
          <p:nvPr/>
        </p:nvPicPr>
        <p:blipFill>
          <a:blip r:embed="rId6"/>
          <a:stretch>
            <a:fillRect/>
          </a:stretch>
        </p:blipFill>
        <p:spPr>
          <a:xfrm>
            <a:off x="10562600" y="2065081"/>
            <a:ext cx="313822" cy="313822"/>
          </a:xfrm>
          <a:prstGeom prst="rect">
            <a:avLst/>
          </a:prstGeom>
        </p:spPr>
      </p:pic>
      <p:sp>
        <p:nvSpPr>
          <p:cNvPr id="39" name="Text 30"/>
          <p:cNvSpPr/>
          <p:nvPr/>
        </p:nvSpPr>
        <p:spPr>
          <a:xfrm>
            <a:off x="9887407" y="2596896"/>
            <a:ext cx="1664208" cy="329184"/>
          </a:xfrm>
          <a:prstGeom prst="rect">
            <a:avLst/>
          </a:prstGeom>
          <a:noFill/>
          <a:ln/>
        </p:spPr>
        <p:txBody>
          <a:bodyPr wrap="square" lIns="0" tIns="0" rIns="0" bIns="0" rtlCol="0" anchor="ctr"/>
          <a:lstStyle/>
          <a:p>
            <a:pPr algn="ctr" indent="0" marL="0">
              <a:buNone/>
            </a:pPr>
            <a:r>
              <a:rPr lang="en-US" sz="1350" b="1" dirty="0">
                <a:solidFill>
                  <a:srgbClr val="172C2A"/>
                </a:solidFill>
                <a:latin typeface="Trebuchet MS" pitchFamily="34" charset="0"/>
                <a:ea typeface="Trebuchet MS" pitchFamily="34" charset="-122"/>
                <a:cs typeface="Trebuchet MS" pitchFamily="34" charset="-120"/>
              </a:rPr>
              <a:t>Dasbor terapis</a:t>
            </a:r>
            <a:endParaRPr lang="en-US" sz="1350" dirty="0"/>
          </a:p>
        </p:txBody>
      </p:sp>
      <p:sp>
        <p:nvSpPr>
          <p:cNvPr id="40" name="Text 31"/>
          <p:cNvSpPr/>
          <p:nvPr/>
        </p:nvSpPr>
        <p:spPr>
          <a:xfrm>
            <a:off x="9887407" y="2907792"/>
            <a:ext cx="1664208" cy="365760"/>
          </a:xfrm>
          <a:prstGeom prst="rect">
            <a:avLst/>
          </a:prstGeom>
          <a:noFill/>
          <a:ln/>
        </p:spPr>
        <p:txBody>
          <a:bodyPr wrap="square" lIns="0" tIns="0" rIns="0" bIns="0" rtlCol="0" anchor="ctr"/>
          <a:lstStyle/>
          <a:p>
            <a:pPr algn="ctr" indent="0" marL="0">
              <a:buNone/>
            </a:pPr>
            <a:r>
              <a:rPr lang="en-US" sz="1050" dirty="0">
                <a:solidFill>
                  <a:srgbClr val="52706D"/>
                </a:solidFill>
                <a:latin typeface="Calibri" pitchFamily="34" charset="0"/>
                <a:ea typeface="Calibri" pitchFamily="34" charset="-122"/>
                <a:cs typeface="Calibri" pitchFamily="34" charset="-120"/>
              </a:rPr>
              <a:t>React + Vite + TS</a:t>
            </a:r>
            <a:endParaRPr lang="en-US" sz="1050" dirty="0"/>
          </a:p>
        </p:txBody>
      </p:sp>
      <p:sp>
        <p:nvSpPr>
          <p:cNvPr id="41" name="Shape 32"/>
          <p:cNvSpPr/>
          <p:nvPr/>
        </p:nvSpPr>
        <p:spPr>
          <a:xfrm>
            <a:off x="548640" y="3566160"/>
            <a:ext cx="3545738" cy="960120"/>
          </a:xfrm>
          <a:prstGeom prst="roundRect">
            <a:avLst>
              <a:gd name="adj" fmla="val 9524"/>
            </a:avLst>
          </a:prstGeom>
          <a:solidFill>
            <a:srgbClr val="098277"/>
          </a:solidFill>
          <a:ln w="12700">
            <a:solidFill>
              <a:srgbClr val="098277"/>
            </a:solidFill>
            <a:prstDash val="solid"/>
          </a:ln>
        </p:spPr>
      </p:sp>
      <p:sp>
        <p:nvSpPr>
          <p:cNvPr id="42" name="Text 33"/>
          <p:cNvSpPr/>
          <p:nvPr/>
        </p:nvSpPr>
        <p:spPr>
          <a:xfrm>
            <a:off x="749808" y="3639312"/>
            <a:ext cx="3143402" cy="292608"/>
          </a:xfrm>
          <a:prstGeom prst="rect">
            <a:avLst/>
          </a:prstGeom>
          <a:noFill/>
          <a:ln/>
        </p:spPr>
        <p:txBody>
          <a:bodyPr wrap="square" lIns="0" tIns="0" rIns="0" bIns="0" rtlCol="0" anchor="ctr"/>
          <a:lstStyle/>
          <a:p>
            <a:pPr indent="0" marL="0">
              <a:buNone/>
            </a:pPr>
            <a:r>
              <a:rPr lang="en-US" sz="1150" b="1" spc="150" kern="0" dirty="0">
                <a:solidFill>
                  <a:srgbClr val="BADE4A"/>
                </a:solidFill>
                <a:latin typeface="Calibri" pitchFamily="34" charset="0"/>
                <a:ea typeface="Calibri" pitchFamily="34" charset="-122"/>
                <a:cs typeface="Calibri" pitchFamily="34" charset="-120"/>
              </a:rPr>
              <a:t>APPEND-ONLY</a:t>
            </a:r>
            <a:endParaRPr lang="en-US" sz="1150" dirty="0"/>
          </a:p>
        </p:txBody>
      </p:sp>
      <p:sp>
        <p:nvSpPr>
          <p:cNvPr id="43" name="Text 34"/>
          <p:cNvSpPr/>
          <p:nvPr/>
        </p:nvSpPr>
        <p:spPr>
          <a:xfrm>
            <a:off x="749808" y="3931920"/>
            <a:ext cx="3143402" cy="5486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Isi peristiwa tidak pernah diubah atau dihapus; ditegakkan trigger di HP dan server.</a:t>
            </a:r>
            <a:endParaRPr lang="en-US" sz="1100" dirty="0"/>
          </a:p>
        </p:txBody>
      </p:sp>
      <p:sp>
        <p:nvSpPr>
          <p:cNvPr id="44" name="Shape 35"/>
          <p:cNvSpPr/>
          <p:nvPr/>
        </p:nvSpPr>
        <p:spPr>
          <a:xfrm>
            <a:off x="4322978" y="3566160"/>
            <a:ext cx="3545738" cy="960120"/>
          </a:xfrm>
          <a:prstGeom prst="roundRect">
            <a:avLst>
              <a:gd name="adj" fmla="val 9524"/>
            </a:avLst>
          </a:prstGeom>
          <a:solidFill>
            <a:srgbClr val="098277"/>
          </a:solidFill>
          <a:ln w="12700">
            <a:solidFill>
              <a:srgbClr val="098277"/>
            </a:solidFill>
            <a:prstDash val="solid"/>
          </a:ln>
        </p:spPr>
      </p:sp>
      <p:sp>
        <p:nvSpPr>
          <p:cNvPr id="45" name="Text 36"/>
          <p:cNvSpPr/>
          <p:nvPr/>
        </p:nvSpPr>
        <p:spPr>
          <a:xfrm>
            <a:off x="4524146" y="3639312"/>
            <a:ext cx="3143402" cy="292608"/>
          </a:xfrm>
          <a:prstGeom prst="rect">
            <a:avLst/>
          </a:prstGeom>
          <a:noFill/>
          <a:ln/>
        </p:spPr>
        <p:txBody>
          <a:bodyPr wrap="square" lIns="0" tIns="0" rIns="0" bIns="0" rtlCol="0" anchor="ctr"/>
          <a:lstStyle/>
          <a:p>
            <a:pPr indent="0" marL="0">
              <a:buNone/>
            </a:pPr>
            <a:r>
              <a:rPr lang="en-US" sz="1150" b="1" spc="150" kern="0" dirty="0">
                <a:solidFill>
                  <a:srgbClr val="BADE4A"/>
                </a:solidFill>
                <a:latin typeface="Calibri" pitchFamily="34" charset="0"/>
                <a:ea typeface="Calibri" pitchFamily="34" charset="-122"/>
                <a:cs typeface="Calibri" pitchFamily="34" charset="-120"/>
              </a:rPr>
              <a:t>TRANSACTIONAL OUTBOX</a:t>
            </a:r>
            <a:endParaRPr lang="en-US" sz="1150" dirty="0"/>
          </a:p>
        </p:txBody>
      </p:sp>
      <p:sp>
        <p:nvSpPr>
          <p:cNvPr id="46" name="Text 37"/>
          <p:cNvSpPr/>
          <p:nvPr/>
        </p:nvSpPr>
        <p:spPr>
          <a:xfrm>
            <a:off x="4524146" y="3931920"/>
            <a:ext cx="3143402" cy="5486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Peristiwa dan antrean kirim ditulis dalam satu transaksi. Mati listrik tidak menghilangkan data.</a:t>
            </a:r>
            <a:endParaRPr lang="en-US" sz="1100" dirty="0"/>
          </a:p>
        </p:txBody>
      </p:sp>
      <p:sp>
        <p:nvSpPr>
          <p:cNvPr id="47" name="Shape 38"/>
          <p:cNvSpPr/>
          <p:nvPr/>
        </p:nvSpPr>
        <p:spPr>
          <a:xfrm>
            <a:off x="8097317" y="3566160"/>
            <a:ext cx="3545738" cy="960120"/>
          </a:xfrm>
          <a:prstGeom prst="roundRect">
            <a:avLst>
              <a:gd name="adj" fmla="val 9524"/>
            </a:avLst>
          </a:prstGeom>
          <a:solidFill>
            <a:srgbClr val="098277"/>
          </a:solidFill>
          <a:ln w="12700">
            <a:solidFill>
              <a:srgbClr val="098277"/>
            </a:solidFill>
            <a:prstDash val="solid"/>
          </a:ln>
        </p:spPr>
      </p:sp>
      <p:sp>
        <p:nvSpPr>
          <p:cNvPr id="48" name="Text 39"/>
          <p:cNvSpPr/>
          <p:nvPr/>
        </p:nvSpPr>
        <p:spPr>
          <a:xfrm>
            <a:off x="8298485" y="3639312"/>
            <a:ext cx="3143402" cy="292608"/>
          </a:xfrm>
          <a:prstGeom prst="rect">
            <a:avLst/>
          </a:prstGeom>
          <a:noFill/>
          <a:ln/>
        </p:spPr>
        <p:txBody>
          <a:bodyPr wrap="square" lIns="0" tIns="0" rIns="0" bIns="0" rtlCol="0" anchor="ctr"/>
          <a:lstStyle/>
          <a:p>
            <a:pPr indent="0" marL="0">
              <a:buNone/>
            </a:pPr>
            <a:r>
              <a:rPr lang="en-US" sz="1150" b="1" spc="150" kern="0" dirty="0">
                <a:solidFill>
                  <a:srgbClr val="BADE4A"/>
                </a:solidFill>
                <a:latin typeface="Calibri" pitchFamily="34" charset="0"/>
                <a:ea typeface="Calibri" pitchFamily="34" charset="-122"/>
                <a:cs typeface="Calibri" pitchFamily="34" charset="-120"/>
              </a:rPr>
              <a:t>IDEMPOTENT SYNC</a:t>
            </a:r>
            <a:endParaRPr lang="en-US" sz="1150" dirty="0"/>
          </a:p>
        </p:txBody>
      </p:sp>
      <p:sp>
        <p:nvSpPr>
          <p:cNvPr id="49" name="Text 40"/>
          <p:cNvSpPr/>
          <p:nvPr/>
        </p:nvSpPr>
        <p:spPr>
          <a:xfrm>
            <a:off x="8298485" y="3931920"/>
            <a:ext cx="3143402" cy="5486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Server mengenali event_id yang sama. Kirim ulang tidak membuat data ganda.</a:t>
            </a:r>
            <a:endParaRPr lang="en-US" sz="1100" dirty="0"/>
          </a:p>
        </p:txBody>
      </p:sp>
      <p:sp>
        <p:nvSpPr>
          <p:cNvPr id="50" name="Shape 41"/>
          <p:cNvSpPr/>
          <p:nvPr/>
        </p:nvSpPr>
        <p:spPr>
          <a:xfrm>
            <a:off x="548640" y="4681728"/>
            <a:ext cx="5432908" cy="1261872"/>
          </a:xfrm>
          <a:prstGeom prst="roundRect">
            <a:avLst>
              <a:gd name="adj" fmla="val 8696"/>
            </a:avLst>
          </a:prstGeom>
          <a:solidFill>
            <a:srgbClr val="FFFFFF"/>
          </a:solidFill>
          <a:ln w="9525">
            <a:solidFill>
              <a:srgbClr val="DCEEEC"/>
            </a:solidFill>
            <a:prstDash val="solid"/>
          </a:ln>
        </p:spPr>
      </p:sp>
      <p:sp>
        <p:nvSpPr>
          <p:cNvPr id="51" name="Text 42"/>
          <p:cNvSpPr/>
          <p:nvPr/>
        </p:nvSpPr>
        <p:spPr>
          <a:xfrm>
            <a:off x="749808" y="4754880"/>
            <a:ext cx="5067148" cy="237744"/>
          </a:xfrm>
          <a:prstGeom prst="rect">
            <a:avLst/>
          </a:prstGeom>
          <a:noFill/>
          <a:ln/>
        </p:spPr>
        <p:txBody>
          <a:bodyPr wrap="square" lIns="0" tIns="0" rIns="0" bIns="0" rtlCol="0" anchor="ctr"/>
          <a:lstStyle/>
          <a:p>
            <a:pPr indent="0" marL="0">
              <a:buNone/>
            </a:pPr>
            <a:r>
              <a:rPr lang="en-US" sz="1000" b="1" spc="150" kern="0" dirty="0">
                <a:solidFill>
                  <a:srgbClr val="026E65"/>
                </a:solidFill>
                <a:latin typeface="Calibri" pitchFamily="34" charset="0"/>
                <a:ea typeface="Calibri" pitchFamily="34" charset="-122"/>
                <a:cs typeface="Calibri" pitchFamily="34" charset="-120"/>
              </a:rPr>
              <a:t>SUDAH DIUJI</a:t>
            </a:r>
            <a:endParaRPr lang="en-US" sz="1000" dirty="0"/>
          </a:p>
        </p:txBody>
      </p:sp>
      <p:sp>
        <p:nvSpPr>
          <p:cNvPr id="52" name="Text 43"/>
          <p:cNvSpPr/>
          <p:nvPr/>
        </p:nvSpPr>
        <p:spPr>
          <a:xfrm>
            <a:off x="749808" y="4992624"/>
            <a:ext cx="5067148" cy="914400"/>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rgbClr val="172C2A"/>
                </a:solidFill>
                <a:latin typeface="Calibri" pitchFamily="34" charset="0"/>
                <a:ea typeface="Calibri" pitchFamily="34" charset="-122"/>
                <a:cs typeface="Calibri" pitchFamily="34" charset="-120"/>
              </a:rPr>
              <a:t>Proses dimatikan paksa sesudah server menjawab → kirim ulang: 60 diterima, 40 duplikat ditolak → data identik</a:t>
            </a:r>
            <a:endParaRPr lang="en-US" sz="1100" dirty="0"/>
          </a:p>
          <a:p>
            <a:pPr marL="177800" indent="-177800">
              <a:spcAft>
                <a:spcPts val="200"/>
              </a:spcAft>
              <a:buSzPct val="100000"/>
              <a:buChar char="•"/>
            </a:pPr>
            <a:r>
              <a:rPr lang="en-US" sz="1100" dirty="0">
                <a:solidFill>
                  <a:srgbClr val="172C2A"/>
                </a:solidFill>
                <a:latin typeface="Calibri" pitchFamily="34" charset="0"/>
                <a:ea typeface="Calibri" pitchFamily="34" charset="-122"/>
                <a:cs typeface="Calibri" pitchFamily="34" charset="-120"/>
              </a:rPr>
              <a:t>78 tes otomatis lulus (45 server, 33 aplikasi)</a:t>
            </a:r>
            <a:endParaRPr lang="en-US" sz="1100" dirty="0"/>
          </a:p>
          <a:p>
            <a:pPr marL="177800" indent="-177800">
              <a:spcAft>
                <a:spcPts val="200"/>
              </a:spcAft>
              <a:buSzPct val="100000"/>
              <a:buChar char="•"/>
            </a:pPr>
            <a:r>
              <a:rPr lang="en-US" sz="1100" dirty="0">
                <a:solidFill>
                  <a:srgbClr val="172C2A"/>
                </a:solidFill>
                <a:latin typeface="Calibri" pitchFamily="34" charset="0"/>
                <a:ea typeface="Calibri" pitchFamily="34" charset="-122"/>
                <a:cs typeface="Calibri" pitchFamily="34" charset="-120"/>
              </a:rPr>
              <a:t>Angka dasbor dicocokkan dengan hitungan server: 0 selisih</a:t>
            </a:r>
            <a:endParaRPr lang="en-US" sz="1100" dirty="0"/>
          </a:p>
        </p:txBody>
      </p:sp>
      <p:sp>
        <p:nvSpPr>
          <p:cNvPr id="53" name="Shape 44"/>
          <p:cNvSpPr/>
          <p:nvPr/>
        </p:nvSpPr>
        <p:spPr>
          <a:xfrm>
            <a:off x="6210148" y="4681728"/>
            <a:ext cx="5432908" cy="1261872"/>
          </a:xfrm>
          <a:prstGeom prst="roundRect">
            <a:avLst>
              <a:gd name="adj" fmla="val 8696"/>
            </a:avLst>
          </a:prstGeom>
          <a:solidFill>
            <a:srgbClr val="FFFFFF"/>
          </a:solidFill>
          <a:ln w="9525">
            <a:solidFill>
              <a:srgbClr val="DCEEEC"/>
            </a:solidFill>
            <a:prstDash val="solid"/>
          </a:ln>
        </p:spPr>
      </p:sp>
      <p:sp>
        <p:nvSpPr>
          <p:cNvPr id="54" name="Text 45"/>
          <p:cNvSpPr/>
          <p:nvPr/>
        </p:nvSpPr>
        <p:spPr>
          <a:xfrm>
            <a:off x="6411316" y="4754880"/>
            <a:ext cx="5067148" cy="237744"/>
          </a:xfrm>
          <a:prstGeom prst="rect">
            <a:avLst/>
          </a:prstGeom>
          <a:noFill/>
          <a:ln/>
        </p:spPr>
        <p:txBody>
          <a:bodyPr wrap="square" lIns="0" tIns="0" rIns="0" bIns="0" rtlCol="0" anchor="ctr"/>
          <a:lstStyle/>
          <a:p>
            <a:pPr indent="0" marL="0">
              <a:buNone/>
            </a:pPr>
            <a:r>
              <a:rPr lang="en-US" sz="1000" b="1" spc="150" kern="0" dirty="0">
                <a:solidFill>
                  <a:srgbClr val="C23D42"/>
                </a:solidFill>
                <a:latin typeface="Calibri" pitchFamily="34" charset="0"/>
                <a:ea typeface="Calibri" pitchFamily="34" charset="-122"/>
                <a:cs typeface="Calibri" pitchFamily="34" charset="-120"/>
              </a:rPr>
              <a:t>PRIVASI SEJAK DESAIN</a:t>
            </a:r>
            <a:endParaRPr lang="en-US" sz="1000" dirty="0"/>
          </a:p>
        </p:txBody>
      </p:sp>
      <p:sp>
        <p:nvSpPr>
          <p:cNvPr id="55" name="Text 46"/>
          <p:cNvSpPr/>
          <p:nvPr/>
        </p:nvSpPr>
        <p:spPr>
          <a:xfrm>
            <a:off x="6411316" y="4992624"/>
            <a:ext cx="5067148" cy="914400"/>
          </a:xfrm>
          <a:prstGeom prst="rect">
            <a:avLst/>
          </a:prstGeom>
          <a:noFill/>
          <a:ln/>
        </p:spPr>
        <p:txBody>
          <a:bodyPr wrap="square" lIns="0" tIns="0" rIns="0" bIns="0" rtlCol="0" anchor="t"/>
          <a:lstStyle/>
          <a:p>
            <a:pPr marL="177800" indent="-177800">
              <a:spcAft>
                <a:spcPts val="200"/>
              </a:spcAft>
              <a:buSzPct val="100000"/>
              <a:buChar char="•"/>
            </a:pPr>
            <a:r>
              <a:rPr lang="en-US" sz="1100" dirty="0">
                <a:solidFill>
                  <a:srgbClr val="172C2A"/>
                </a:solidFill>
                <a:latin typeface="Calibri" pitchFamily="34" charset="0"/>
                <a:ea typeface="Calibri" pitchFamily="34" charset="-122"/>
                <a:cs typeface="Calibri" pitchFamily="34" charset="-120"/>
              </a:rPr>
              <a:t>Data keluar HP hanya setelah orang tua menebus kode undangan (UU PDP Ps. 25)</a:t>
            </a:r>
            <a:endParaRPr lang="en-US" sz="1100" dirty="0"/>
          </a:p>
          <a:p>
            <a:pPr marL="177800" indent="-177800">
              <a:spcAft>
                <a:spcPts val="200"/>
              </a:spcAft>
              <a:buSzPct val="100000"/>
              <a:buChar char="•"/>
            </a:pPr>
            <a:r>
              <a:rPr lang="en-US" sz="1100" dirty="0">
                <a:solidFill>
                  <a:srgbClr val="172C2A"/>
                </a:solidFill>
                <a:latin typeface="Calibri" pitchFamily="34" charset="0"/>
                <a:ea typeface="Calibri" pitchFamily="34" charset="-122"/>
                <a:cs typeface="Calibri" pitchFamily="34" charset="-120"/>
              </a:rPr>
              <a:t>Hanya ketukan simbol; tidak ada audio ruangan, video, atau lokasi</a:t>
            </a:r>
            <a:endParaRPr lang="en-US" sz="1100" dirty="0"/>
          </a:p>
          <a:p>
            <a:pPr marL="177800" indent="-177800">
              <a:spcAft>
                <a:spcPts val="200"/>
              </a:spcAft>
              <a:buSzPct val="100000"/>
              <a:buChar char="•"/>
            </a:pPr>
            <a:r>
              <a:rPr lang="en-US" sz="1100" dirty="0">
                <a:solidFill>
                  <a:srgbClr val="172C2A"/>
                </a:solidFill>
                <a:latin typeface="Calibri" pitchFamily="34" charset="0"/>
                <a:ea typeface="Calibri" pitchFamily="34" charset="-122"/>
                <a:cs typeface="Calibri" pitchFamily="34" charset="-120"/>
              </a:rPr>
              <a:t>HP mengirim peristiwa mentah; ringkasan dihitung server. Tanpa model ML.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SOLUSI 4 · JEMBATAN TERAPIS</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Terapis menerima konteks, bukan tumpukan data</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9</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Tangkapan layar asli papan pantau Nyambung dalam mode demo. Semua nama dan angka ilustratif, bukan data keluarga sungguhan.</a:t>
            </a:r>
            <a:endParaRPr lang="en-US" sz="850" dirty="0"/>
          </a:p>
        </p:txBody>
      </p:sp>
      <p:sp>
        <p:nvSpPr>
          <p:cNvPr id="12" name="Shape 8"/>
          <p:cNvSpPr/>
          <p:nvPr/>
        </p:nvSpPr>
        <p:spPr>
          <a:xfrm>
            <a:off x="548640" y="1746504"/>
            <a:ext cx="6702552" cy="3275489"/>
          </a:xfrm>
          <a:prstGeom prst="roundRect">
            <a:avLst>
              <a:gd name="adj" fmla="val 2233"/>
            </a:avLst>
          </a:prstGeom>
          <a:solidFill>
            <a:srgbClr val="FFFFFF"/>
          </a:solidFill>
          <a:ln w="12700">
            <a:solidFill>
              <a:srgbClr val="A0DDD7"/>
            </a:solidFill>
            <a:prstDash val="solid"/>
          </a:ln>
        </p:spPr>
      </p:sp>
      <p:pic>
        <p:nvPicPr>
          <p:cNvPr id="13" name="Image 1" descr="C:\Users\mikae\AppData\Local\Temp\claude\C--Users-mikae-OneDrive-Documents-Lomba-IFEST-Nyambung\5a0b5d3c-f3f7-4cfd-b1e4-12368b2fb354\scratchpad\deck\img\c_d1.jpg">    </p:cNvPr>
          <p:cNvPicPr>
            <a:picLocks noChangeAspect="1"/>
          </p:cNvPicPr>
          <p:nvPr/>
        </p:nvPicPr>
        <p:blipFill>
          <a:blip r:embed="rId2"/>
          <a:stretch>
            <a:fillRect/>
          </a:stretch>
        </p:blipFill>
        <p:spPr>
          <a:xfrm>
            <a:off x="585216" y="1783080"/>
            <a:ext cx="6629400" cy="3202337"/>
          </a:xfrm>
          <a:prstGeom prst="rect">
            <a:avLst/>
          </a:prstGeom>
        </p:spPr>
      </p:pic>
      <p:sp>
        <p:nvSpPr>
          <p:cNvPr id="14" name="Text 9"/>
          <p:cNvSpPr/>
          <p:nvPr/>
        </p:nvSpPr>
        <p:spPr>
          <a:xfrm>
            <a:off x="548640" y="5076857"/>
            <a:ext cx="6675120" cy="256032"/>
          </a:xfrm>
          <a:prstGeom prst="rect">
            <a:avLst/>
          </a:prstGeom>
          <a:noFill/>
          <a:ln/>
        </p:spPr>
        <p:txBody>
          <a:bodyPr wrap="square" lIns="0" tIns="0" rIns="0" bIns="0" rtlCol="0" anchor="ctr"/>
          <a:lstStyle/>
          <a:p>
            <a:pPr indent="0" marL="0">
              <a:buNone/>
            </a:pPr>
            <a:r>
              <a:rPr lang="en-US" sz="1050" b="1" dirty="0">
                <a:solidFill>
                  <a:srgbClr val="026E65"/>
                </a:solidFill>
                <a:latin typeface="Calibri" pitchFamily="34" charset="0"/>
                <a:ea typeface="Calibri" pitchFamily="34" charset="-122"/>
                <a:cs typeface="Calibri" pitchFamily="34" charset="-120"/>
              </a:rPr>
              <a:t>D1 · Keluarga binaan: triase dengan alasan tertulis</a:t>
            </a:r>
            <a:endParaRPr lang="en-US" sz="1050" dirty="0"/>
          </a:p>
        </p:txBody>
      </p:sp>
      <p:sp>
        <p:nvSpPr>
          <p:cNvPr id="15" name="Shape 10"/>
          <p:cNvSpPr/>
          <p:nvPr/>
        </p:nvSpPr>
        <p:spPr>
          <a:xfrm>
            <a:off x="7498080" y="1746504"/>
            <a:ext cx="4144975" cy="3135720"/>
          </a:xfrm>
          <a:prstGeom prst="roundRect">
            <a:avLst>
              <a:gd name="adj" fmla="val 2333"/>
            </a:avLst>
          </a:prstGeom>
          <a:solidFill>
            <a:srgbClr val="FFFFFF"/>
          </a:solidFill>
          <a:ln w="12700">
            <a:solidFill>
              <a:srgbClr val="A0DDD7"/>
            </a:solidFill>
            <a:prstDash val="solid"/>
          </a:ln>
        </p:spPr>
      </p:sp>
      <p:pic>
        <p:nvPicPr>
          <p:cNvPr id="16" name="Image 2" descr="C:\Users\mikae\AppData\Local\Temp\claude\C--Users-mikae-OneDrive-Documents-Lomba-IFEST-Nyambung\5a0b5d3c-f3f7-4cfd-b1e4-12368b2fb354\scratchpad\deck\img\c_d4.jpg">    </p:cNvPr>
          <p:cNvPicPr>
            <a:picLocks noChangeAspect="1"/>
          </p:cNvPicPr>
          <p:nvPr/>
        </p:nvPicPr>
        <p:blipFill>
          <a:blip r:embed="rId3"/>
          <a:stretch>
            <a:fillRect/>
          </a:stretch>
        </p:blipFill>
        <p:spPr>
          <a:xfrm>
            <a:off x="7534656" y="1783080"/>
            <a:ext cx="4071823" cy="3062568"/>
          </a:xfrm>
          <a:prstGeom prst="rect">
            <a:avLst/>
          </a:prstGeom>
        </p:spPr>
      </p:pic>
      <p:sp>
        <p:nvSpPr>
          <p:cNvPr id="17" name="Text 11"/>
          <p:cNvSpPr/>
          <p:nvPr/>
        </p:nvSpPr>
        <p:spPr>
          <a:xfrm>
            <a:off x="7498080" y="4937088"/>
            <a:ext cx="4144975" cy="256032"/>
          </a:xfrm>
          <a:prstGeom prst="rect">
            <a:avLst/>
          </a:prstGeom>
          <a:noFill/>
          <a:ln/>
        </p:spPr>
        <p:txBody>
          <a:bodyPr wrap="square" lIns="0" tIns="0" rIns="0" bIns="0" rtlCol="0" anchor="ctr"/>
          <a:lstStyle/>
          <a:p>
            <a:pPr indent="0" marL="0">
              <a:buNone/>
            </a:pPr>
            <a:r>
              <a:rPr lang="en-US" sz="1050" b="1" dirty="0">
                <a:solidFill>
                  <a:srgbClr val="026E65"/>
                </a:solidFill>
                <a:latin typeface="Calibri" pitchFamily="34" charset="0"/>
                <a:ea typeface="Calibri" pitchFamily="34" charset="-122"/>
                <a:cs typeface="Calibri" pitchFamily="34" charset="-120"/>
              </a:rPr>
              <a:t>D4 · Ringkasan dari rumah, tersusun sebelum sesi</a:t>
            </a:r>
            <a:endParaRPr lang="en-US" sz="1050" dirty="0"/>
          </a:p>
        </p:txBody>
      </p:sp>
      <p:sp>
        <p:nvSpPr>
          <p:cNvPr id="18" name="Text 12"/>
          <p:cNvSpPr/>
          <p:nvPr/>
        </p:nvSpPr>
        <p:spPr>
          <a:xfrm>
            <a:off x="548640" y="5394960"/>
            <a:ext cx="2743200" cy="420624"/>
          </a:xfrm>
          <a:prstGeom prst="roundRect">
            <a:avLst>
              <a:gd name="adj" fmla="val 50000"/>
            </a:avLst>
          </a:prstGeom>
          <a:solidFill>
            <a:srgbClr val="EDECFB"/>
          </a:solidFill>
          <a:ln>
            <a:solidFill>
              <a:srgbClr val="EDECFB"/>
            </a:solidFill>
          </a:ln>
        </p:spPr>
        <p:txBody>
          <a:bodyPr wrap="square" lIns="0" tIns="0" rIns="0" bIns="0" rtlCol="0" anchor="ctr"/>
          <a:lstStyle/>
          <a:p>
            <a:pPr algn="ctr" indent="0" marL="0">
              <a:buNone/>
            </a:pPr>
            <a:r>
              <a:rPr lang="en-US" sz="1100" b="1" dirty="0">
                <a:solidFill>
                  <a:srgbClr val="5B57A8"/>
                </a:solidFill>
                <a:latin typeface="Calibri" pitchFamily="34" charset="0"/>
                <a:ea typeface="Calibri" pitchFamily="34" charset="-122"/>
                <a:cs typeface="Calibri" pitchFamily="34" charset="-120"/>
              </a:rPr>
              <a:t>Terapis mengusulkan BERHENTI</a:t>
            </a:r>
            <a:endParaRPr lang="en-US" sz="1100" dirty="0"/>
          </a:p>
        </p:txBody>
      </p:sp>
      <p:sp>
        <p:nvSpPr>
          <p:cNvPr id="19" name="Text 13"/>
          <p:cNvSpPr/>
          <p:nvPr/>
        </p:nvSpPr>
        <p:spPr>
          <a:xfrm>
            <a:off x="3291840" y="5394960"/>
            <a:ext cx="329184" cy="420624"/>
          </a:xfrm>
          <a:prstGeom prst="rect">
            <a:avLst/>
          </a:prstGeom>
          <a:noFill/>
          <a:ln/>
        </p:spPr>
        <p:txBody>
          <a:bodyPr wrap="square" lIns="0" tIns="0" rIns="0" bIns="0" rtlCol="0" anchor="ctr"/>
          <a:lstStyle/>
          <a:p>
            <a:pPr algn="ctr" indent="0" marL="0">
              <a:buNone/>
            </a:pPr>
            <a:r>
              <a:rPr lang="en-US" sz="1600" b="1" dirty="0">
                <a:solidFill>
                  <a:srgbClr val="14B3A6"/>
                </a:solidFill>
                <a:latin typeface="Calibri" pitchFamily="34" charset="0"/>
                <a:ea typeface="Calibri" pitchFamily="34" charset="-122"/>
                <a:cs typeface="Calibri" pitchFamily="34" charset="-120"/>
              </a:rPr>
              <a:t>→</a:t>
            </a:r>
            <a:endParaRPr lang="en-US" sz="1600" dirty="0"/>
          </a:p>
        </p:txBody>
      </p:sp>
      <p:sp>
        <p:nvSpPr>
          <p:cNvPr id="20" name="Text 14"/>
          <p:cNvSpPr/>
          <p:nvPr/>
        </p:nvSpPr>
        <p:spPr>
          <a:xfrm>
            <a:off x="3621024" y="5394960"/>
            <a:ext cx="3337560" cy="420624"/>
          </a:xfrm>
          <a:prstGeom prst="roundRect">
            <a:avLst>
              <a:gd name="adj" fmla="val 50000"/>
            </a:avLst>
          </a:prstGeom>
          <a:solidFill>
            <a:srgbClr val="FDE1E2"/>
          </a:solidFill>
          <a:ln>
            <a:solidFill>
              <a:srgbClr val="FDE1E2"/>
            </a:solidFill>
          </a:ln>
        </p:spPr>
        <p:txBody>
          <a:bodyPr wrap="square" lIns="0" tIns="0" rIns="0" bIns="0" rtlCol="0" anchor="ctr"/>
          <a:lstStyle/>
          <a:p>
            <a:pPr algn="ctr" indent="0" marL="0">
              <a:buNone/>
            </a:pPr>
            <a:r>
              <a:rPr lang="en-US" sz="1100" b="1" dirty="0">
                <a:solidFill>
                  <a:srgbClr val="C23D42"/>
                </a:solidFill>
                <a:latin typeface="Calibri" pitchFamily="34" charset="0"/>
                <a:ea typeface="Calibri" pitchFamily="34" charset="-122"/>
                <a:cs typeface="Calibri" pitchFamily="34" charset="-120"/>
              </a:rPr>
              <a:t>Keluarga: Terima atau Tolak, tanpa alasan</a:t>
            </a:r>
            <a:endParaRPr lang="en-US" sz="1100" dirty="0"/>
          </a:p>
        </p:txBody>
      </p:sp>
      <p:sp>
        <p:nvSpPr>
          <p:cNvPr id="21" name="Text 15"/>
          <p:cNvSpPr/>
          <p:nvPr/>
        </p:nvSpPr>
        <p:spPr>
          <a:xfrm>
            <a:off x="6958584" y="5394960"/>
            <a:ext cx="329184" cy="420624"/>
          </a:xfrm>
          <a:prstGeom prst="rect">
            <a:avLst/>
          </a:prstGeom>
          <a:noFill/>
          <a:ln/>
        </p:spPr>
        <p:txBody>
          <a:bodyPr wrap="square" lIns="0" tIns="0" rIns="0" bIns="0" rtlCol="0" anchor="ctr"/>
          <a:lstStyle/>
          <a:p>
            <a:pPr algn="ctr" indent="0" marL="0">
              <a:buNone/>
            </a:pPr>
            <a:r>
              <a:rPr lang="en-US" sz="1600" b="1" dirty="0">
                <a:solidFill>
                  <a:srgbClr val="14B3A6"/>
                </a:solidFill>
                <a:latin typeface="Calibri" pitchFamily="34" charset="0"/>
                <a:ea typeface="Calibri" pitchFamily="34" charset="-122"/>
                <a:cs typeface="Calibri" pitchFamily="34" charset="-120"/>
              </a:rPr>
              <a:t>→</a:t>
            </a:r>
            <a:endParaRPr lang="en-US" sz="1600" dirty="0"/>
          </a:p>
        </p:txBody>
      </p:sp>
      <p:sp>
        <p:nvSpPr>
          <p:cNvPr id="22" name="Text 16"/>
          <p:cNvSpPr/>
          <p:nvPr/>
        </p:nvSpPr>
        <p:spPr>
          <a:xfrm>
            <a:off x="7287768" y="5394960"/>
            <a:ext cx="2743200" cy="420624"/>
          </a:xfrm>
          <a:prstGeom prst="roundRect">
            <a:avLst>
              <a:gd name="adj" fmla="val 50000"/>
            </a:avLst>
          </a:prstGeom>
          <a:solidFill>
            <a:srgbClr val="DFF6F3"/>
          </a:solidFill>
          <a:ln>
            <a:solidFill>
              <a:srgbClr val="DFF6F3"/>
            </a:solidFill>
          </a:ln>
        </p:spPr>
        <p:txBody>
          <a:bodyPr wrap="square" lIns="0" tIns="0" rIns="0" bIns="0" rtlCol="0" anchor="ctr"/>
          <a:lstStyle/>
          <a:p>
            <a:pPr algn="ctr" indent="0" marL="0">
              <a:buNone/>
            </a:pPr>
            <a:r>
              <a:rPr lang="en-US" sz="1100" b="1" dirty="0">
                <a:solidFill>
                  <a:srgbClr val="026E65"/>
                </a:solidFill>
                <a:latin typeface="Calibri" pitchFamily="34" charset="0"/>
                <a:ea typeface="Calibri" pitchFamily="34" charset="-122"/>
                <a:cs typeface="Calibri" pitchFamily="34" charset="-120"/>
              </a:rPr>
              <a:t>Jawaban kembali sebagai peristiwa</a:t>
            </a:r>
            <a:endParaRPr lang="en-US" sz="1100" dirty="0"/>
          </a:p>
        </p:txBody>
      </p:sp>
      <p:sp>
        <p:nvSpPr>
          <p:cNvPr id="23" name="Text 17"/>
          <p:cNvSpPr/>
          <p:nvPr/>
        </p:nvSpPr>
        <p:spPr>
          <a:xfrm>
            <a:off x="10259568" y="5394960"/>
            <a:ext cx="1383487" cy="420624"/>
          </a:xfrm>
          <a:prstGeom prst="roundRect">
            <a:avLst>
              <a:gd name="adj" fmla="val 50000"/>
            </a:avLst>
          </a:prstGeom>
          <a:solidFill>
            <a:srgbClr val="098277"/>
          </a:solidFill>
          <a:ln>
            <a:solidFill>
              <a:srgbClr val="098277"/>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Aturan + alasan + keputusan manusia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BASIS ILMIAH DAN VALIDASI</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Papannya berbasis bukti; validasi klinisnya kami jalankan bertahap</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10</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Kasari dkk. (2014), JAACAP · Millar, Light &amp; Schlosser (2006), JSLHR · Thistle dkk. (2018), AJSLP · Banajee dkk. (2003) · Hill &amp; Romich (2001). Tingkat: A uji acak/meta-analisis · B studi terbatas · C standar praktik · D asumsi tim.</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812280" cy="914400"/>
        </p:xfrm>
        <a:graphic>
          <a:graphicData uri="http://schemas.openxmlformats.org/drawingml/2006/table">
            <a:tbl>
              <a:tblPr/>
              <a:tblGrid>
                <a:gridCol w="2331720"/>
                <a:gridCol w="3749040"/>
                <a:gridCol w="731520"/>
              </a:tblGrid>
              <a:tr h="329184">
                <a:tc>
                  <a:txBody>
                    <a:bodyPr/>
                    <a:lstStyle/>
                    <a:p>
                      <a:pPr indent="0" marL="0">
                        <a:buNone/>
                      </a:pPr>
                      <a:r>
                        <a:rPr lang="en-US" sz="1100" b="1" dirty="0">
                          <a:solidFill>
                            <a:srgbClr val="52706D"/>
                          </a:solidFill>
                          <a:latin typeface="Calibri" pitchFamily="34" charset="0"/>
                          <a:ea typeface="Calibri" pitchFamily="34" charset="-122"/>
                          <a:cs typeface="Calibri" pitchFamily="34" charset="-120"/>
                        </a:rPr>
                        <a:t>Komponen</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c>
                  <a:txBody>
                    <a:bodyPr/>
                    <a:lstStyle/>
                    <a:p>
                      <a:pPr indent="0" marL="0">
                        <a:buNone/>
                      </a:pPr>
                      <a:r>
                        <a:rPr lang="en-US" sz="1100" b="1" dirty="0">
                          <a:solidFill>
                            <a:srgbClr val="52706D"/>
                          </a:solidFill>
                          <a:latin typeface="Calibri" pitchFamily="34" charset="0"/>
                          <a:ea typeface="Calibri" pitchFamily="34" charset="-122"/>
                          <a:cs typeface="Calibri" pitchFamily="34" charset="-120"/>
                        </a:rPr>
                        <a:t>Dasar</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c>
                  <a:txBody>
                    <a:bodyPr/>
                    <a:lstStyle/>
                    <a:p>
                      <a:pPr algn="ctr" indent="0" marL="0">
                        <a:buNone/>
                      </a:pPr>
                      <a:r>
                        <a:rPr lang="en-US" sz="1100" b="1" dirty="0">
                          <a:solidFill>
                            <a:srgbClr val="52706D"/>
                          </a:solidFill>
                          <a:latin typeface="Calibri" pitchFamily="34" charset="0"/>
                          <a:ea typeface="Calibri" pitchFamily="34" charset="-122"/>
                          <a:cs typeface="Calibri" pitchFamily="34" charset="-120"/>
                        </a:rPr>
                        <a:t>Tingkat</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r>
              <a:tr h="603504">
                <a:tc>
                  <a:txBody>
                    <a:bodyPr/>
                    <a:lstStyle/>
                    <a:p>
                      <a:pPr indent="0" marL="0">
                        <a:buNone/>
                      </a:pPr>
                      <a:r>
                        <a:rPr lang="en-US" sz="1100" b="1" dirty="0">
                          <a:solidFill>
                            <a:srgbClr val="172C2A"/>
                          </a:solidFill>
                          <a:latin typeface="Calibri" pitchFamily="34" charset="0"/>
                          <a:ea typeface="Calibri" pitchFamily="34" charset="-122"/>
                          <a:cs typeface="Calibri" pitchFamily="34" charset="-120"/>
                        </a:rPr>
                        <a:t>Papan elektronik untuk anak minimally verbal</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00" dirty="0">
                          <a:solidFill>
                            <a:srgbClr val="172C2A"/>
                          </a:solidFill>
                          <a:latin typeface="Calibri" pitchFamily="34" charset="0"/>
                          <a:ea typeface="Calibri" pitchFamily="34" charset="-122"/>
                          <a:cs typeface="Calibri" pitchFamily="34" charset="-120"/>
                        </a:rPr>
                        <a:t>Kasari 2014 (SMART, 61 anak): +19 ujaran komunikatif di pekan 12, +22 di pekan 24</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098277"/>
                    </a:solidFill>
                  </a:tcPr>
                </a:tc>
              </a:tr>
              <a:tr h="548640">
                <a:tc>
                  <a:txBody>
                    <a:bodyPr/>
                    <a:lstStyle/>
                    <a:p>
                      <a:pPr indent="0" marL="0">
                        <a:buNone/>
                      </a:pPr>
                      <a:r>
                        <a:rPr lang="en-US" sz="1100" b="1" dirty="0">
                          <a:solidFill>
                            <a:srgbClr val="172C2A"/>
                          </a:solidFill>
                          <a:latin typeface="Calibri" pitchFamily="34" charset="0"/>
                          <a:ea typeface="Calibri" pitchFamily="34" charset="-122"/>
                          <a:cs typeface="Calibri" pitchFamily="34" charset="-120"/>
                        </a:rPr>
                        <a:t>AAC tidak menghambat bicara</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00" dirty="0">
                          <a:solidFill>
                            <a:srgbClr val="172C2A"/>
                          </a:solidFill>
                          <a:latin typeface="Calibri" pitchFamily="34" charset="0"/>
                          <a:ea typeface="Calibri" pitchFamily="34" charset="-122"/>
                          <a:cs typeface="Calibri" pitchFamily="34" charset="-120"/>
                        </a:rPr>
                        <a:t>Millar 2006: tinjauan 23 studi; AAC tidak menghambat dan bisa menambah bicara</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26E65"/>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DFF6F3"/>
                    </a:solidFill>
                  </a:tcPr>
                </a:tc>
              </a:tr>
              <a:tr h="548640">
                <a:tc>
                  <a:txBody>
                    <a:bodyPr/>
                    <a:lstStyle/>
                    <a:p>
                      <a:pPr indent="0" marL="0">
                        <a:buNone/>
                      </a:pPr>
                      <a:r>
                        <a:rPr lang="en-US" sz="1100" b="1" dirty="0">
                          <a:solidFill>
                            <a:srgbClr val="172C2A"/>
                          </a:solidFill>
                          <a:latin typeface="Calibri" pitchFamily="34" charset="0"/>
                          <a:ea typeface="Calibri" pitchFamily="34" charset="-122"/>
                          <a:cs typeface="Calibri" pitchFamily="34" charset="-120"/>
                        </a:rPr>
                        <a:t>Posisi simbol tetap</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00" dirty="0">
                          <a:solidFill>
                            <a:srgbClr val="172C2A"/>
                          </a:solidFill>
                          <a:latin typeface="Calibri" pitchFamily="34" charset="0"/>
                          <a:ea typeface="Calibri" pitchFamily="34" charset="-122"/>
                          <a:cs typeface="Calibri" pitchFamily="34" charset="-120"/>
                        </a:rPr>
                        <a:t>Thistle 2018: 3,3 dtk vs 6,0 dtk menemukan simbol</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26E65"/>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DFF6F3"/>
                    </a:solidFill>
                  </a:tcPr>
                </a:tc>
              </a:tr>
              <a:tr h="548640">
                <a:tc>
                  <a:txBody>
                    <a:bodyPr/>
                    <a:lstStyle/>
                    <a:p>
                      <a:pPr indent="0" marL="0">
                        <a:buNone/>
                      </a:pPr>
                      <a:r>
                        <a:rPr lang="en-US" sz="1100" b="1" dirty="0">
                          <a:solidFill>
                            <a:srgbClr val="172C2A"/>
                          </a:solidFill>
                          <a:latin typeface="Calibri" pitchFamily="34" charset="0"/>
                          <a:ea typeface="Calibri" pitchFamily="34" charset="-122"/>
                          <a:cs typeface="Calibri" pitchFamily="34" charset="-120"/>
                        </a:rPr>
                        <a:t>12 kata inti</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00" dirty="0">
                          <a:solidFill>
                            <a:srgbClr val="172C2A"/>
                          </a:solidFill>
                          <a:latin typeface="Calibri" pitchFamily="34" charset="0"/>
                          <a:ea typeface="Calibri" pitchFamily="34" charset="-122"/>
                          <a:cs typeface="Calibri" pitchFamily="34" charset="-120"/>
                        </a:rPr>
                        <a:t>Banajee 2003 dan Project Core: 9 dari 12 kata</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26E65"/>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DFF6F3"/>
                    </a:solidFill>
                  </a:tcPr>
                </a:tc>
              </a:tr>
              <a:tr h="548640">
                <a:tc>
                  <a:txBody>
                    <a:bodyPr/>
                    <a:lstStyle/>
                    <a:p>
                      <a:pPr indent="0" marL="0">
                        <a:buNone/>
                      </a:pPr>
                      <a:r>
                        <a:rPr lang="en-US" sz="1100" b="1" dirty="0">
                          <a:solidFill>
                            <a:srgbClr val="172C2A"/>
                          </a:solidFill>
                          <a:latin typeface="Calibri" pitchFamily="34" charset="0"/>
                          <a:ea typeface="Calibri" pitchFamily="34" charset="-122"/>
                          <a:cs typeface="Calibri" pitchFamily="34" charset="-120"/>
                        </a:rPr>
                        <a:t>Pencatatan dari pemakaian</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00" dirty="0">
                          <a:solidFill>
                            <a:srgbClr val="172C2A"/>
                          </a:solidFill>
                          <a:latin typeface="Calibri" pitchFamily="34" charset="0"/>
                          <a:ea typeface="Calibri" pitchFamily="34" charset="-122"/>
                          <a:cs typeface="Calibri" pitchFamily="34" charset="-120"/>
                        </a:rPr>
                        <a:t>Hill &amp; Romich 2001, Language Activity Monitoring</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5B57A8"/>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DECFB"/>
                    </a:solidFill>
                  </a:tcPr>
                </a:tc>
              </a:tr>
              <a:tr h="548640">
                <a:tc>
                  <a:txBody>
                    <a:bodyPr/>
                    <a:lstStyle/>
                    <a:p>
                      <a:pPr indent="0" marL="0">
                        <a:buNone/>
                      </a:pPr>
                      <a:r>
                        <a:rPr lang="en-US" sz="1100" b="1" dirty="0">
                          <a:solidFill>
                            <a:srgbClr val="172C2A"/>
                          </a:solidFill>
                          <a:latin typeface="Calibri" pitchFamily="34" charset="0"/>
                          <a:ea typeface="Calibri" pitchFamily="34" charset="-122"/>
                          <a:cs typeface="Calibri" pitchFamily="34" charset="-120"/>
                        </a:rPr>
                        <a:t>Jendela "tanpa contoh" 60 detik</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00" dirty="0">
                          <a:solidFill>
                            <a:srgbClr val="172C2A"/>
                          </a:solidFill>
                          <a:latin typeface="Calibri" pitchFamily="34" charset="0"/>
                          <a:ea typeface="Calibri" pitchFamily="34" charset="-122"/>
                          <a:cs typeface="Calibri" pitchFamily="34" charset="-120"/>
                        </a:rPr>
                        <a:t>Definisi operasional tim, dikalibrasi bersama terapis di pilot</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8A5B0A"/>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64008" marR="64008" marT="64008" marB="64008"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DF0D2"/>
                    </a:solidFill>
                  </a:tcPr>
                </a:tc>
              </a:tr>
            </a:tbl>
          </a:graphicData>
        </a:graphic>
      </p:graphicFrame>
      <p:sp>
        <p:nvSpPr>
          <p:cNvPr id="13" name="Shape 8"/>
          <p:cNvSpPr/>
          <p:nvPr/>
        </p:nvSpPr>
        <p:spPr>
          <a:xfrm>
            <a:off x="7635240" y="1783080"/>
            <a:ext cx="4007815" cy="2487168"/>
          </a:xfrm>
          <a:prstGeom prst="roundRect">
            <a:avLst>
              <a:gd name="adj" fmla="val 5147"/>
            </a:avLst>
          </a:prstGeom>
          <a:solidFill>
            <a:srgbClr val="098277"/>
          </a:solidFill>
          <a:ln w="12700">
            <a:solidFill>
              <a:srgbClr val="098277"/>
            </a:solidFill>
            <a:prstDash val="solid"/>
          </a:ln>
        </p:spPr>
      </p:sp>
      <p:pic>
        <p:nvPicPr>
          <p:cNvPr id="14" name="Image 1" descr="preencoded.png">    </p:cNvPr>
          <p:cNvPicPr>
            <a:picLocks noChangeAspect="1"/>
          </p:cNvPicPr>
          <p:nvPr/>
        </p:nvPicPr>
        <p:blipFill>
          <a:blip r:embed="rId2"/>
          <a:stretch>
            <a:fillRect/>
          </a:stretch>
        </p:blipFill>
        <p:spPr>
          <a:xfrm>
            <a:off x="7863840" y="1938528"/>
            <a:ext cx="384048" cy="384048"/>
          </a:xfrm>
          <a:prstGeom prst="rect">
            <a:avLst/>
          </a:prstGeom>
        </p:spPr>
      </p:pic>
      <p:sp>
        <p:nvSpPr>
          <p:cNvPr id="15" name="Text 9"/>
          <p:cNvSpPr/>
          <p:nvPr/>
        </p:nvSpPr>
        <p:spPr>
          <a:xfrm>
            <a:off x="8366760" y="1993392"/>
            <a:ext cx="3093415" cy="274320"/>
          </a:xfrm>
          <a:prstGeom prst="rect">
            <a:avLst/>
          </a:prstGeom>
          <a:noFill/>
          <a:ln/>
        </p:spPr>
        <p:txBody>
          <a:bodyPr wrap="square" lIns="0" tIns="0" rIns="0" bIns="0" rtlCol="0" anchor="ctr"/>
          <a:lstStyle/>
          <a:p>
            <a:pPr indent="0" marL="0">
              <a:buNone/>
            </a:pPr>
            <a:r>
              <a:rPr lang="en-US" sz="1000" b="1" spc="150" kern="0" dirty="0">
                <a:solidFill>
                  <a:srgbClr val="A0DDD7"/>
                </a:solidFill>
                <a:latin typeface="Calibri" pitchFamily="34" charset="0"/>
                <a:ea typeface="Calibri" pitchFamily="34" charset="-122"/>
                <a:cs typeface="Calibri" pitchFamily="34" charset="-120"/>
              </a:rPr>
              <a:t>OPINI PRAKTISI</a:t>
            </a:r>
            <a:endParaRPr lang="en-US" sz="1000" dirty="0"/>
          </a:p>
        </p:txBody>
      </p:sp>
      <p:sp>
        <p:nvSpPr>
          <p:cNvPr id="16" name="Text 10"/>
          <p:cNvSpPr/>
          <p:nvPr/>
        </p:nvSpPr>
        <p:spPr>
          <a:xfrm>
            <a:off x="7863840" y="2395728"/>
            <a:ext cx="3550615" cy="1005840"/>
          </a:xfrm>
          <a:prstGeom prst="rect">
            <a:avLst/>
          </a:prstGeom>
          <a:noFill/>
          <a:ln/>
        </p:spPr>
        <p:txBody>
          <a:bodyPr wrap="square" lIns="0" tIns="0" rIns="0" bIns="0" rtlCol="0" anchor="t"/>
          <a:lstStyle/>
          <a:p>
            <a:pPr indent="0" marL="0">
              <a:buNone/>
            </a:pPr>
            <a:r>
              <a:rPr lang="en-US" sz="1400" b="1" i="1" dirty="0">
                <a:solidFill>
                  <a:srgbClr val="FFFFFF"/>
                </a:solidFill>
                <a:latin typeface="Trebuchet MS" pitchFamily="34" charset="0"/>
                <a:ea typeface="Trebuchet MS" pitchFamily="34" charset="-122"/>
                <a:cs typeface="Trebuchet MS" pitchFamily="34" charset="-120"/>
              </a:rPr>
              <a:t>"[Kutipan asli dari A, ≤ 25 kata. Isi sebelum tampil; jangan mengarang.]"</a:t>
            </a:r>
            <a:endParaRPr lang="en-US" sz="1400" dirty="0"/>
          </a:p>
        </p:txBody>
      </p:sp>
      <p:sp>
        <p:nvSpPr>
          <p:cNvPr id="17" name="Text 11"/>
          <p:cNvSpPr/>
          <p:nvPr/>
        </p:nvSpPr>
        <p:spPr>
          <a:xfrm>
            <a:off x="7863840" y="3474720"/>
            <a:ext cx="3550615" cy="6858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[Nama A]</a:t>
            </a:r>
            <a:endParaRPr lang="en-US" sz="1100" dirty="0"/>
          </a:p>
          <a:p>
            <a:pPr indent="0" marL="0">
              <a:buNone/>
            </a:pPr>
            <a:r>
              <a:rPr lang="en-US" sz="1100" dirty="0">
                <a:solidFill>
                  <a:srgbClr val="DFF6F3"/>
                </a:solidFill>
                <a:latin typeface="Calibri" pitchFamily="34" charset="0"/>
                <a:ea typeface="Calibri" pitchFamily="34" charset="-122"/>
                <a:cs typeface="Calibri" pitchFamily="34" charset="-120"/>
              </a:rPr>
              <a:t>Ketua Umum FORMAPI Universitas Brawijaya · pendamping anak berkebutuhan khusus</a:t>
            </a:r>
            <a:endParaRPr lang="en-US" sz="1100" dirty="0"/>
          </a:p>
        </p:txBody>
      </p:sp>
      <p:sp>
        <p:nvSpPr>
          <p:cNvPr id="18" name="Shape 12"/>
          <p:cNvSpPr/>
          <p:nvPr/>
        </p:nvSpPr>
        <p:spPr>
          <a:xfrm>
            <a:off x="7635240" y="4407408"/>
            <a:ext cx="4007815" cy="1536192"/>
          </a:xfrm>
          <a:prstGeom prst="roundRect">
            <a:avLst>
              <a:gd name="adj" fmla="val 7143"/>
            </a:avLst>
          </a:prstGeom>
          <a:solidFill>
            <a:srgbClr val="FFFFFF"/>
          </a:solidFill>
          <a:ln w="9525">
            <a:solidFill>
              <a:srgbClr val="DCEEEC"/>
            </a:solidFill>
            <a:prstDash val="solid"/>
          </a:ln>
        </p:spPr>
      </p:sp>
      <p:sp>
        <p:nvSpPr>
          <p:cNvPr id="19" name="Text 13"/>
          <p:cNvSpPr/>
          <p:nvPr/>
        </p:nvSpPr>
        <p:spPr>
          <a:xfrm>
            <a:off x="7836408" y="4480560"/>
            <a:ext cx="3642055" cy="237744"/>
          </a:xfrm>
          <a:prstGeom prst="rect">
            <a:avLst/>
          </a:prstGeom>
          <a:noFill/>
          <a:ln/>
        </p:spPr>
        <p:txBody>
          <a:bodyPr wrap="square" lIns="0" tIns="0" rIns="0" bIns="0" rtlCol="0" anchor="ctr"/>
          <a:lstStyle/>
          <a:p>
            <a:pPr indent="0" marL="0">
              <a:buNone/>
            </a:pPr>
            <a:r>
              <a:rPr lang="en-US" sz="1000" b="1" spc="150" kern="0" dirty="0">
                <a:solidFill>
                  <a:srgbClr val="026E65"/>
                </a:solidFill>
                <a:latin typeface="Calibri" pitchFamily="34" charset="0"/>
                <a:ea typeface="Calibri" pitchFamily="34" charset="-122"/>
                <a:cs typeface="Calibri" pitchFamily="34" charset="-120"/>
              </a:rPr>
              <a:t>TANGGA VALIDASI</a:t>
            </a:r>
            <a:endParaRPr lang="en-US" sz="1000" dirty="0"/>
          </a:p>
        </p:txBody>
      </p:sp>
      <p:sp>
        <p:nvSpPr>
          <p:cNvPr id="20" name="Text 14"/>
          <p:cNvSpPr/>
          <p:nvPr/>
        </p:nvSpPr>
        <p:spPr>
          <a:xfrm>
            <a:off x="7836408" y="4754880"/>
            <a:ext cx="274320" cy="329184"/>
          </a:xfrm>
          <a:prstGeom prst="rect">
            <a:avLst/>
          </a:prstGeom>
          <a:noFill/>
          <a:ln/>
        </p:spPr>
        <p:txBody>
          <a:bodyPr wrap="square" lIns="0" tIns="0" rIns="0" bIns="0" rtlCol="0" anchor="ctr"/>
          <a:lstStyle/>
          <a:p>
            <a:pPr indent="0" marL="0">
              <a:buNone/>
            </a:pPr>
            <a:r>
              <a:rPr lang="en-US" sz="1300" b="1" dirty="0">
                <a:solidFill>
                  <a:srgbClr val="098277"/>
                </a:solidFill>
                <a:latin typeface="Calibri" pitchFamily="34" charset="0"/>
                <a:ea typeface="Calibri" pitchFamily="34" charset="-122"/>
                <a:cs typeface="Calibri" pitchFamily="34" charset="-120"/>
              </a:rPr>
              <a:t>✓</a:t>
            </a:r>
            <a:endParaRPr lang="en-US" sz="1300" dirty="0"/>
          </a:p>
        </p:txBody>
      </p:sp>
      <p:sp>
        <p:nvSpPr>
          <p:cNvPr id="21" name="Text 15"/>
          <p:cNvSpPr/>
          <p:nvPr/>
        </p:nvSpPr>
        <p:spPr>
          <a:xfrm>
            <a:off x="8110728" y="4754880"/>
            <a:ext cx="3349447" cy="329184"/>
          </a:xfrm>
          <a:prstGeom prst="rect">
            <a:avLst/>
          </a:prstGeom>
          <a:noFill/>
          <a:ln/>
        </p:spPr>
        <p:txBody>
          <a:bodyPr wrap="square" lIns="0" tIns="0" rIns="0" bIns="0" rtlCol="0" anchor="ctr"/>
          <a:lstStyle/>
          <a:p>
            <a:pPr indent="0" marL="0">
              <a:buNone/>
            </a:pPr>
            <a:r>
              <a:rPr lang="en-US" sz="1100" dirty="0">
                <a:solidFill>
                  <a:srgbClr val="172C2A"/>
                </a:solidFill>
                <a:latin typeface="Calibri" pitchFamily="34" charset="0"/>
                <a:ea typeface="Calibri" pitchFamily="34" charset="-122"/>
                <a:cs typeface="Calibri" pitchFamily="34" charset="-120"/>
              </a:rPr>
              <a:t>Literatur, dengan alasan tertulis per kata</a:t>
            </a:r>
            <a:endParaRPr lang="en-US" sz="1100" dirty="0"/>
          </a:p>
        </p:txBody>
      </p:sp>
      <p:sp>
        <p:nvSpPr>
          <p:cNvPr id="22" name="Text 16"/>
          <p:cNvSpPr/>
          <p:nvPr/>
        </p:nvSpPr>
        <p:spPr>
          <a:xfrm>
            <a:off x="7836408" y="5120640"/>
            <a:ext cx="274320" cy="329184"/>
          </a:xfrm>
          <a:prstGeom prst="rect">
            <a:avLst/>
          </a:prstGeom>
          <a:noFill/>
          <a:ln/>
        </p:spPr>
        <p:txBody>
          <a:bodyPr wrap="square" lIns="0" tIns="0" rIns="0" bIns="0" rtlCol="0" anchor="ctr"/>
          <a:lstStyle/>
          <a:p>
            <a:pPr indent="0" marL="0">
              <a:buNone/>
            </a:pPr>
            <a:r>
              <a:rPr lang="en-US" sz="1300" b="1" dirty="0">
                <a:solidFill>
                  <a:srgbClr val="098277"/>
                </a:solidFill>
                <a:latin typeface="Calibri" pitchFamily="34" charset="0"/>
                <a:ea typeface="Calibri" pitchFamily="34" charset="-122"/>
                <a:cs typeface="Calibri" pitchFamily="34" charset="-120"/>
              </a:rPr>
              <a:t>✓</a:t>
            </a:r>
            <a:endParaRPr lang="en-US" sz="1300" dirty="0"/>
          </a:p>
        </p:txBody>
      </p:sp>
      <p:sp>
        <p:nvSpPr>
          <p:cNvPr id="23" name="Text 17"/>
          <p:cNvSpPr/>
          <p:nvPr/>
        </p:nvSpPr>
        <p:spPr>
          <a:xfrm>
            <a:off x="8110728" y="5120640"/>
            <a:ext cx="3349447" cy="329184"/>
          </a:xfrm>
          <a:prstGeom prst="rect">
            <a:avLst/>
          </a:prstGeom>
          <a:noFill/>
          <a:ln/>
        </p:spPr>
        <p:txBody>
          <a:bodyPr wrap="square" lIns="0" tIns="0" rIns="0" bIns="0" rtlCol="0" anchor="ctr"/>
          <a:lstStyle/>
          <a:p>
            <a:pPr indent="0" marL="0">
              <a:buNone/>
            </a:pPr>
            <a:r>
              <a:rPr lang="en-US" sz="1100" dirty="0">
                <a:solidFill>
                  <a:srgbClr val="172C2A"/>
                </a:solidFill>
                <a:latin typeface="Calibri" pitchFamily="34" charset="0"/>
                <a:ea typeface="Calibri" pitchFamily="34" charset="-122"/>
                <a:cs typeface="Calibri" pitchFamily="34" charset="-120"/>
              </a:rPr>
              <a:t>Konsultasi FORMAPI UB: pemilihan kata dan alur pendampingan</a:t>
            </a:r>
            <a:endParaRPr lang="en-US" sz="1100" dirty="0"/>
          </a:p>
        </p:txBody>
      </p:sp>
      <p:sp>
        <p:nvSpPr>
          <p:cNvPr id="24" name="Text 18"/>
          <p:cNvSpPr/>
          <p:nvPr/>
        </p:nvSpPr>
        <p:spPr>
          <a:xfrm>
            <a:off x="7836408" y="5486400"/>
            <a:ext cx="274320" cy="329184"/>
          </a:xfrm>
          <a:prstGeom prst="rect">
            <a:avLst/>
          </a:prstGeom>
          <a:noFill/>
          <a:ln/>
        </p:spPr>
        <p:txBody>
          <a:bodyPr wrap="square" lIns="0" tIns="0" rIns="0" bIns="0" rtlCol="0" anchor="ctr"/>
          <a:lstStyle/>
          <a:p>
            <a:pPr indent="0" marL="0">
              <a:buNone/>
            </a:pPr>
            <a:r>
              <a:rPr lang="en-US" sz="1300" b="1" dirty="0">
                <a:solidFill>
                  <a:srgbClr val="8A5B0A"/>
                </a:solidFill>
                <a:latin typeface="Calibri" pitchFamily="34" charset="0"/>
                <a:ea typeface="Calibri" pitchFamily="34" charset="-122"/>
                <a:cs typeface="Calibri" pitchFamily="34" charset="-120"/>
              </a:rPr>
              <a:t>→</a:t>
            </a:r>
            <a:endParaRPr lang="en-US" sz="1300" dirty="0"/>
          </a:p>
        </p:txBody>
      </p:sp>
      <p:sp>
        <p:nvSpPr>
          <p:cNvPr id="25" name="Text 19"/>
          <p:cNvSpPr/>
          <p:nvPr/>
        </p:nvSpPr>
        <p:spPr>
          <a:xfrm>
            <a:off x="8110728" y="5486400"/>
            <a:ext cx="3349447" cy="329184"/>
          </a:xfrm>
          <a:prstGeom prst="rect">
            <a:avLst/>
          </a:prstGeom>
          <a:noFill/>
          <a:ln/>
        </p:spPr>
        <p:txBody>
          <a:bodyPr wrap="square" lIns="0" tIns="0" rIns="0" bIns="0" rtlCol="0" anchor="ctr"/>
          <a:lstStyle/>
          <a:p>
            <a:pPr indent="0" marL="0">
              <a:buNone/>
            </a:pPr>
            <a:r>
              <a:rPr lang="en-US" sz="1100" dirty="0">
                <a:solidFill>
                  <a:srgbClr val="172C2A"/>
                </a:solidFill>
                <a:latin typeface="Calibri" pitchFamily="34" charset="0"/>
                <a:ea typeface="Calibri" pitchFamily="34" charset="-122"/>
                <a:cs typeface="Calibri" pitchFamily="34" charset="-120"/>
              </a:rPr>
              <a:t>Validasi klinis bersama terapis wicara: pilot 6 pekan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KELAYAKAN</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Layak dipilotkan: sudah berjalan, ringan, dan nol biaya bagi keluarga</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11</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Ukuran APK &amp; jeda suara: README (emulator 2 GB, belum HP fisik). Biaya klip suara: PERUBAHAN.md entri 3. *Estimasi harga VPS kecil, belum termasuk domain &amp; sertifikat HTTPS.</a:t>
            </a:r>
            <a:endParaRPr lang="en-US" sz="850" dirty="0"/>
          </a:p>
        </p:txBody>
      </p:sp>
      <p:sp>
        <p:nvSpPr>
          <p:cNvPr id="12" name="Shape 8"/>
          <p:cNvSpPr/>
          <p:nvPr/>
        </p:nvSpPr>
        <p:spPr>
          <a:xfrm>
            <a:off x="548640" y="1783080"/>
            <a:ext cx="3545738" cy="3657600"/>
          </a:xfrm>
          <a:prstGeom prst="roundRect">
            <a:avLst>
              <a:gd name="adj" fmla="val 3095"/>
            </a:avLst>
          </a:prstGeom>
          <a:solidFill>
            <a:srgbClr val="FFFFFF"/>
          </a:solidFill>
          <a:ln w="9525">
            <a:solidFill>
              <a:srgbClr val="DCEEEC"/>
            </a:solidFill>
            <a:prstDash val="solid"/>
          </a:ln>
        </p:spPr>
      </p:sp>
      <p:sp>
        <p:nvSpPr>
          <p:cNvPr id="13" name="Text 9"/>
          <p:cNvSpPr/>
          <p:nvPr/>
        </p:nvSpPr>
        <p:spPr>
          <a:xfrm>
            <a:off x="749808" y="1892808"/>
            <a:ext cx="3179978" cy="237744"/>
          </a:xfrm>
          <a:prstGeom prst="rect">
            <a:avLst/>
          </a:prstGeom>
          <a:noFill/>
          <a:ln/>
        </p:spPr>
        <p:txBody>
          <a:bodyPr wrap="square" lIns="0" tIns="0" rIns="0" bIns="0" rtlCol="0" anchor="ctr"/>
          <a:lstStyle/>
          <a:p>
            <a:pPr indent="0" marL="0">
              <a:buNone/>
            </a:pPr>
            <a:r>
              <a:rPr lang="en-US" sz="1000" b="1" spc="120" kern="0" dirty="0">
                <a:solidFill>
                  <a:srgbClr val="026E65"/>
                </a:solidFill>
                <a:latin typeface="Calibri" pitchFamily="34" charset="0"/>
                <a:ea typeface="Calibri" pitchFamily="34" charset="-122"/>
                <a:cs typeface="Calibri" pitchFamily="34" charset="-120"/>
              </a:rPr>
              <a:t>TEKNIS · TERBANGUN DALAM 24 JAM</a:t>
            </a:r>
            <a:endParaRPr lang="en-US" sz="1000" dirty="0"/>
          </a:p>
        </p:txBody>
      </p:sp>
      <p:sp>
        <p:nvSpPr>
          <p:cNvPr id="14" name="Text 10"/>
          <p:cNvSpPr/>
          <p:nvPr/>
        </p:nvSpPr>
        <p:spPr>
          <a:xfrm>
            <a:off x="749808" y="2240280"/>
            <a:ext cx="1571701" cy="548640"/>
          </a:xfrm>
          <a:prstGeom prst="rect">
            <a:avLst/>
          </a:prstGeom>
          <a:noFill/>
          <a:ln/>
        </p:spPr>
        <p:txBody>
          <a:bodyPr wrap="square" lIns="0" tIns="0" rIns="0" bIns="0" rtlCol="0" anchor="b"/>
          <a:lstStyle/>
          <a:p>
            <a:pPr indent="0" marL="0">
              <a:buNone/>
            </a:pPr>
            <a:r>
              <a:rPr lang="en-US" sz="2400" b="1" dirty="0">
                <a:solidFill>
                  <a:srgbClr val="098277"/>
                </a:solidFill>
                <a:latin typeface="Trebuchet MS" pitchFamily="34" charset="0"/>
                <a:ea typeface="Trebuchet MS" pitchFamily="34" charset="-122"/>
                <a:cs typeface="Trebuchet MS" pitchFamily="34" charset="-120"/>
              </a:rPr>
              <a:t>18,2 MB</a:t>
            </a:r>
            <a:endParaRPr lang="en-US" sz="2400" dirty="0"/>
          </a:p>
        </p:txBody>
      </p:sp>
      <p:sp>
        <p:nvSpPr>
          <p:cNvPr id="15" name="Text 11"/>
          <p:cNvSpPr/>
          <p:nvPr/>
        </p:nvSpPr>
        <p:spPr>
          <a:xfrm>
            <a:off x="749808" y="2788920"/>
            <a:ext cx="1544269" cy="45720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APK rilis (armeabi-v7a)</a:t>
            </a:r>
            <a:endParaRPr lang="en-US" sz="1050" dirty="0"/>
          </a:p>
        </p:txBody>
      </p:sp>
      <p:sp>
        <p:nvSpPr>
          <p:cNvPr id="16" name="Text 12"/>
          <p:cNvSpPr/>
          <p:nvPr/>
        </p:nvSpPr>
        <p:spPr>
          <a:xfrm>
            <a:off x="2321509" y="2240280"/>
            <a:ext cx="1571701" cy="548640"/>
          </a:xfrm>
          <a:prstGeom prst="rect">
            <a:avLst/>
          </a:prstGeom>
          <a:noFill/>
          <a:ln/>
        </p:spPr>
        <p:txBody>
          <a:bodyPr wrap="square" lIns="0" tIns="0" rIns="0" bIns="0" rtlCol="0" anchor="b"/>
          <a:lstStyle/>
          <a:p>
            <a:pPr indent="0" marL="0">
              <a:buNone/>
            </a:pPr>
            <a:r>
              <a:rPr lang="en-US" sz="2400" b="1" dirty="0">
                <a:solidFill>
                  <a:srgbClr val="098277"/>
                </a:solidFill>
                <a:latin typeface="Trebuchet MS" pitchFamily="34" charset="0"/>
                <a:ea typeface="Trebuchet MS" pitchFamily="34" charset="-122"/>
                <a:cs typeface="Trebuchet MS" pitchFamily="34" charset="-120"/>
              </a:rPr>
              <a:t>Android 8</a:t>
            </a:r>
            <a:endParaRPr lang="en-US" sz="2400" dirty="0"/>
          </a:p>
        </p:txBody>
      </p:sp>
      <p:sp>
        <p:nvSpPr>
          <p:cNvPr id="17" name="Text 13"/>
          <p:cNvSpPr/>
          <p:nvPr/>
        </p:nvSpPr>
        <p:spPr>
          <a:xfrm>
            <a:off x="2321509" y="2788920"/>
            <a:ext cx="1544269" cy="45720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RAM 2 GB, layar 7 inci</a:t>
            </a:r>
            <a:endParaRPr lang="en-US" sz="1050" dirty="0"/>
          </a:p>
        </p:txBody>
      </p:sp>
      <p:sp>
        <p:nvSpPr>
          <p:cNvPr id="18" name="Text 14"/>
          <p:cNvSpPr/>
          <p:nvPr/>
        </p:nvSpPr>
        <p:spPr>
          <a:xfrm>
            <a:off x="749808" y="3337560"/>
            <a:ext cx="1571701" cy="548640"/>
          </a:xfrm>
          <a:prstGeom prst="rect">
            <a:avLst/>
          </a:prstGeom>
          <a:noFill/>
          <a:ln/>
        </p:spPr>
        <p:txBody>
          <a:bodyPr wrap="square" lIns="0" tIns="0" rIns="0" bIns="0" rtlCol="0" anchor="b"/>
          <a:lstStyle/>
          <a:p>
            <a:pPr indent="0" marL="0">
              <a:buNone/>
            </a:pPr>
            <a:r>
              <a:rPr lang="en-US" sz="2400" b="1" dirty="0">
                <a:solidFill>
                  <a:srgbClr val="098277"/>
                </a:solidFill>
                <a:latin typeface="Trebuchet MS" pitchFamily="34" charset="0"/>
                <a:ea typeface="Trebuchet MS" pitchFamily="34" charset="-122"/>
                <a:cs typeface="Trebuchet MS" pitchFamily="34" charset="-120"/>
              </a:rPr>
              <a:t>78</a:t>
            </a:r>
            <a:endParaRPr lang="en-US" sz="2400" dirty="0"/>
          </a:p>
        </p:txBody>
      </p:sp>
      <p:sp>
        <p:nvSpPr>
          <p:cNvPr id="19" name="Text 15"/>
          <p:cNvSpPr/>
          <p:nvPr/>
        </p:nvSpPr>
        <p:spPr>
          <a:xfrm>
            <a:off x="749808" y="3886200"/>
            <a:ext cx="1544269" cy="45720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tes otomatis lulus</a:t>
            </a:r>
            <a:endParaRPr lang="en-US" sz="1050" dirty="0"/>
          </a:p>
        </p:txBody>
      </p:sp>
      <p:sp>
        <p:nvSpPr>
          <p:cNvPr id="20" name="Text 16"/>
          <p:cNvSpPr/>
          <p:nvPr/>
        </p:nvSpPr>
        <p:spPr>
          <a:xfrm>
            <a:off x="2321509" y="3337560"/>
            <a:ext cx="1571701" cy="548640"/>
          </a:xfrm>
          <a:prstGeom prst="rect">
            <a:avLst/>
          </a:prstGeom>
          <a:noFill/>
          <a:ln/>
        </p:spPr>
        <p:txBody>
          <a:bodyPr wrap="square" lIns="0" tIns="0" rIns="0" bIns="0" rtlCol="0" anchor="b"/>
          <a:lstStyle/>
          <a:p>
            <a:pPr indent="0" marL="0">
              <a:buNone/>
            </a:pPr>
            <a:r>
              <a:rPr lang="en-US" sz="2400" b="1" dirty="0">
                <a:solidFill>
                  <a:srgbClr val="098277"/>
                </a:solidFill>
                <a:latin typeface="Trebuchet MS" pitchFamily="34" charset="0"/>
                <a:ea typeface="Trebuchet MS" pitchFamily="34" charset="-122"/>
                <a:cs typeface="Trebuchet MS" pitchFamily="34" charset="-120"/>
              </a:rPr>
              <a:t>21 ms</a:t>
            </a:r>
            <a:endParaRPr lang="en-US" sz="2400" dirty="0"/>
          </a:p>
        </p:txBody>
      </p:sp>
      <p:sp>
        <p:nvSpPr>
          <p:cNvPr id="21" name="Text 17"/>
          <p:cNvSpPr/>
          <p:nvPr/>
        </p:nvSpPr>
        <p:spPr>
          <a:xfrm>
            <a:off x="2321509" y="3886200"/>
            <a:ext cx="1544269" cy="45720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jeda ketukan → suara*</a:t>
            </a:r>
            <a:endParaRPr lang="en-US" sz="1050" dirty="0"/>
          </a:p>
        </p:txBody>
      </p:sp>
      <p:sp>
        <p:nvSpPr>
          <p:cNvPr id="22" name="Text 18"/>
          <p:cNvSpPr/>
          <p:nvPr/>
        </p:nvSpPr>
        <p:spPr>
          <a:xfrm>
            <a:off x="749808" y="4434840"/>
            <a:ext cx="3179978" cy="201168"/>
          </a:xfrm>
          <a:prstGeom prst="rect">
            <a:avLst/>
          </a:prstGeom>
          <a:noFill/>
          <a:ln/>
        </p:spPr>
        <p:txBody>
          <a:bodyPr wrap="square" lIns="0" tIns="0" rIns="0" bIns="0" rtlCol="0" anchor="ctr"/>
          <a:lstStyle/>
          <a:p>
            <a:pPr indent="0" marL="0">
              <a:buNone/>
            </a:pPr>
            <a:r>
              <a:rPr lang="en-US" sz="850" i="1" dirty="0">
                <a:solidFill>
                  <a:srgbClr val="52706D"/>
                </a:solidFill>
                <a:latin typeface="Calibri" pitchFamily="34" charset="0"/>
                <a:ea typeface="Calibri" pitchFamily="34" charset="-122"/>
                <a:cs typeface="Calibri" pitchFamily="34" charset="-120"/>
              </a:rPr>
              <a:t>*median di emulator 2 GB / 2 inti</a:t>
            </a:r>
            <a:endParaRPr lang="en-US" sz="850" dirty="0"/>
          </a:p>
        </p:txBody>
      </p:sp>
      <p:sp>
        <p:nvSpPr>
          <p:cNvPr id="23" name="Text 19"/>
          <p:cNvSpPr/>
          <p:nvPr/>
        </p:nvSpPr>
        <p:spPr>
          <a:xfrm>
            <a:off x="731520" y="4690872"/>
            <a:ext cx="3179978" cy="585216"/>
          </a:xfrm>
          <a:prstGeom prst="roundRect">
            <a:avLst>
              <a:gd name="adj" fmla="val 12500"/>
            </a:avLst>
          </a:prstGeom>
          <a:solidFill>
            <a:srgbClr val="DFF6F3"/>
          </a:solidFill>
          <a:ln>
            <a:solidFill>
              <a:srgbClr val="DFF6F3"/>
            </a:solidFill>
          </a:ln>
        </p:spPr>
        <p:txBody>
          <a:bodyPr wrap="square" lIns="76200" tIns="76200" rIns="76200" bIns="76200" rtlCol="0" anchor="ctr"/>
          <a:lstStyle/>
          <a:p>
            <a:pPr indent="0" marL="0">
              <a:buNone/>
            </a:pPr>
            <a:r>
              <a:rPr lang="en-US" sz="1050" b="1" dirty="0">
                <a:solidFill>
                  <a:srgbClr val="172C2A"/>
                </a:solidFill>
                <a:latin typeface="Calibri" pitchFamily="34" charset="0"/>
                <a:ea typeface="Calibri" pitchFamily="34" charset="-122"/>
                <a:cs typeface="Calibri" pitchFamily="34" charset="-120"/>
              </a:rPr>
              <a:t>16 perubahan dari proposal </a:t>
            </a:r>
            <a:pPr indent="0" marL="0">
              <a:buNone/>
            </a:pPr>
            <a:r>
              <a:rPr lang="en-US" sz="1050" dirty="0">
                <a:solidFill>
                  <a:srgbClr val="172C2A"/>
                </a:solidFill>
                <a:latin typeface="Calibri" pitchFamily="34" charset="0"/>
                <a:ea typeface="Calibri" pitchFamily="34" charset="-122"/>
                <a:cs typeface="Calibri" pitchFamily="34" charset="-120"/>
              </a:rPr>
              <a:t>tercatat beserta alasannya di PERUBAHAN.md</a:t>
            </a:r>
            <a:endParaRPr lang="en-US" sz="1050" dirty="0"/>
          </a:p>
        </p:txBody>
      </p:sp>
      <p:sp>
        <p:nvSpPr>
          <p:cNvPr id="24" name="Shape 20"/>
          <p:cNvSpPr/>
          <p:nvPr/>
        </p:nvSpPr>
        <p:spPr>
          <a:xfrm>
            <a:off x="4322978" y="1783080"/>
            <a:ext cx="3545738" cy="3657600"/>
          </a:xfrm>
          <a:prstGeom prst="roundRect">
            <a:avLst>
              <a:gd name="adj" fmla="val 3095"/>
            </a:avLst>
          </a:prstGeom>
          <a:solidFill>
            <a:srgbClr val="FFFFFF"/>
          </a:solidFill>
          <a:ln w="9525">
            <a:solidFill>
              <a:srgbClr val="DCEEEC"/>
            </a:solidFill>
            <a:prstDash val="solid"/>
          </a:ln>
        </p:spPr>
      </p:sp>
      <p:sp>
        <p:nvSpPr>
          <p:cNvPr id="25" name="Text 21"/>
          <p:cNvSpPr/>
          <p:nvPr/>
        </p:nvSpPr>
        <p:spPr>
          <a:xfrm>
            <a:off x="4524146" y="1892808"/>
            <a:ext cx="3179978" cy="237744"/>
          </a:xfrm>
          <a:prstGeom prst="rect">
            <a:avLst/>
          </a:prstGeom>
          <a:noFill/>
          <a:ln/>
        </p:spPr>
        <p:txBody>
          <a:bodyPr wrap="square" lIns="0" tIns="0" rIns="0" bIns="0" rtlCol="0" anchor="ctr"/>
          <a:lstStyle/>
          <a:p>
            <a:pPr indent="0" marL="0">
              <a:buNone/>
            </a:pPr>
            <a:r>
              <a:rPr lang="en-US" sz="1000" b="1" spc="120" kern="0" dirty="0">
                <a:solidFill>
                  <a:srgbClr val="026E65"/>
                </a:solidFill>
                <a:latin typeface="Calibri" pitchFamily="34" charset="0"/>
                <a:ea typeface="Calibri" pitchFamily="34" charset="-122"/>
                <a:cs typeface="Calibri" pitchFamily="34" charset="-120"/>
              </a:rPr>
              <a:t>BIAYA</a:t>
            </a:r>
            <a:endParaRPr lang="en-US" sz="1000" dirty="0"/>
          </a:p>
        </p:txBody>
      </p:sp>
      <p:sp>
        <p:nvSpPr>
          <p:cNvPr id="26" name="Text 22"/>
          <p:cNvSpPr/>
          <p:nvPr/>
        </p:nvSpPr>
        <p:spPr>
          <a:xfrm>
            <a:off x="4524146" y="2240280"/>
            <a:ext cx="1463040" cy="274320"/>
          </a:xfrm>
          <a:prstGeom prst="rect">
            <a:avLst/>
          </a:prstGeom>
          <a:noFill/>
          <a:ln/>
        </p:spPr>
        <p:txBody>
          <a:bodyPr wrap="square" lIns="0" tIns="0" rIns="0" bIns="0" rtlCol="0" anchor="ctr"/>
          <a:lstStyle/>
          <a:p>
            <a:pPr indent="0" marL="0">
              <a:buNone/>
            </a:pPr>
            <a:r>
              <a:rPr lang="en-US" sz="1150" b="1" dirty="0">
                <a:solidFill>
                  <a:srgbClr val="172C2A"/>
                </a:solidFill>
                <a:latin typeface="Calibri" pitchFamily="34" charset="0"/>
                <a:ea typeface="Calibri" pitchFamily="34" charset="-122"/>
                <a:cs typeface="Calibri" pitchFamily="34" charset="-120"/>
              </a:rPr>
              <a:t>Keluarga</a:t>
            </a:r>
            <a:endParaRPr lang="en-US" sz="1150" dirty="0"/>
          </a:p>
        </p:txBody>
      </p:sp>
      <p:sp>
        <p:nvSpPr>
          <p:cNvPr id="27" name="Text 23"/>
          <p:cNvSpPr/>
          <p:nvPr/>
        </p:nvSpPr>
        <p:spPr>
          <a:xfrm>
            <a:off x="5877458" y="2240280"/>
            <a:ext cx="1790090" cy="274320"/>
          </a:xfrm>
          <a:prstGeom prst="rect">
            <a:avLst/>
          </a:prstGeom>
          <a:noFill/>
          <a:ln/>
        </p:spPr>
        <p:txBody>
          <a:bodyPr wrap="square" lIns="0" tIns="0" rIns="0" bIns="0" rtlCol="0" anchor="ctr"/>
          <a:lstStyle/>
          <a:p>
            <a:pPr algn="r" indent="0" marL="0">
              <a:buNone/>
            </a:pPr>
            <a:r>
              <a:rPr lang="en-US" sz="1300" b="1" dirty="0">
                <a:solidFill>
                  <a:srgbClr val="C23D42"/>
                </a:solidFill>
                <a:latin typeface="Trebuchet MS" pitchFamily="34" charset="0"/>
                <a:ea typeface="Trebuchet MS" pitchFamily="34" charset="-122"/>
                <a:cs typeface="Trebuchet MS" pitchFamily="34" charset="-120"/>
              </a:rPr>
              <a:t>Rp0</a:t>
            </a:r>
            <a:endParaRPr lang="en-US" sz="1300" dirty="0"/>
          </a:p>
        </p:txBody>
      </p:sp>
      <p:sp>
        <p:nvSpPr>
          <p:cNvPr id="28" name="Text 24"/>
          <p:cNvSpPr/>
          <p:nvPr/>
        </p:nvSpPr>
        <p:spPr>
          <a:xfrm>
            <a:off x="4524146" y="2514600"/>
            <a:ext cx="3143402" cy="384048"/>
          </a:xfrm>
          <a:prstGeom prst="rect">
            <a:avLst/>
          </a:prstGeom>
          <a:noFill/>
          <a:ln/>
        </p:spPr>
        <p:txBody>
          <a:bodyPr wrap="square" lIns="0" tIns="0" rIns="0" bIns="0" rtlCol="0" anchor="t"/>
          <a:lstStyle/>
          <a:p>
            <a:pPr indent="0" marL="0">
              <a:buNone/>
            </a:pPr>
            <a:r>
              <a:rPr lang="en-US" sz="1000" dirty="0">
                <a:solidFill>
                  <a:srgbClr val="52706D"/>
                </a:solidFill>
                <a:latin typeface="Calibri" pitchFamily="34" charset="0"/>
                <a:ea typeface="Calibri" pitchFamily="34" charset="-122"/>
                <a:cs typeface="Calibri" pitchFamily="34" charset="-120"/>
              </a:rPr>
              <a:t>tanpa kuota untuk bicara; memakai HP yang sudah ada</a:t>
            </a:r>
            <a:endParaRPr lang="en-US" sz="1000" dirty="0"/>
          </a:p>
        </p:txBody>
      </p:sp>
      <p:sp>
        <p:nvSpPr>
          <p:cNvPr id="29" name="Text 25"/>
          <p:cNvSpPr/>
          <p:nvPr/>
        </p:nvSpPr>
        <p:spPr>
          <a:xfrm>
            <a:off x="4524146" y="3008376"/>
            <a:ext cx="1463040" cy="274320"/>
          </a:xfrm>
          <a:prstGeom prst="rect">
            <a:avLst/>
          </a:prstGeom>
          <a:noFill/>
          <a:ln/>
        </p:spPr>
        <p:txBody>
          <a:bodyPr wrap="square" lIns="0" tIns="0" rIns="0" bIns="0" rtlCol="0" anchor="ctr"/>
          <a:lstStyle/>
          <a:p>
            <a:pPr indent="0" marL="0">
              <a:buNone/>
            </a:pPr>
            <a:r>
              <a:rPr lang="en-US" sz="1150" b="1" dirty="0">
                <a:solidFill>
                  <a:srgbClr val="172C2A"/>
                </a:solidFill>
                <a:latin typeface="Calibri" pitchFamily="34" charset="0"/>
                <a:ea typeface="Calibri" pitchFamily="34" charset="-122"/>
                <a:cs typeface="Calibri" pitchFamily="34" charset="-120"/>
              </a:rPr>
              <a:t>Simbol</a:t>
            </a:r>
            <a:endParaRPr lang="en-US" sz="1150" dirty="0"/>
          </a:p>
        </p:txBody>
      </p:sp>
      <p:sp>
        <p:nvSpPr>
          <p:cNvPr id="30" name="Text 26"/>
          <p:cNvSpPr/>
          <p:nvPr/>
        </p:nvSpPr>
        <p:spPr>
          <a:xfrm>
            <a:off x="5877458" y="3008376"/>
            <a:ext cx="1790090" cy="274320"/>
          </a:xfrm>
          <a:prstGeom prst="rect">
            <a:avLst/>
          </a:prstGeom>
          <a:noFill/>
          <a:ln/>
        </p:spPr>
        <p:txBody>
          <a:bodyPr wrap="square" lIns="0" tIns="0" rIns="0" bIns="0" rtlCol="0" anchor="ctr"/>
          <a:lstStyle/>
          <a:p>
            <a:pPr algn="r" indent="0" marL="0">
              <a:buNone/>
            </a:pPr>
            <a:r>
              <a:rPr lang="en-US" sz="1300" b="1" dirty="0">
                <a:solidFill>
                  <a:srgbClr val="C23D42"/>
                </a:solidFill>
                <a:latin typeface="Trebuchet MS" pitchFamily="34" charset="0"/>
                <a:ea typeface="Trebuchet MS" pitchFamily="34" charset="-122"/>
                <a:cs typeface="Trebuchet MS" pitchFamily="34" charset="-120"/>
              </a:rPr>
              <a:t>Rp0</a:t>
            </a:r>
            <a:endParaRPr lang="en-US" sz="1300" dirty="0"/>
          </a:p>
        </p:txBody>
      </p:sp>
      <p:sp>
        <p:nvSpPr>
          <p:cNvPr id="31" name="Text 27"/>
          <p:cNvSpPr/>
          <p:nvPr/>
        </p:nvSpPr>
        <p:spPr>
          <a:xfrm>
            <a:off x="4524146" y="3282696"/>
            <a:ext cx="3143402" cy="384048"/>
          </a:xfrm>
          <a:prstGeom prst="rect">
            <a:avLst/>
          </a:prstGeom>
          <a:noFill/>
          <a:ln/>
        </p:spPr>
        <p:txBody>
          <a:bodyPr wrap="square" lIns="0" tIns="0" rIns="0" bIns="0" rtlCol="0" anchor="t"/>
          <a:lstStyle/>
          <a:p>
            <a:pPr indent="0" marL="0">
              <a:buNone/>
            </a:pPr>
            <a:r>
              <a:rPr lang="en-US" sz="1000" dirty="0">
                <a:solidFill>
                  <a:srgbClr val="52706D"/>
                </a:solidFill>
                <a:latin typeface="Calibri" pitchFamily="34" charset="0"/>
                <a:ea typeface="Calibri" pitchFamily="34" charset="-122"/>
                <a:cs typeface="Calibri" pitchFamily="34" charset="-120"/>
              </a:rPr>
              <a:t>Mulberry CC BY-SA 4.0, boleh komersial dengan atribusi</a:t>
            </a:r>
            <a:endParaRPr lang="en-US" sz="1000" dirty="0"/>
          </a:p>
        </p:txBody>
      </p:sp>
      <p:sp>
        <p:nvSpPr>
          <p:cNvPr id="32" name="Text 28"/>
          <p:cNvSpPr/>
          <p:nvPr/>
        </p:nvSpPr>
        <p:spPr>
          <a:xfrm>
            <a:off x="4524146" y="3776472"/>
            <a:ext cx="1463040" cy="274320"/>
          </a:xfrm>
          <a:prstGeom prst="rect">
            <a:avLst/>
          </a:prstGeom>
          <a:noFill/>
          <a:ln/>
        </p:spPr>
        <p:txBody>
          <a:bodyPr wrap="square" lIns="0" tIns="0" rIns="0" bIns="0" rtlCol="0" anchor="ctr"/>
          <a:lstStyle/>
          <a:p>
            <a:pPr indent="0" marL="0">
              <a:buNone/>
            </a:pPr>
            <a:r>
              <a:rPr lang="en-US" sz="1150" b="1" dirty="0">
                <a:solidFill>
                  <a:srgbClr val="172C2A"/>
                </a:solidFill>
                <a:latin typeface="Calibri" pitchFamily="34" charset="0"/>
                <a:ea typeface="Calibri" pitchFamily="34" charset="-122"/>
                <a:cs typeface="Calibri" pitchFamily="34" charset="-120"/>
              </a:rPr>
              <a:t>Suara 120 kata</a:t>
            </a:r>
            <a:endParaRPr lang="en-US" sz="1150" dirty="0"/>
          </a:p>
        </p:txBody>
      </p:sp>
      <p:sp>
        <p:nvSpPr>
          <p:cNvPr id="33" name="Text 29"/>
          <p:cNvSpPr/>
          <p:nvPr/>
        </p:nvSpPr>
        <p:spPr>
          <a:xfrm>
            <a:off x="5877458" y="3776472"/>
            <a:ext cx="1790090" cy="274320"/>
          </a:xfrm>
          <a:prstGeom prst="rect">
            <a:avLst/>
          </a:prstGeom>
          <a:noFill/>
          <a:ln/>
        </p:spPr>
        <p:txBody>
          <a:bodyPr wrap="square" lIns="0" tIns="0" rIns="0" bIns="0" rtlCol="0" anchor="ctr"/>
          <a:lstStyle/>
          <a:p>
            <a:pPr algn="r" indent="0" marL="0">
              <a:buNone/>
            </a:pPr>
            <a:r>
              <a:rPr lang="en-US" sz="1300" b="1" dirty="0">
                <a:solidFill>
                  <a:srgbClr val="C23D42"/>
                </a:solidFill>
                <a:latin typeface="Trebuchet MS" pitchFamily="34" charset="0"/>
                <a:ea typeface="Trebuchet MS" pitchFamily="34" charset="-122"/>
                <a:cs typeface="Trebuchet MS" pitchFamily="34" charset="-120"/>
              </a:rPr>
              <a:t>&lt; US$0,20</a:t>
            </a:r>
            <a:endParaRPr lang="en-US" sz="1300" dirty="0"/>
          </a:p>
        </p:txBody>
      </p:sp>
      <p:sp>
        <p:nvSpPr>
          <p:cNvPr id="34" name="Text 30"/>
          <p:cNvSpPr/>
          <p:nvPr/>
        </p:nvSpPr>
        <p:spPr>
          <a:xfrm>
            <a:off x="4524146" y="4050792"/>
            <a:ext cx="3143402" cy="384048"/>
          </a:xfrm>
          <a:prstGeom prst="rect">
            <a:avLst/>
          </a:prstGeom>
          <a:noFill/>
          <a:ln/>
        </p:spPr>
        <p:txBody>
          <a:bodyPr wrap="square" lIns="0" tIns="0" rIns="0" bIns="0" rtlCol="0" anchor="t"/>
          <a:lstStyle/>
          <a:p>
            <a:pPr indent="0" marL="0">
              <a:buNone/>
            </a:pPr>
            <a:r>
              <a:rPr lang="en-US" sz="1000" dirty="0">
                <a:solidFill>
                  <a:srgbClr val="52706D"/>
                </a:solidFill>
                <a:latin typeface="Calibri" pitchFamily="34" charset="0"/>
                <a:ea typeface="Calibri" pitchFamily="34" charset="-122"/>
                <a:cs typeface="Calibri" pitchFamily="34" charset="-120"/>
              </a:rPr>
              <a:t>dibuat sekali, dibundel di APK</a:t>
            </a:r>
            <a:endParaRPr lang="en-US" sz="1000" dirty="0"/>
          </a:p>
        </p:txBody>
      </p:sp>
      <p:sp>
        <p:nvSpPr>
          <p:cNvPr id="35" name="Text 31"/>
          <p:cNvSpPr/>
          <p:nvPr/>
        </p:nvSpPr>
        <p:spPr>
          <a:xfrm>
            <a:off x="4524146" y="4544568"/>
            <a:ext cx="1463040" cy="274320"/>
          </a:xfrm>
          <a:prstGeom prst="rect">
            <a:avLst/>
          </a:prstGeom>
          <a:noFill/>
          <a:ln/>
        </p:spPr>
        <p:txBody>
          <a:bodyPr wrap="square" lIns="0" tIns="0" rIns="0" bIns="0" rtlCol="0" anchor="ctr"/>
          <a:lstStyle/>
          <a:p>
            <a:pPr indent="0" marL="0">
              <a:buNone/>
            </a:pPr>
            <a:r>
              <a:rPr lang="en-US" sz="1150" b="1" dirty="0">
                <a:solidFill>
                  <a:srgbClr val="172C2A"/>
                </a:solidFill>
                <a:latin typeface="Calibri" pitchFamily="34" charset="0"/>
                <a:ea typeface="Calibri" pitchFamily="34" charset="-122"/>
                <a:cs typeface="Calibri" pitchFamily="34" charset="-120"/>
              </a:rPr>
              <a:t>Server pilot</a:t>
            </a:r>
            <a:endParaRPr lang="en-US" sz="1150" dirty="0"/>
          </a:p>
        </p:txBody>
      </p:sp>
      <p:sp>
        <p:nvSpPr>
          <p:cNvPr id="36" name="Text 32"/>
          <p:cNvSpPr/>
          <p:nvPr/>
        </p:nvSpPr>
        <p:spPr>
          <a:xfrm>
            <a:off x="5877458" y="4544568"/>
            <a:ext cx="1790090" cy="274320"/>
          </a:xfrm>
          <a:prstGeom prst="rect">
            <a:avLst/>
          </a:prstGeom>
          <a:noFill/>
          <a:ln/>
        </p:spPr>
        <p:txBody>
          <a:bodyPr wrap="square" lIns="0" tIns="0" rIns="0" bIns="0" rtlCol="0" anchor="ctr"/>
          <a:lstStyle/>
          <a:p>
            <a:pPr algn="r" indent="0" marL="0">
              <a:buNone/>
            </a:pPr>
            <a:r>
              <a:rPr lang="en-US" sz="1300" b="1" dirty="0">
                <a:solidFill>
                  <a:srgbClr val="C23D42"/>
                </a:solidFill>
                <a:latin typeface="Trebuchet MS" pitchFamily="34" charset="0"/>
                <a:ea typeface="Trebuchet MS" pitchFamily="34" charset="-122"/>
                <a:cs typeface="Trebuchet MS" pitchFamily="34" charset="-120"/>
              </a:rPr>
              <a:t>± Rp100–150 rb/bln*</a:t>
            </a:r>
            <a:endParaRPr lang="en-US" sz="1300" dirty="0"/>
          </a:p>
        </p:txBody>
      </p:sp>
      <p:sp>
        <p:nvSpPr>
          <p:cNvPr id="37" name="Text 33"/>
          <p:cNvSpPr/>
          <p:nvPr/>
        </p:nvSpPr>
        <p:spPr>
          <a:xfrm>
            <a:off x="4524146" y="4818888"/>
            <a:ext cx="3143402" cy="384048"/>
          </a:xfrm>
          <a:prstGeom prst="rect">
            <a:avLst/>
          </a:prstGeom>
          <a:noFill/>
          <a:ln/>
        </p:spPr>
        <p:txBody>
          <a:bodyPr wrap="square" lIns="0" tIns="0" rIns="0" bIns="0" rtlCol="0" anchor="t"/>
          <a:lstStyle/>
          <a:p>
            <a:pPr indent="0" marL="0">
              <a:buNone/>
            </a:pPr>
            <a:r>
              <a:rPr lang="en-US" sz="1000" dirty="0">
                <a:solidFill>
                  <a:srgbClr val="52706D"/>
                </a:solidFill>
                <a:latin typeface="Calibri" pitchFamily="34" charset="0"/>
                <a:ea typeface="Calibri" pitchFamily="34" charset="-122"/>
                <a:cs typeface="Calibri" pitchFamily="34" charset="-120"/>
              </a:rPr>
              <a:t>1 server kecil untuk satu klinik (SQLite)</a:t>
            </a:r>
            <a:endParaRPr lang="en-US" sz="1000" dirty="0"/>
          </a:p>
        </p:txBody>
      </p:sp>
      <p:sp>
        <p:nvSpPr>
          <p:cNvPr id="38" name="Shape 34"/>
          <p:cNvSpPr/>
          <p:nvPr/>
        </p:nvSpPr>
        <p:spPr>
          <a:xfrm>
            <a:off x="8097317" y="1783080"/>
            <a:ext cx="3545738" cy="3657600"/>
          </a:xfrm>
          <a:prstGeom prst="roundRect">
            <a:avLst>
              <a:gd name="adj" fmla="val 3095"/>
            </a:avLst>
          </a:prstGeom>
          <a:solidFill>
            <a:srgbClr val="FFFFFF"/>
          </a:solidFill>
          <a:ln w="9525">
            <a:solidFill>
              <a:srgbClr val="DCEEEC"/>
            </a:solidFill>
            <a:prstDash val="solid"/>
          </a:ln>
        </p:spPr>
      </p:sp>
      <p:sp>
        <p:nvSpPr>
          <p:cNvPr id="39" name="Text 35"/>
          <p:cNvSpPr/>
          <p:nvPr/>
        </p:nvSpPr>
        <p:spPr>
          <a:xfrm>
            <a:off x="8298485" y="1892808"/>
            <a:ext cx="3179978" cy="237744"/>
          </a:xfrm>
          <a:prstGeom prst="rect">
            <a:avLst/>
          </a:prstGeom>
          <a:noFill/>
          <a:ln/>
        </p:spPr>
        <p:txBody>
          <a:bodyPr wrap="square" lIns="0" tIns="0" rIns="0" bIns="0" rtlCol="0" anchor="ctr"/>
          <a:lstStyle/>
          <a:p>
            <a:pPr indent="0" marL="0">
              <a:buNone/>
            </a:pPr>
            <a:r>
              <a:rPr lang="en-US" sz="1000" b="1" spc="120" kern="0" dirty="0">
                <a:solidFill>
                  <a:srgbClr val="026E65"/>
                </a:solidFill>
                <a:latin typeface="Calibri" pitchFamily="34" charset="0"/>
                <a:ea typeface="Calibri" pitchFamily="34" charset="-122"/>
                <a:cs typeface="Calibri" pitchFamily="34" charset="-120"/>
              </a:rPr>
              <a:t>RENCANA PENERAPAN</a:t>
            </a:r>
            <a:endParaRPr lang="en-US" sz="1000" dirty="0"/>
          </a:p>
        </p:txBody>
      </p:sp>
      <p:sp>
        <p:nvSpPr>
          <p:cNvPr id="40" name="Shape 36"/>
          <p:cNvSpPr/>
          <p:nvPr/>
        </p:nvSpPr>
        <p:spPr>
          <a:xfrm>
            <a:off x="8316773" y="2295144"/>
            <a:ext cx="182880" cy="182880"/>
          </a:xfrm>
          <a:prstGeom prst="ellipse">
            <a:avLst/>
          </a:prstGeom>
          <a:solidFill>
            <a:srgbClr val="D34349"/>
          </a:solidFill>
          <a:ln w="12700">
            <a:solidFill>
              <a:srgbClr val="D34349"/>
            </a:solidFill>
            <a:prstDash val="solid"/>
          </a:ln>
        </p:spPr>
      </p:sp>
      <p:sp>
        <p:nvSpPr>
          <p:cNvPr id="41" name="Shape 37"/>
          <p:cNvSpPr/>
          <p:nvPr/>
        </p:nvSpPr>
        <p:spPr>
          <a:xfrm>
            <a:off x="8408213" y="2496312"/>
            <a:ext cx="0" cy="548640"/>
          </a:xfrm>
          <a:prstGeom prst="line">
            <a:avLst/>
          </a:prstGeom>
          <a:noFill/>
          <a:ln w="19050">
            <a:solidFill>
              <a:srgbClr val="A0DDD7"/>
            </a:solidFill>
            <a:prstDash val="solid"/>
          </a:ln>
        </p:spPr>
      </p:sp>
      <p:sp>
        <p:nvSpPr>
          <p:cNvPr id="42" name="Text 38"/>
          <p:cNvSpPr/>
          <p:nvPr/>
        </p:nvSpPr>
        <p:spPr>
          <a:xfrm>
            <a:off x="8609381" y="2240280"/>
            <a:ext cx="2832506" cy="274320"/>
          </a:xfrm>
          <a:prstGeom prst="rect">
            <a:avLst/>
          </a:prstGeom>
          <a:noFill/>
          <a:ln/>
        </p:spPr>
        <p:txBody>
          <a:bodyPr wrap="square" lIns="0" tIns="0" rIns="0" bIns="0" rtlCol="0" anchor="ctr"/>
          <a:lstStyle/>
          <a:p>
            <a:pPr indent="0" marL="0">
              <a:buNone/>
            </a:pPr>
            <a:r>
              <a:rPr lang="en-US" sz="1150" b="1" dirty="0">
                <a:solidFill>
                  <a:srgbClr val="172C2A"/>
                </a:solidFill>
                <a:latin typeface="Calibri" pitchFamily="34" charset="0"/>
                <a:ea typeface="Calibri" pitchFamily="34" charset="-122"/>
                <a:cs typeface="Calibri" pitchFamily="34" charset="-120"/>
              </a:rPr>
              <a:t>Pekan 1–6</a:t>
            </a:r>
            <a:endParaRPr lang="en-US" sz="1150" dirty="0"/>
          </a:p>
        </p:txBody>
      </p:sp>
      <p:sp>
        <p:nvSpPr>
          <p:cNvPr id="43" name="Text 39"/>
          <p:cNvSpPr/>
          <p:nvPr/>
        </p:nvSpPr>
        <p:spPr>
          <a:xfrm>
            <a:off x="8609381" y="2496312"/>
            <a:ext cx="2832506" cy="50292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Pilot: 1 terapis wicara + keluarga mitra. Ukur retensi hari ke-14 dan waktu tinjauan.</a:t>
            </a:r>
            <a:endParaRPr lang="en-US" sz="1050" dirty="0"/>
          </a:p>
        </p:txBody>
      </p:sp>
      <p:sp>
        <p:nvSpPr>
          <p:cNvPr id="44" name="Shape 40"/>
          <p:cNvSpPr/>
          <p:nvPr/>
        </p:nvSpPr>
        <p:spPr>
          <a:xfrm>
            <a:off x="8316773" y="3081528"/>
            <a:ext cx="182880" cy="182880"/>
          </a:xfrm>
          <a:prstGeom prst="ellipse">
            <a:avLst/>
          </a:prstGeom>
          <a:solidFill>
            <a:srgbClr val="098277"/>
          </a:solidFill>
          <a:ln w="12700">
            <a:solidFill>
              <a:srgbClr val="098277"/>
            </a:solidFill>
            <a:prstDash val="solid"/>
          </a:ln>
        </p:spPr>
      </p:sp>
      <p:sp>
        <p:nvSpPr>
          <p:cNvPr id="45" name="Shape 41"/>
          <p:cNvSpPr/>
          <p:nvPr/>
        </p:nvSpPr>
        <p:spPr>
          <a:xfrm>
            <a:off x="8408213" y="3282696"/>
            <a:ext cx="0" cy="548640"/>
          </a:xfrm>
          <a:prstGeom prst="line">
            <a:avLst/>
          </a:prstGeom>
          <a:noFill/>
          <a:ln w="19050">
            <a:solidFill>
              <a:srgbClr val="A0DDD7"/>
            </a:solidFill>
            <a:prstDash val="solid"/>
          </a:ln>
        </p:spPr>
      </p:sp>
      <p:sp>
        <p:nvSpPr>
          <p:cNvPr id="46" name="Text 42"/>
          <p:cNvSpPr/>
          <p:nvPr/>
        </p:nvSpPr>
        <p:spPr>
          <a:xfrm>
            <a:off x="8609381" y="3026664"/>
            <a:ext cx="2832506" cy="274320"/>
          </a:xfrm>
          <a:prstGeom prst="rect">
            <a:avLst/>
          </a:prstGeom>
          <a:noFill/>
          <a:ln/>
        </p:spPr>
        <p:txBody>
          <a:bodyPr wrap="square" lIns="0" tIns="0" rIns="0" bIns="0" rtlCol="0" anchor="ctr"/>
          <a:lstStyle/>
          <a:p>
            <a:pPr indent="0" marL="0">
              <a:buNone/>
            </a:pPr>
            <a:r>
              <a:rPr lang="en-US" sz="1150" b="1" dirty="0">
                <a:solidFill>
                  <a:srgbClr val="172C2A"/>
                </a:solidFill>
                <a:latin typeface="Calibri" pitchFamily="34" charset="0"/>
                <a:ea typeface="Calibri" pitchFamily="34" charset="-122"/>
                <a:cs typeface="Calibri" pitchFamily="34" charset="-120"/>
              </a:rPr>
              <a:t>Sesudah pilot</a:t>
            </a:r>
            <a:endParaRPr lang="en-US" sz="1150" dirty="0"/>
          </a:p>
        </p:txBody>
      </p:sp>
      <p:sp>
        <p:nvSpPr>
          <p:cNvPr id="47" name="Text 43"/>
          <p:cNvSpPr/>
          <p:nvPr/>
        </p:nvSpPr>
        <p:spPr>
          <a:xfrm>
            <a:off x="8609381" y="3282696"/>
            <a:ext cx="2832506" cy="50292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Kalibrasi daftar kata dan aturan triase bersama terapis.</a:t>
            </a:r>
            <a:endParaRPr lang="en-US" sz="1050" dirty="0"/>
          </a:p>
        </p:txBody>
      </p:sp>
      <p:sp>
        <p:nvSpPr>
          <p:cNvPr id="48" name="Shape 44"/>
          <p:cNvSpPr/>
          <p:nvPr/>
        </p:nvSpPr>
        <p:spPr>
          <a:xfrm>
            <a:off x="8316773" y="3867912"/>
            <a:ext cx="182880" cy="182880"/>
          </a:xfrm>
          <a:prstGeom prst="ellipse">
            <a:avLst/>
          </a:prstGeom>
          <a:solidFill>
            <a:srgbClr val="098277"/>
          </a:solidFill>
          <a:ln w="12700">
            <a:solidFill>
              <a:srgbClr val="098277"/>
            </a:solidFill>
            <a:prstDash val="solid"/>
          </a:ln>
        </p:spPr>
      </p:sp>
      <p:sp>
        <p:nvSpPr>
          <p:cNvPr id="49" name="Shape 45"/>
          <p:cNvSpPr/>
          <p:nvPr/>
        </p:nvSpPr>
        <p:spPr>
          <a:xfrm>
            <a:off x="8408213" y="4069080"/>
            <a:ext cx="0" cy="548640"/>
          </a:xfrm>
          <a:prstGeom prst="line">
            <a:avLst/>
          </a:prstGeom>
          <a:noFill/>
          <a:ln w="19050">
            <a:solidFill>
              <a:srgbClr val="A0DDD7"/>
            </a:solidFill>
            <a:prstDash val="solid"/>
          </a:ln>
        </p:spPr>
      </p:sp>
      <p:sp>
        <p:nvSpPr>
          <p:cNvPr id="50" name="Text 46"/>
          <p:cNvSpPr/>
          <p:nvPr/>
        </p:nvSpPr>
        <p:spPr>
          <a:xfrm>
            <a:off x="8609381" y="3813048"/>
            <a:ext cx="2832506" cy="274320"/>
          </a:xfrm>
          <a:prstGeom prst="rect">
            <a:avLst/>
          </a:prstGeom>
          <a:noFill/>
          <a:ln/>
        </p:spPr>
        <p:txBody>
          <a:bodyPr wrap="square" lIns="0" tIns="0" rIns="0" bIns="0" rtlCol="0" anchor="ctr"/>
          <a:lstStyle/>
          <a:p>
            <a:pPr indent="0" marL="0">
              <a:buNone/>
            </a:pPr>
            <a:r>
              <a:rPr lang="en-US" sz="1150" b="1" dirty="0">
                <a:solidFill>
                  <a:srgbClr val="172C2A"/>
                </a:solidFill>
                <a:latin typeface="Calibri" pitchFamily="34" charset="0"/>
                <a:ea typeface="Calibri" pitchFamily="34" charset="-122"/>
                <a:cs typeface="Calibri" pitchFamily="34" charset="-120"/>
              </a:rPr>
              <a:t>Tahap 2</a:t>
            </a:r>
            <a:endParaRPr lang="en-US" sz="1150" dirty="0"/>
          </a:p>
        </p:txBody>
      </p:sp>
      <p:sp>
        <p:nvSpPr>
          <p:cNvPr id="51" name="Text 47"/>
          <p:cNvSpPr/>
          <p:nvPr/>
        </p:nvSpPr>
        <p:spPr>
          <a:xfrm>
            <a:off x="8609381" y="4069080"/>
            <a:ext cx="2832506" cy="50292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Tumbuh lewat terapis: satu kode undangan = satu keluarga. Klinik dan SLB mitra.</a:t>
            </a:r>
            <a:endParaRPr lang="en-US" sz="1050" dirty="0"/>
          </a:p>
        </p:txBody>
      </p:sp>
      <p:sp>
        <p:nvSpPr>
          <p:cNvPr id="52" name="Shape 48"/>
          <p:cNvSpPr/>
          <p:nvPr/>
        </p:nvSpPr>
        <p:spPr>
          <a:xfrm>
            <a:off x="8316773" y="4654296"/>
            <a:ext cx="182880" cy="182880"/>
          </a:xfrm>
          <a:prstGeom prst="ellipse">
            <a:avLst/>
          </a:prstGeom>
          <a:solidFill>
            <a:srgbClr val="098277"/>
          </a:solidFill>
          <a:ln w="12700">
            <a:solidFill>
              <a:srgbClr val="098277"/>
            </a:solidFill>
            <a:prstDash val="solid"/>
          </a:ln>
        </p:spPr>
      </p:sp>
      <p:sp>
        <p:nvSpPr>
          <p:cNvPr id="53" name="Text 49"/>
          <p:cNvSpPr/>
          <p:nvPr/>
        </p:nvSpPr>
        <p:spPr>
          <a:xfrm>
            <a:off x="8609381" y="4599432"/>
            <a:ext cx="2832506" cy="274320"/>
          </a:xfrm>
          <a:prstGeom prst="rect">
            <a:avLst/>
          </a:prstGeom>
          <a:noFill/>
          <a:ln/>
        </p:spPr>
        <p:txBody>
          <a:bodyPr wrap="square" lIns="0" tIns="0" rIns="0" bIns="0" rtlCol="0" anchor="ctr"/>
          <a:lstStyle/>
          <a:p>
            <a:pPr indent="0" marL="0">
              <a:buNone/>
            </a:pPr>
            <a:r>
              <a:rPr lang="en-US" sz="1150" b="1" dirty="0">
                <a:solidFill>
                  <a:srgbClr val="172C2A"/>
                </a:solidFill>
                <a:latin typeface="Calibri" pitchFamily="34" charset="0"/>
                <a:ea typeface="Calibri" pitchFamily="34" charset="-122"/>
                <a:cs typeface="Calibri" pitchFamily="34" charset="-120"/>
              </a:rPr>
              <a:t>Syarat skala</a:t>
            </a:r>
            <a:endParaRPr lang="en-US" sz="1150" dirty="0"/>
          </a:p>
        </p:txBody>
      </p:sp>
      <p:sp>
        <p:nvSpPr>
          <p:cNvPr id="54" name="Text 50"/>
          <p:cNvSpPr/>
          <p:nvPr/>
        </p:nvSpPr>
        <p:spPr>
          <a:xfrm>
            <a:off x="8609381" y="4855464"/>
            <a:ext cx="2832506" cy="502920"/>
          </a:xfrm>
          <a:prstGeom prst="rect">
            <a:avLst/>
          </a:prstGeom>
          <a:noFill/>
          <a:ln/>
        </p:spPr>
        <p:txBody>
          <a:bodyPr wrap="square" lIns="0" tIns="0" rIns="0" bIns="0" rtlCol="0" anchor="t"/>
          <a:lstStyle/>
          <a:p>
            <a:pPr indent="0" marL="0">
              <a:buNone/>
            </a:pPr>
            <a:r>
              <a:rPr lang="en-US" sz="1050" dirty="0">
                <a:solidFill>
                  <a:srgbClr val="172C2A"/>
                </a:solidFill>
                <a:latin typeface="Calibri" pitchFamily="34" charset="0"/>
                <a:ea typeface="Calibri" pitchFamily="34" charset="-122"/>
                <a:cs typeface="Calibri" pitchFamily="34" charset="-120"/>
              </a:rPr>
              <a:t>HTTPS, enkripsi di perangkat, Postgres untuk banyak klinik.</a:t>
            </a:r>
            <a:endParaRPr lang="en-US" sz="1050" dirty="0"/>
          </a:p>
        </p:txBody>
      </p:sp>
      <p:sp>
        <p:nvSpPr>
          <p:cNvPr id="55" name="Text 51"/>
          <p:cNvSpPr/>
          <p:nvPr/>
        </p:nvSpPr>
        <p:spPr>
          <a:xfrm>
            <a:off x="548640" y="5559552"/>
            <a:ext cx="11094415" cy="420624"/>
          </a:xfrm>
          <a:prstGeom prst="roundRect">
            <a:avLst>
              <a:gd name="adj" fmla="val 17391"/>
            </a:avLst>
          </a:prstGeom>
          <a:solidFill>
            <a:srgbClr val="FDE1E2"/>
          </a:solidFill>
          <a:ln>
            <a:solidFill>
              <a:srgbClr val="FDE1E2"/>
            </a:solidFill>
          </a:ln>
        </p:spPr>
        <p:txBody>
          <a:bodyPr wrap="square" lIns="101600" tIns="101600" rIns="101600" bIns="101600" rtlCol="0" anchor="ctr"/>
          <a:lstStyle/>
          <a:p>
            <a:pPr indent="0" marL="0">
              <a:buNone/>
            </a:pPr>
            <a:r>
              <a:rPr lang="en-US" sz="1050" b="1" dirty="0">
                <a:solidFill>
                  <a:srgbClr val="C23D42"/>
                </a:solidFill>
                <a:latin typeface="Calibri" pitchFamily="34" charset="0"/>
                <a:ea typeface="Calibri" pitchFamily="34" charset="-122"/>
                <a:cs typeface="Calibri" pitchFamily="34" charset="-120"/>
              </a:rPr>
              <a:t>Batasan yang kami akui:  </a:t>
            </a:r>
            <a:pPr indent="0" marL="0">
              <a:buNone/>
            </a:pPr>
            <a:r>
              <a:rPr lang="en-US" sz="1050" dirty="0">
                <a:solidFill>
                  <a:srgbClr val="172C2A"/>
                </a:solidFill>
                <a:latin typeface="Calibri" pitchFamily="34" charset="0"/>
                <a:ea typeface="Calibri" pitchFamily="34" charset="-122"/>
                <a:cs typeface="Calibri" pitchFamily="34" charset="-120"/>
              </a:rPr>
              <a:t>belum HTTPS (demo di LAN) · token perangkat belum terenkripsi · belum diuji di HP fisik 2 GB · suara papan sintetis, bukan rekaman manusia · 35 simbol buatan tim belum digambar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DAMPAK DAN METRIK KEBERHASILAN</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Dampak diukur dari kebiasaan yang bertahan, bukan dari klaim kemampuan anak</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873252"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Masalah</a:t>
            </a:r>
            <a:endParaRPr lang="en-US" sz="950" dirty="0"/>
          </a:p>
        </p:txBody>
      </p:sp>
      <p:sp>
        <p:nvSpPr>
          <p:cNvPr id="6" name="Text 3"/>
          <p:cNvSpPr/>
          <p:nvPr/>
        </p:nvSpPr>
        <p:spPr>
          <a:xfrm>
            <a:off x="1513332" y="6382512"/>
            <a:ext cx="795528"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Solusi</a:t>
            </a:r>
            <a:endParaRPr lang="en-US" sz="950" dirty="0"/>
          </a:p>
        </p:txBody>
      </p:sp>
      <p:sp>
        <p:nvSpPr>
          <p:cNvPr id="7" name="Text 4"/>
          <p:cNvSpPr/>
          <p:nvPr/>
        </p:nvSpPr>
        <p:spPr>
          <a:xfrm>
            <a:off x="2400300" y="6382512"/>
            <a:ext cx="1028700" cy="256032"/>
          </a:xfrm>
          <a:prstGeom prst="roundRect">
            <a:avLst>
              <a:gd name="adj" fmla="val 46429"/>
            </a:avLst>
          </a:prstGeom>
          <a:solidFill>
            <a:srgbClr val="F1FAFA"/>
          </a:solidFill>
          <a:ln w="9525">
            <a:solidFill>
              <a:srgbClr val="DCEEEC"/>
            </a:solidFill>
          </a:ln>
        </p:spPr>
        <p:txBody>
          <a:bodyPr wrap="square" lIns="0" tIns="0" rIns="0" bIns="0" rtlCol="0" anchor="ctr"/>
          <a:lstStyle/>
          <a:p>
            <a:pPr algn="ctr" indent="0" marL="0">
              <a:buNone/>
            </a:pPr>
            <a:r>
              <a:rPr lang="en-US" sz="950" dirty="0">
                <a:solidFill>
                  <a:srgbClr val="52706D"/>
                </a:solidFill>
                <a:latin typeface="Calibri" pitchFamily="34" charset="0"/>
                <a:ea typeface="Calibri" pitchFamily="34" charset="-122"/>
                <a:cs typeface="Calibri" pitchFamily="34" charset="-120"/>
              </a:rPr>
              <a:t>Kelayakan</a:t>
            </a:r>
            <a:endParaRPr lang="en-US" sz="950" dirty="0"/>
          </a:p>
        </p:txBody>
      </p:sp>
      <p:sp>
        <p:nvSpPr>
          <p:cNvPr id="8" name="Text 5"/>
          <p:cNvSpPr/>
          <p:nvPr/>
        </p:nvSpPr>
        <p:spPr>
          <a:xfrm>
            <a:off x="3520440" y="6382512"/>
            <a:ext cx="795528"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Dampak</a:t>
            </a:r>
            <a:endParaRPr lang="en-US" sz="950" dirty="0"/>
          </a:p>
        </p:txBody>
      </p:sp>
      <p:sp>
        <p:nvSpPr>
          <p:cNvPr id="9" name="Text 6"/>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12</a:t>
            </a:r>
            <a:endParaRPr lang="en-US" sz="1000" dirty="0"/>
          </a:p>
        </p:txBody>
      </p:sp>
      <p:sp>
        <p:nvSpPr>
          <p:cNvPr id="10" name="Text 7"/>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Metrik utama pilot: 03-basis-ilmiah §6, berangkat dari Phillips &amp; Zhao (1993). Sasaran tinjauan &lt; 5 menit per anak adalah sasaran rancangan dasbor; model kapasitas adalah asumsi yang diuji di pilot.</a:t>
            </a:r>
            <a:endParaRPr lang="en-US" sz="850" dirty="0"/>
          </a:p>
        </p:txBody>
      </p:sp>
      <p:sp>
        <p:nvSpPr>
          <p:cNvPr id="12" name="Shape 8"/>
          <p:cNvSpPr/>
          <p:nvPr/>
        </p:nvSpPr>
        <p:spPr>
          <a:xfrm>
            <a:off x="548640" y="1783080"/>
            <a:ext cx="4206240" cy="1078992"/>
          </a:xfrm>
          <a:prstGeom prst="roundRect">
            <a:avLst>
              <a:gd name="adj" fmla="val 10169"/>
            </a:avLst>
          </a:prstGeom>
          <a:solidFill>
            <a:srgbClr val="FFFFFF"/>
          </a:solidFill>
          <a:ln w="9525">
            <a:solidFill>
              <a:srgbClr val="DCEEEC"/>
            </a:solidFill>
            <a:prstDash val="solid"/>
          </a:ln>
        </p:spPr>
      </p:sp>
      <p:sp>
        <p:nvSpPr>
          <p:cNvPr id="13" name="Shape 9"/>
          <p:cNvSpPr/>
          <p:nvPr/>
        </p:nvSpPr>
        <p:spPr>
          <a:xfrm>
            <a:off x="731520" y="2020824"/>
            <a:ext cx="603504" cy="603504"/>
          </a:xfrm>
          <a:prstGeom prst="ellipse">
            <a:avLst/>
          </a:prstGeom>
          <a:solidFill>
            <a:srgbClr val="098277"/>
          </a:solidFill>
          <a:ln w="12700">
            <a:solidFill>
              <a:srgbClr val="098277"/>
            </a:solidFill>
            <a:prstDash val="solid"/>
          </a:ln>
        </p:spPr>
      </p:sp>
      <p:pic>
        <p:nvPicPr>
          <p:cNvPr id="14" name="Image 1" descr="preencoded.png">    </p:cNvPr>
          <p:cNvPicPr>
            <a:picLocks noChangeAspect="1"/>
          </p:cNvPicPr>
          <p:nvPr/>
        </p:nvPicPr>
        <p:blipFill>
          <a:blip r:embed="rId2"/>
          <a:stretch>
            <a:fillRect/>
          </a:stretch>
        </p:blipFill>
        <p:spPr>
          <a:xfrm>
            <a:off x="876361" y="2165665"/>
            <a:ext cx="313822" cy="313822"/>
          </a:xfrm>
          <a:prstGeom prst="rect">
            <a:avLst/>
          </a:prstGeom>
        </p:spPr>
      </p:pic>
      <p:sp>
        <p:nvSpPr>
          <p:cNvPr id="15" name="Text 10"/>
          <p:cNvSpPr/>
          <p:nvPr/>
        </p:nvSpPr>
        <p:spPr>
          <a:xfrm>
            <a:off x="1481328" y="1856232"/>
            <a:ext cx="3108960" cy="932688"/>
          </a:xfrm>
          <a:prstGeom prst="rect">
            <a:avLst/>
          </a:prstGeom>
          <a:noFill/>
          <a:ln/>
        </p:spPr>
        <p:txBody>
          <a:bodyPr wrap="square" lIns="0" tIns="0" rIns="0" bIns="0" rtlCol="0" anchor="ctr"/>
          <a:lstStyle/>
          <a:p>
            <a:pPr indent="0" marL="0">
              <a:buNone/>
            </a:pPr>
            <a:r>
              <a:rPr lang="en-US" sz="1450" b="1" dirty="0">
                <a:solidFill>
                  <a:srgbClr val="172C2A"/>
                </a:solidFill>
                <a:latin typeface="Trebuchet MS" pitchFamily="34" charset="0"/>
                <a:ea typeface="Trebuchet MS" pitchFamily="34" charset="-122"/>
                <a:cs typeface="Trebuchet MS" pitchFamily="34" charset="-120"/>
              </a:rPr>
              <a:t>Anak</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Punya suara yang sama di rumah dan di mana saja, tanpa sinyal.</a:t>
            </a:r>
            <a:endParaRPr lang="en-US" sz="1450" dirty="0"/>
          </a:p>
        </p:txBody>
      </p:sp>
      <p:sp>
        <p:nvSpPr>
          <p:cNvPr id="16" name="Shape 11"/>
          <p:cNvSpPr/>
          <p:nvPr/>
        </p:nvSpPr>
        <p:spPr>
          <a:xfrm>
            <a:off x="548640" y="2990088"/>
            <a:ext cx="4206240" cy="1078992"/>
          </a:xfrm>
          <a:prstGeom prst="roundRect">
            <a:avLst>
              <a:gd name="adj" fmla="val 10169"/>
            </a:avLst>
          </a:prstGeom>
          <a:solidFill>
            <a:srgbClr val="FFFFFF"/>
          </a:solidFill>
          <a:ln w="9525">
            <a:solidFill>
              <a:srgbClr val="DCEEEC"/>
            </a:solidFill>
            <a:prstDash val="solid"/>
          </a:ln>
        </p:spPr>
      </p:sp>
      <p:sp>
        <p:nvSpPr>
          <p:cNvPr id="17" name="Shape 12"/>
          <p:cNvSpPr/>
          <p:nvPr/>
        </p:nvSpPr>
        <p:spPr>
          <a:xfrm>
            <a:off x="731520" y="3227832"/>
            <a:ext cx="603504" cy="603504"/>
          </a:xfrm>
          <a:prstGeom prst="ellipse">
            <a:avLst/>
          </a:prstGeom>
          <a:solidFill>
            <a:srgbClr val="D34349"/>
          </a:solidFill>
          <a:ln w="12700">
            <a:solidFill>
              <a:srgbClr val="D34349"/>
            </a:solidFill>
            <a:prstDash val="solid"/>
          </a:ln>
        </p:spPr>
      </p:sp>
      <p:pic>
        <p:nvPicPr>
          <p:cNvPr id="18" name="Image 2" descr="preencoded.png">    </p:cNvPr>
          <p:cNvPicPr>
            <a:picLocks noChangeAspect="1"/>
          </p:cNvPicPr>
          <p:nvPr/>
        </p:nvPicPr>
        <p:blipFill>
          <a:blip r:embed="rId3"/>
          <a:stretch>
            <a:fillRect/>
          </a:stretch>
        </p:blipFill>
        <p:spPr>
          <a:xfrm>
            <a:off x="876361" y="3372673"/>
            <a:ext cx="313822" cy="313822"/>
          </a:xfrm>
          <a:prstGeom prst="rect">
            <a:avLst/>
          </a:prstGeom>
        </p:spPr>
      </p:pic>
      <p:sp>
        <p:nvSpPr>
          <p:cNvPr id="19" name="Text 13"/>
          <p:cNvSpPr/>
          <p:nvPr/>
        </p:nvSpPr>
        <p:spPr>
          <a:xfrm>
            <a:off x="1481328" y="3063240"/>
            <a:ext cx="3108960" cy="932688"/>
          </a:xfrm>
          <a:prstGeom prst="rect">
            <a:avLst/>
          </a:prstGeom>
          <a:noFill/>
          <a:ln/>
        </p:spPr>
        <p:txBody>
          <a:bodyPr wrap="square" lIns="0" tIns="0" rIns="0" bIns="0" rtlCol="0" anchor="ctr"/>
          <a:lstStyle/>
          <a:p>
            <a:pPr indent="0" marL="0">
              <a:buNone/>
            </a:pPr>
            <a:r>
              <a:rPr lang="en-US" sz="1450" b="1" dirty="0">
                <a:solidFill>
                  <a:srgbClr val="172C2A"/>
                </a:solidFill>
                <a:latin typeface="Trebuchet MS" pitchFamily="34" charset="0"/>
                <a:ea typeface="Trebuchet MS" pitchFamily="34" charset="-122"/>
                <a:cs typeface="Trebuchet MS" pitchFamily="34" charset="-120"/>
              </a:rPr>
              <a:t>Keluarga</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Belajar 'bicara balik' &lt; 5 menit sehari, tanpa jurnal, dan berhak menolak usulan.</a:t>
            </a:r>
            <a:endParaRPr lang="en-US" sz="1450" dirty="0"/>
          </a:p>
        </p:txBody>
      </p:sp>
      <p:sp>
        <p:nvSpPr>
          <p:cNvPr id="20" name="Shape 14"/>
          <p:cNvSpPr/>
          <p:nvPr/>
        </p:nvSpPr>
        <p:spPr>
          <a:xfrm>
            <a:off x="548640" y="4197096"/>
            <a:ext cx="4206240" cy="1078992"/>
          </a:xfrm>
          <a:prstGeom prst="roundRect">
            <a:avLst>
              <a:gd name="adj" fmla="val 10169"/>
            </a:avLst>
          </a:prstGeom>
          <a:solidFill>
            <a:srgbClr val="FFFFFF"/>
          </a:solidFill>
          <a:ln w="9525">
            <a:solidFill>
              <a:srgbClr val="DCEEEC"/>
            </a:solidFill>
            <a:prstDash val="solid"/>
          </a:ln>
        </p:spPr>
      </p:sp>
      <p:sp>
        <p:nvSpPr>
          <p:cNvPr id="21" name="Shape 15"/>
          <p:cNvSpPr/>
          <p:nvPr/>
        </p:nvSpPr>
        <p:spPr>
          <a:xfrm>
            <a:off x="731520" y="4434840"/>
            <a:ext cx="603504" cy="603504"/>
          </a:xfrm>
          <a:prstGeom prst="ellipse">
            <a:avLst/>
          </a:prstGeom>
          <a:solidFill>
            <a:srgbClr val="5B57A8"/>
          </a:solidFill>
          <a:ln w="12700">
            <a:solidFill>
              <a:srgbClr val="5B57A8"/>
            </a:solidFill>
            <a:prstDash val="solid"/>
          </a:ln>
        </p:spPr>
      </p:sp>
      <p:pic>
        <p:nvPicPr>
          <p:cNvPr id="22" name="Image 3" descr="preencoded.png">    </p:cNvPr>
          <p:cNvPicPr>
            <a:picLocks noChangeAspect="1"/>
          </p:cNvPicPr>
          <p:nvPr/>
        </p:nvPicPr>
        <p:blipFill>
          <a:blip r:embed="rId4"/>
          <a:stretch>
            <a:fillRect/>
          </a:stretch>
        </p:blipFill>
        <p:spPr>
          <a:xfrm>
            <a:off x="876361" y="4579681"/>
            <a:ext cx="313822" cy="313822"/>
          </a:xfrm>
          <a:prstGeom prst="rect">
            <a:avLst/>
          </a:prstGeom>
        </p:spPr>
      </p:pic>
      <p:sp>
        <p:nvSpPr>
          <p:cNvPr id="23" name="Text 16"/>
          <p:cNvSpPr/>
          <p:nvPr/>
        </p:nvSpPr>
        <p:spPr>
          <a:xfrm>
            <a:off x="1481328" y="4270248"/>
            <a:ext cx="3108960" cy="932688"/>
          </a:xfrm>
          <a:prstGeom prst="rect">
            <a:avLst/>
          </a:prstGeom>
          <a:noFill/>
          <a:ln/>
        </p:spPr>
        <p:txBody>
          <a:bodyPr wrap="square" lIns="0" tIns="0" rIns="0" bIns="0" rtlCol="0" anchor="ctr"/>
          <a:lstStyle/>
          <a:p>
            <a:pPr indent="0" marL="0">
              <a:buNone/>
            </a:pPr>
            <a:r>
              <a:rPr lang="en-US" sz="1450" b="1" dirty="0">
                <a:solidFill>
                  <a:srgbClr val="172C2A"/>
                </a:solidFill>
                <a:latin typeface="Trebuchet MS" pitchFamily="34" charset="0"/>
                <a:ea typeface="Trebuchet MS" pitchFamily="34" charset="-122"/>
                <a:cs typeface="Trebuchet MS" pitchFamily="34" charset="-120"/>
              </a:rPr>
              <a:t>Terapis</a:t>
            </a:r>
            <a:endParaRPr lang="en-US" sz="1450" dirty="0"/>
          </a:p>
          <a:p>
            <a:pPr indent="0" marL="0">
              <a:buNone/>
            </a:pPr>
            <a:r>
              <a:rPr lang="en-US" sz="1150" dirty="0">
                <a:solidFill>
                  <a:srgbClr val="172C2A"/>
                </a:solidFill>
                <a:latin typeface="Calibri" pitchFamily="34" charset="0"/>
                <a:ea typeface="Calibri" pitchFamily="34" charset="-122"/>
                <a:cs typeface="Calibri" pitchFamily="34" charset="-120"/>
              </a:rPr>
              <a:t>Datang ke sesi dengan konteks dari rumah; triase menunjukkan siapa yang perlu dilihat dulu.</a:t>
            </a:r>
            <a:endParaRPr lang="en-US" sz="14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0" y="1783080"/>
          <a:ext cx="6613855" cy="914400"/>
        </p:xfrm>
        <a:graphic>
          <a:graphicData uri="http://schemas.openxmlformats.org/drawingml/2006/table">
            <a:tbl>
              <a:tblPr/>
              <a:tblGrid>
                <a:gridCol w="2514600"/>
                <a:gridCol w="2331720"/>
                <a:gridCol w="1767535"/>
              </a:tblGrid>
              <a:tr h="429768">
                <a:tc>
                  <a:txBody>
                    <a:bodyPr/>
                    <a:lstStyle/>
                    <a:p>
                      <a:pPr algn="l" indent="0" marL="0">
                        <a:buNone/>
                      </a:pPr>
                      <a:r>
                        <a:rPr lang="en-US" sz="1150" b="1" dirty="0">
                          <a:solidFill>
                            <a:srgbClr val="52706D"/>
                          </a:solidFill>
                          <a:latin typeface="Calibri" pitchFamily="34" charset="0"/>
                          <a:ea typeface="Calibri" pitchFamily="34" charset="-122"/>
                          <a:cs typeface="Calibri" pitchFamily="34" charset="-120"/>
                        </a:rPr>
                        <a:t>Metrik</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c>
                  <a:txBody>
                    <a:bodyPr/>
                    <a:lstStyle/>
                    <a:p>
                      <a:pPr algn="l" indent="0" marL="0">
                        <a:buNone/>
                      </a:pPr>
                      <a:r>
                        <a:rPr lang="en-US" sz="1150" b="1" dirty="0">
                          <a:solidFill>
                            <a:srgbClr val="52706D"/>
                          </a:solidFill>
                          <a:latin typeface="Calibri" pitchFamily="34" charset="0"/>
                          <a:ea typeface="Calibri" pitchFamily="34" charset="-122"/>
                          <a:cs typeface="Calibri" pitchFamily="34" charset="-120"/>
                        </a:rPr>
                        <a:t>Sasaran pilot</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c>
                  <a:txBody>
                    <a:bodyPr/>
                    <a:lstStyle/>
                    <a:p>
                      <a:pPr algn="l" indent="0" marL="0">
                        <a:buNone/>
                      </a:pPr>
                      <a:r>
                        <a:rPr lang="en-US" sz="1150" b="1" dirty="0">
                          <a:solidFill>
                            <a:srgbClr val="52706D"/>
                          </a:solidFill>
                          <a:latin typeface="Calibri" pitchFamily="34" charset="0"/>
                          <a:ea typeface="Calibri" pitchFamily="34" charset="-122"/>
                          <a:cs typeface="Calibri" pitchFamily="34" charset="-120"/>
                        </a:rPr>
                        <a:t>Diukur dari</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r>
              <a:tr h="42976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Retensi hari ke-14  ·  UTAMA</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098277"/>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 60% keluarga masih memakai</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098277"/>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peristiwa di server</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098277"/>
                    </a:solidFill>
                  </a:tcPr>
                </a:tc>
              </a:tr>
              <a:tr h="429768">
                <a:tc>
                  <a:txBody>
                    <a:bodyPr/>
                    <a:lstStyle/>
                    <a:p>
                      <a:pPr indent="0" marL="0">
                        <a:buNone/>
                      </a:pPr>
                      <a:r>
                        <a:rPr lang="en-US" sz="1150" b="1" dirty="0">
                          <a:solidFill>
                            <a:srgbClr val="172C2A"/>
                          </a:solidFill>
                          <a:latin typeface="Calibri" pitchFamily="34" charset="0"/>
                          <a:ea typeface="Calibri" pitchFamily="34" charset="-122"/>
                          <a:cs typeface="Calibri" pitchFamily="34" charset="-120"/>
                        </a:rPr>
                        <a:t>Hari misi terlaksana</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50" dirty="0">
                          <a:solidFill>
                            <a:srgbClr val="172C2A"/>
                          </a:solidFill>
                          <a:latin typeface="Calibri" pitchFamily="34" charset="0"/>
                          <a:ea typeface="Calibri" pitchFamily="34" charset="-122"/>
                          <a:cs typeface="Calibri" pitchFamily="34" charset="-120"/>
                        </a:rPr>
                        <a:t>dipantau per pekan</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50" dirty="0">
                          <a:solidFill>
                            <a:srgbClr val="172C2A"/>
                          </a:solidFill>
                          <a:latin typeface="Calibri" pitchFamily="34" charset="0"/>
                          <a:ea typeface="Calibri" pitchFamily="34" charset="-122"/>
                          <a:cs typeface="Calibri" pitchFamily="34" charset="-120"/>
                        </a:rPr>
                        <a:t>peristiwa MIS</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429768">
                <a:tc>
                  <a:txBody>
                    <a:bodyPr/>
                    <a:lstStyle/>
                    <a:p>
                      <a:pPr indent="0" marL="0">
                        <a:buNone/>
                      </a:pPr>
                      <a:r>
                        <a:rPr lang="en-US" sz="1150" b="1" dirty="0">
                          <a:solidFill>
                            <a:srgbClr val="172C2A"/>
                          </a:solidFill>
                          <a:latin typeface="Calibri" pitchFamily="34" charset="0"/>
                          <a:ea typeface="Calibri" pitchFamily="34" charset="-122"/>
                          <a:cs typeface="Calibri" pitchFamily="34" charset="-120"/>
                        </a:rPr>
                        <a:t>Usulan terapis dijawab keluarga</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50" dirty="0">
                          <a:solidFill>
                            <a:srgbClr val="172C2A"/>
                          </a:solidFill>
                          <a:latin typeface="Calibri" pitchFamily="34" charset="0"/>
                          <a:ea typeface="Calibri" pitchFamily="34" charset="-122"/>
                          <a:cs typeface="Calibri" pitchFamily="34" charset="-120"/>
                        </a:rPr>
                        <a:t>dipantau per usulan</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50" dirty="0">
                          <a:solidFill>
                            <a:srgbClr val="172C2A"/>
                          </a:solidFill>
                          <a:latin typeface="Calibri" pitchFamily="34" charset="0"/>
                          <a:ea typeface="Calibri" pitchFamily="34" charset="-122"/>
                          <a:cs typeface="Calibri" pitchFamily="34" charset="-120"/>
                        </a:rPr>
                        <a:t>peristiwa TGT</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429768">
                <a:tc>
                  <a:txBody>
                    <a:bodyPr/>
                    <a:lstStyle/>
                    <a:p>
                      <a:pPr indent="0" marL="0">
                        <a:buNone/>
                      </a:pPr>
                      <a:r>
                        <a:rPr lang="en-US" sz="1150" b="1" dirty="0">
                          <a:solidFill>
                            <a:srgbClr val="172C2A"/>
                          </a:solidFill>
                          <a:latin typeface="Calibri" pitchFamily="34" charset="0"/>
                          <a:ea typeface="Calibri" pitchFamily="34" charset="-122"/>
                          <a:cs typeface="Calibri" pitchFamily="34" charset="-120"/>
                        </a:rPr>
                        <a:t>Waktu tinjauan terapis</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50" dirty="0">
                          <a:solidFill>
                            <a:srgbClr val="172C2A"/>
                          </a:solidFill>
                          <a:latin typeface="Calibri" pitchFamily="34" charset="0"/>
                          <a:ea typeface="Calibri" pitchFamily="34" charset="-122"/>
                          <a:cs typeface="Calibri" pitchFamily="34" charset="-120"/>
                        </a:rPr>
                        <a:t>&lt; 5 menit per anak</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50" dirty="0">
                          <a:solidFill>
                            <a:srgbClr val="172C2A"/>
                          </a:solidFill>
                          <a:latin typeface="Calibri" pitchFamily="34" charset="0"/>
                          <a:ea typeface="Calibri" pitchFamily="34" charset="-122"/>
                          <a:cs typeface="Calibri" pitchFamily="34" charset="-120"/>
                        </a:rPr>
                        <a:t>diukur otomatis di dasbor</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429768">
                <a:tc>
                  <a:txBody>
                    <a:bodyPr/>
                    <a:lstStyle/>
                    <a:p>
                      <a:pPr indent="0" marL="0">
                        <a:buNone/>
                      </a:pPr>
                      <a:r>
                        <a:rPr lang="en-US" sz="1150" b="1" dirty="0">
                          <a:solidFill>
                            <a:srgbClr val="172C2A"/>
                          </a:solidFill>
                          <a:latin typeface="Calibri" pitchFamily="34" charset="0"/>
                          <a:ea typeface="Calibri" pitchFamily="34" charset="-122"/>
                          <a:cs typeface="Calibri" pitchFamily="34" charset="-120"/>
                        </a:rPr>
                        <a:t>Kata berbeda per pekan</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50" dirty="0">
                          <a:solidFill>
                            <a:srgbClr val="172C2A"/>
                          </a:solidFill>
                          <a:latin typeface="Calibri" pitchFamily="34" charset="0"/>
                          <a:ea typeface="Calibri" pitchFamily="34" charset="-122"/>
                          <a:cs typeface="Calibri" pitchFamily="34" charset="-120"/>
                        </a:rPr>
                        <a:t>pola pemakaian, bukan skor</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150" dirty="0">
                          <a:solidFill>
                            <a:srgbClr val="172C2A"/>
                          </a:solidFill>
                          <a:latin typeface="Calibri" pitchFamily="34" charset="0"/>
                          <a:ea typeface="Calibri" pitchFamily="34" charset="-122"/>
                          <a:cs typeface="Calibri" pitchFamily="34" charset="-120"/>
                        </a:rPr>
                        <a:t>ketukan anak</a:t>
                      </a:r>
                      <a:endParaRPr lang="en-US" sz="1150" dirty="0">
                        <a:latin typeface="Calibri" charset="0"/>
                        <a:ea typeface="Calibri" charset="0"/>
                        <a:cs typeface="Calibri" charset="0"/>
                      </a:endParaRPr>
                    </a:p>
                  </a:txBody>
                  <a:tcPr marL="73152" marR="73152" marT="73152" marB="73152"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bl>
          </a:graphicData>
        </a:graphic>
      </p:graphicFrame>
      <p:sp>
        <p:nvSpPr>
          <p:cNvPr id="25" name="Shape 17"/>
          <p:cNvSpPr/>
          <p:nvPr/>
        </p:nvSpPr>
        <p:spPr>
          <a:xfrm>
            <a:off x="5029200" y="4572000"/>
            <a:ext cx="6613855" cy="1353312"/>
          </a:xfrm>
          <a:prstGeom prst="roundRect">
            <a:avLst>
              <a:gd name="adj" fmla="val 8108"/>
            </a:avLst>
          </a:prstGeom>
          <a:solidFill>
            <a:srgbClr val="FDF0D2"/>
          </a:solidFill>
          <a:ln w="12700">
            <a:solidFill>
              <a:srgbClr val="F5C862"/>
            </a:solidFill>
            <a:prstDash val="dash"/>
          </a:ln>
        </p:spPr>
      </p:sp>
      <p:sp>
        <p:nvSpPr>
          <p:cNvPr id="26" name="Text 18"/>
          <p:cNvSpPr/>
          <p:nvPr/>
        </p:nvSpPr>
        <p:spPr>
          <a:xfrm>
            <a:off x="5257800" y="4663440"/>
            <a:ext cx="3657600" cy="237744"/>
          </a:xfrm>
          <a:prstGeom prst="rect">
            <a:avLst/>
          </a:prstGeom>
          <a:noFill/>
          <a:ln/>
        </p:spPr>
        <p:txBody>
          <a:bodyPr wrap="square" lIns="0" tIns="0" rIns="0" bIns="0" rtlCol="0" anchor="ctr"/>
          <a:lstStyle/>
          <a:p>
            <a:pPr indent="0" marL="0">
              <a:buNone/>
            </a:pPr>
            <a:r>
              <a:rPr lang="en-US" sz="1000" b="1" spc="150" kern="0" dirty="0">
                <a:solidFill>
                  <a:srgbClr val="8A5B0A"/>
                </a:solidFill>
                <a:latin typeface="Calibri" pitchFamily="34" charset="0"/>
                <a:ea typeface="Calibri" pitchFamily="34" charset="-122"/>
                <a:cs typeface="Calibri" pitchFamily="34" charset="-120"/>
              </a:rPr>
              <a:t>MODEL KAPASITAS TERAPIS</a:t>
            </a:r>
            <a:endParaRPr lang="en-US" sz="1000" dirty="0"/>
          </a:p>
        </p:txBody>
      </p:sp>
      <p:sp>
        <p:nvSpPr>
          <p:cNvPr id="27" name="Text 19"/>
          <p:cNvSpPr/>
          <p:nvPr/>
        </p:nvSpPr>
        <p:spPr>
          <a:xfrm>
            <a:off x="9402775" y="4663440"/>
            <a:ext cx="2011680" cy="256032"/>
          </a:xfrm>
          <a:prstGeom prst="roundRect">
            <a:avLst>
              <a:gd name="adj" fmla="val 50000"/>
            </a:avLst>
          </a:prstGeom>
          <a:solidFill>
            <a:srgbClr val="8A5B0A"/>
          </a:solidFill>
          <a:ln>
            <a:solidFill>
              <a:srgbClr val="8A5B0A"/>
            </a:solid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ASUMSI · DIUJI DI PILOT</a:t>
            </a:r>
            <a:endParaRPr lang="en-US" sz="850" dirty="0"/>
          </a:p>
        </p:txBody>
      </p:sp>
      <p:sp>
        <p:nvSpPr>
          <p:cNvPr id="28" name="Text 20"/>
          <p:cNvSpPr/>
          <p:nvPr/>
        </p:nvSpPr>
        <p:spPr>
          <a:xfrm>
            <a:off x="5257800" y="4956048"/>
            <a:ext cx="6156655" cy="502920"/>
          </a:xfrm>
          <a:prstGeom prst="rect">
            <a:avLst/>
          </a:prstGeom>
          <a:noFill/>
          <a:ln/>
        </p:spPr>
        <p:txBody>
          <a:bodyPr wrap="square" lIns="0" tIns="0" rIns="0" bIns="0" rtlCol="0" anchor="ctr"/>
          <a:lstStyle/>
          <a:p>
            <a:pPr indent="0" marL="0">
              <a:buNone/>
            </a:pPr>
            <a:r>
              <a:rPr lang="en-US" sz="1550" b="1" dirty="0">
                <a:solidFill>
                  <a:srgbClr val="172C2A"/>
                </a:solidFill>
                <a:latin typeface="Trebuchet MS" pitchFamily="34" charset="0"/>
                <a:ea typeface="Trebuchet MS" pitchFamily="34" charset="-122"/>
                <a:cs typeface="Trebuchet MS" pitchFamily="34" charset="-120"/>
              </a:rPr>
              <a:t>60 menit</a:t>
            </a:r>
            <a:pPr indent="0" marL="0">
              <a:buNone/>
            </a:pPr>
            <a:r>
              <a:rPr lang="en-US" sz="1550" dirty="0">
                <a:solidFill>
                  <a:srgbClr val="52706D"/>
                </a:solidFill>
                <a:latin typeface="Trebuchet MS" pitchFamily="34" charset="0"/>
                <a:ea typeface="Trebuchet MS" pitchFamily="34" charset="-122"/>
                <a:cs typeface="Trebuchet MS" pitchFamily="34" charset="-120"/>
              </a:rPr>
              <a:t>  ÷  </a:t>
            </a:r>
            <a:pPr indent="0" marL="0">
              <a:buNone/>
            </a:pPr>
            <a:r>
              <a:rPr lang="en-US" sz="1550" b="1" dirty="0">
                <a:solidFill>
                  <a:srgbClr val="172C2A"/>
                </a:solidFill>
                <a:latin typeface="Trebuchet MS" pitchFamily="34" charset="0"/>
                <a:ea typeface="Trebuchet MS" pitchFamily="34" charset="-122"/>
                <a:cs typeface="Trebuchet MS" pitchFamily="34" charset="-120"/>
              </a:rPr>
              <a:t>5 menit per anak</a:t>
            </a:r>
            <a:pPr indent="0" marL="0">
              <a:buNone/>
            </a:pPr>
            <a:r>
              <a:rPr lang="en-US" sz="1550" dirty="0">
                <a:solidFill>
                  <a:srgbClr val="52706D"/>
                </a:solidFill>
                <a:latin typeface="Trebuchet MS" pitchFamily="34" charset="0"/>
                <a:ea typeface="Trebuchet MS" pitchFamily="34" charset="-122"/>
                <a:cs typeface="Trebuchet MS" pitchFamily="34" charset="-120"/>
              </a:rPr>
              <a:t>  =  </a:t>
            </a:r>
            <a:pPr indent="0" marL="0">
              <a:buNone/>
            </a:pPr>
            <a:r>
              <a:rPr lang="en-US" sz="1550" b="1" dirty="0">
                <a:solidFill>
                  <a:srgbClr val="C23D42"/>
                </a:solidFill>
                <a:latin typeface="Trebuchet MS" pitchFamily="34" charset="0"/>
                <a:ea typeface="Trebuchet MS" pitchFamily="34" charset="-122"/>
                <a:cs typeface="Trebuchet MS" pitchFamily="34" charset="-120"/>
              </a:rPr>
              <a:t>12 keluarga</a:t>
            </a:r>
            <a:pPr indent="0" marL="0">
              <a:buNone/>
            </a:pPr>
            <a:r>
              <a:rPr lang="en-US" sz="1550" dirty="0">
                <a:solidFill>
                  <a:srgbClr val="172C2A"/>
                </a:solidFill>
                <a:latin typeface="Trebuchet MS" pitchFamily="34" charset="0"/>
                <a:ea typeface="Trebuchet MS" pitchFamily="34" charset="-122"/>
                <a:cs typeface="Trebuchet MS" pitchFamily="34" charset="-120"/>
              </a:rPr>
              <a:t> per jam terapis</a:t>
            </a:r>
            <a:endParaRPr lang="en-US" sz="1550" dirty="0"/>
          </a:p>
        </p:txBody>
      </p:sp>
      <p:sp>
        <p:nvSpPr>
          <p:cNvPr id="29" name="Text 21"/>
          <p:cNvSpPr/>
          <p:nvPr/>
        </p:nvSpPr>
        <p:spPr>
          <a:xfrm>
            <a:off x="5257800" y="5486400"/>
            <a:ext cx="6156655" cy="347472"/>
          </a:xfrm>
          <a:prstGeom prst="rect">
            <a:avLst/>
          </a:prstGeom>
          <a:noFill/>
          <a:ln/>
        </p:spPr>
        <p:txBody>
          <a:bodyPr wrap="square" lIns="0" tIns="0" rIns="0" bIns="0" rtlCol="0" anchor="ctr"/>
          <a:lstStyle/>
          <a:p>
            <a:pPr indent="0" marL="0">
              <a:buNone/>
            </a:pPr>
            <a:r>
              <a:rPr lang="en-US" sz="1050" i="1" dirty="0">
                <a:solidFill>
                  <a:srgbClr val="8A5B0A"/>
                </a:solidFill>
                <a:latin typeface="Calibri" pitchFamily="34" charset="0"/>
                <a:ea typeface="Calibri" pitchFamily="34" charset="-122"/>
                <a:cs typeface="Calibri" pitchFamily="34" charset="-120"/>
              </a:rPr>
              <a:t>Waktu tinjauan diukur otomatis di dasbor, jadi angka ini bisa dibuktikan atau dibantah di pilot.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8277"/>
        </a:solidFill>
      </p:bgPr>
    </p:bg>
    <p:spTree>
      <p:nvGrpSpPr>
        <p:cNvPr id="1" name=""/>
        <p:cNvGrpSpPr/>
        <p:nvPr/>
      </p:nvGrpSpPr>
      <p:grpSpPr>
        <a:xfrm>
          <a:off x="0" y="0"/>
          <a:ext cx="0" cy="0"/>
          <a:chOff x="0" y="0"/>
          <a:chExt cx="0" cy="0"/>
        </a:xfrm>
      </p:grpSpPr>
      <p:sp>
        <p:nvSpPr>
          <p:cNvPr id="2" name="Shape 0"/>
          <p:cNvSpPr/>
          <p:nvPr/>
        </p:nvSpPr>
        <p:spPr>
          <a:xfrm>
            <a:off x="5272888" y="868680"/>
            <a:ext cx="1645920" cy="1645920"/>
          </a:xfrm>
          <a:prstGeom prst="ellipse">
            <a:avLst/>
          </a:prstGeom>
          <a:solidFill>
            <a:srgbClr val="FFFFFF"/>
          </a:solidFill>
          <a:ln w="12700">
            <a:solidFill>
              <a:srgbClr val="FFFFFF"/>
            </a:solidFill>
            <a:prstDash val="solid"/>
          </a:ln>
        </p:spPr>
      </p:sp>
      <p:pic>
        <p:nvPicPr>
          <p:cNvPr id="3" name="Image 0" descr="C:\Users\mikae\OneDrive\Documents\Lomba\IFEST\Nyambung\app\assets\brand\logo_mark.png">    </p:cNvPr>
          <p:cNvPicPr>
            <a:picLocks noChangeAspect="1"/>
          </p:cNvPicPr>
          <p:nvPr/>
        </p:nvPicPr>
        <p:blipFill>
          <a:blip r:embed="rId1"/>
          <a:stretch>
            <a:fillRect/>
          </a:stretch>
        </p:blipFill>
        <p:spPr>
          <a:xfrm>
            <a:off x="5528920" y="1124712"/>
            <a:ext cx="1133856" cy="1133856"/>
          </a:xfrm>
          <a:prstGeom prst="rect">
            <a:avLst/>
          </a:prstGeom>
        </p:spPr>
      </p:pic>
      <p:sp>
        <p:nvSpPr>
          <p:cNvPr id="4" name="Text 1"/>
          <p:cNvSpPr/>
          <p:nvPr/>
        </p:nvSpPr>
        <p:spPr>
          <a:xfrm>
            <a:off x="0" y="2697480"/>
            <a:ext cx="12191695"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Nyambung</a:t>
            </a:r>
            <a:endParaRPr lang="en-US" sz="3600" dirty="0"/>
          </a:p>
        </p:txBody>
      </p:sp>
      <p:sp>
        <p:nvSpPr>
          <p:cNvPr id="5" name="Text 2"/>
          <p:cNvSpPr/>
          <p:nvPr/>
        </p:nvSpPr>
        <p:spPr>
          <a:xfrm>
            <a:off x="0" y="3474720"/>
            <a:ext cx="12191695" cy="548640"/>
          </a:xfrm>
          <a:prstGeom prst="rect">
            <a:avLst/>
          </a:prstGeom>
          <a:noFill/>
          <a:ln/>
        </p:spPr>
        <p:txBody>
          <a:bodyPr wrap="square" lIns="0" tIns="0" rIns="0" bIns="0" rtlCol="0" anchor="ctr"/>
          <a:lstStyle/>
          <a:p>
            <a:pPr algn="ctr" indent="0" marL="0">
              <a:buNone/>
            </a:pPr>
            <a:r>
              <a:rPr lang="en-US" sz="2400" i="1" dirty="0">
                <a:solidFill>
                  <a:srgbClr val="DFF6F3"/>
                </a:solidFill>
                <a:latin typeface="Trebuchet MS" pitchFamily="34" charset="0"/>
                <a:ea typeface="Trebuchet MS" pitchFamily="34" charset="-122"/>
                <a:cs typeface="Trebuchet MS" pitchFamily="34" charset="-120"/>
              </a:rPr>
              <a:t>Hubungan dimulai saat seseorang bisa dipahami.</a:t>
            </a:r>
            <a:endParaRPr lang="en-US" sz="2400" dirty="0"/>
          </a:p>
        </p:txBody>
      </p:sp>
      <p:sp>
        <p:nvSpPr>
          <p:cNvPr id="6" name="Text 3"/>
          <p:cNvSpPr/>
          <p:nvPr/>
        </p:nvSpPr>
        <p:spPr>
          <a:xfrm>
            <a:off x="0" y="4343400"/>
            <a:ext cx="12191695" cy="411480"/>
          </a:xfrm>
          <a:prstGeom prst="rect">
            <a:avLst/>
          </a:prstGeom>
          <a:noFill/>
          <a:ln/>
        </p:spPr>
        <p:txBody>
          <a:bodyPr wrap="square" lIns="0" tIns="0" rIns="0" bIns="0" rtlCol="0" anchor="ctr"/>
          <a:lstStyle/>
          <a:p>
            <a:pPr algn="ctr" indent="0" marL="0">
              <a:buNone/>
            </a:pPr>
            <a:r>
              <a:rPr lang="en-US" sz="1800" b="1" spc="400" kern="0" dirty="0">
                <a:solidFill>
                  <a:srgbClr val="BADE4A"/>
                </a:solidFill>
                <a:latin typeface="Calibri" pitchFamily="34" charset="0"/>
                <a:ea typeface="Calibri" pitchFamily="34" charset="-122"/>
                <a:cs typeface="Calibri" pitchFamily="34" charset="-120"/>
              </a:rPr>
              <a:t>ANAK  •  KELUARGA  •  TERAPIS</a:t>
            </a:r>
            <a:endParaRPr lang="en-US" sz="1800" dirty="0"/>
          </a:p>
        </p:txBody>
      </p:sp>
      <p:sp>
        <p:nvSpPr>
          <p:cNvPr id="7" name="Text 4"/>
          <p:cNvSpPr/>
          <p:nvPr/>
        </p:nvSpPr>
        <p:spPr>
          <a:xfrm>
            <a:off x="0" y="4754880"/>
            <a:ext cx="12191695" cy="365760"/>
          </a:xfrm>
          <a:prstGeom prst="rect">
            <a:avLst/>
          </a:prstGeom>
          <a:noFill/>
          <a:ln/>
        </p:spPr>
        <p:txBody>
          <a:bodyPr wrap="square" lIns="0" tIns="0" rIns="0" bIns="0" rtlCol="0" anchor="ctr"/>
          <a:lstStyle/>
          <a:p>
            <a:pPr algn="ctr" indent="0" marL="0">
              <a:buNone/>
            </a:pPr>
            <a:r>
              <a:rPr lang="en-US" sz="1300" b="1" spc="600" kern="0" dirty="0">
                <a:solidFill>
                  <a:srgbClr val="A0DDD7"/>
                </a:solidFill>
                <a:latin typeface="Calibri" pitchFamily="34" charset="0"/>
                <a:ea typeface="Calibri" pitchFamily="34" charset="-122"/>
                <a:cs typeface="Calibri" pitchFamily="34" charset="-120"/>
              </a:rPr>
              <a:t>TERSAMBUNG</a:t>
            </a:r>
            <a:endParaRPr lang="en-US" sz="1300" dirty="0"/>
          </a:p>
        </p:txBody>
      </p:sp>
      <p:sp>
        <p:nvSpPr>
          <p:cNvPr id="8" name="Text 5"/>
          <p:cNvSpPr/>
          <p:nvPr/>
        </p:nvSpPr>
        <p:spPr>
          <a:xfrm>
            <a:off x="0" y="6172200"/>
            <a:ext cx="12191695" cy="320040"/>
          </a:xfrm>
          <a:prstGeom prst="rect">
            <a:avLst/>
          </a:prstGeom>
          <a:noFill/>
          <a:ln/>
        </p:spPr>
        <p:txBody>
          <a:bodyPr wrap="square" lIns="0" tIns="0" rIns="0" bIns="0" rtlCol="0" anchor="ctr"/>
          <a:lstStyle/>
          <a:p>
            <a:pPr algn="ctr" indent="0" marL="0">
              <a:buNone/>
            </a:pPr>
            <a:r>
              <a:rPr lang="en-US" sz="1100" dirty="0">
                <a:solidFill>
                  <a:srgbClr val="A0DDD7"/>
                </a:solidFill>
                <a:latin typeface="Calibri" pitchFamily="34" charset="0"/>
                <a:ea typeface="Calibri" pitchFamily="34" charset="-122"/>
                <a:cs typeface="Calibri" pitchFamily="34" charset="-120"/>
              </a:rPr>
              <a:t>Teen Tensors · Hackathon IFEST 2026 · Tech for Human Connections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LAMPIRAN A · UNTUK Q&amp;A</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Dua belas kata inti: berbasis literatur, dengan alasan tertulis per kata</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1883664"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Lampiran · untuk Q&amp;A</a:t>
            </a:r>
            <a:endParaRPr lang="en-US" sz="950" dirty="0"/>
          </a:p>
        </p:txBody>
      </p:sp>
      <p:sp>
        <p:nvSpPr>
          <p:cNvPr id="6" name="Text 3"/>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14</a:t>
            </a:r>
            <a:endParaRPr lang="en-US" sz="1000" dirty="0"/>
          </a:p>
        </p:txBody>
      </p:sp>
      <p:sp>
        <p:nvSpPr>
          <p:cNvPr id="7" name="Text 4"/>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Banajee dkk. (2003): 23 kata inti balita, nol kata benda · Project Core Universal Core (36 kata) · OS = peringkat frekuensi OpenSubtitles 2018 (kecil = sering; korpus dewasa, hanya pemecah seri).</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685800"/>
                <a:gridCol w="1188720"/>
                <a:gridCol w="1234440"/>
                <a:gridCol w="1234440"/>
                <a:gridCol w="640080"/>
                <a:gridCol w="6110935"/>
              </a:tblGrid>
              <a:tr h="310896">
                <a:tc>
                  <a:txBody>
                    <a:bodyPr/>
                    <a:lstStyle/>
                    <a:p>
                      <a:pPr indent="0" marL="0">
                        <a:buNone/>
                      </a:pPr>
                      <a:r>
                        <a:rPr lang="en-US" sz="1050" b="1" dirty="0">
                          <a:solidFill>
                            <a:srgbClr val="52706D"/>
                          </a:solidFill>
                          <a:latin typeface="Calibri" pitchFamily="34" charset="0"/>
                          <a:ea typeface="Calibri" pitchFamily="34" charset="-122"/>
                          <a:cs typeface="Calibri" pitchFamily="34" charset="-120"/>
                        </a:rPr>
                        <a:t>Posisi</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c>
                  <a:txBody>
                    <a:bodyPr/>
                    <a:lstStyle/>
                    <a:p>
                      <a:pPr indent="0" marL="0">
                        <a:buNone/>
                      </a:pPr>
                      <a:r>
                        <a:rPr lang="en-US" sz="1050" b="1" dirty="0">
                          <a:solidFill>
                            <a:srgbClr val="52706D"/>
                          </a:solidFill>
                          <a:latin typeface="Calibri" pitchFamily="34" charset="0"/>
                          <a:ea typeface="Calibri" pitchFamily="34" charset="-122"/>
                          <a:cs typeface="Calibri" pitchFamily="34" charset="-120"/>
                        </a:rPr>
                        <a:t>Kata</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c>
                  <a:txBody>
                    <a:bodyPr/>
                    <a:lstStyle/>
                    <a:p>
                      <a:pPr indent="0" marL="0">
                        <a:buNone/>
                      </a:pPr>
                      <a:r>
                        <a:rPr lang="en-US" sz="1050" b="1" dirty="0">
                          <a:solidFill>
                            <a:srgbClr val="52706D"/>
                          </a:solidFill>
                          <a:latin typeface="Calibri" pitchFamily="34" charset="0"/>
                          <a:ea typeface="Calibri" pitchFamily="34" charset="-122"/>
                          <a:cs typeface="Calibri" pitchFamily="34" charset="-120"/>
                        </a:rPr>
                        <a:t>Banajee 2003</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c>
                  <a:txBody>
                    <a:bodyPr/>
                    <a:lstStyle/>
                    <a:p>
                      <a:pPr indent="0" marL="0">
                        <a:buNone/>
                      </a:pPr>
                      <a:r>
                        <a:rPr lang="en-US" sz="1050" b="1" dirty="0">
                          <a:solidFill>
                            <a:srgbClr val="52706D"/>
                          </a:solidFill>
                          <a:latin typeface="Calibri" pitchFamily="34" charset="0"/>
                          <a:ea typeface="Calibri" pitchFamily="34" charset="-122"/>
                          <a:cs typeface="Calibri" pitchFamily="34" charset="-120"/>
                        </a:rPr>
                        <a:t>Project Core</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c>
                  <a:txBody>
                    <a:bodyPr/>
                    <a:lstStyle/>
                    <a:p>
                      <a:pPr indent="0" marL="0">
                        <a:buNone/>
                      </a:pPr>
                      <a:r>
                        <a:rPr lang="en-US" sz="1050" b="1" dirty="0">
                          <a:solidFill>
                            <a:srgbClr val="52706D"/>
                          </a:solidFill>
                          <a:latin typeface="Calibri" pitchFamily="34" charset="0"/>
                          <a:ea typeface="Calibri" pitchFamily="34" charset="-122"/>
                          <a:cs typeface="Calibri" pitchFamily="34" charset="-120"/>
                        </a:rPr>
                        <a:t>OS</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c>
                  <a:txBody>
                    <a:bodyPr/>
                    <a:lstStyle/>
                    <a:p>
                      <a:pPr indent="0" marL="0">
                        <a:buNone/>
                      </a:pPr>
                      <a:r>
                        <a:rPr lang="en-US" sz="1050" b="1" dirty="0">
                          <a:solidFill>
                            <a:srgbClr val="52706D"/>
                          </a:solidFill>
                          <a:latin typeface="Calibri" pitchFamily="34" charset="0"/>
                          <a:ea typeface="Calibri" pitchFamily="34" charset="-122"/>
                          <a:cs typeface="Calibri" pitchFamily="34" charset="-120"/>
                        </a:rPr>
                        <a:t>Alasan</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E8F6F5"/>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MAU</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want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WANT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Meminta; kedua daftar</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BERHENTI</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STOP</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185</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Protes yang tidak punya kata keluar sebagai perilaku</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BANTU</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help</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HELP</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540</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Kedua daftar</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NOT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Menolak; kedua daftar</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SELESAI</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all done</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FINISHED</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306</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Menutup kegiatan; kedua daftar</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SAKIT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237</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Pengecualian keselamatan: nyeri keluar sebagai perilaku</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AKU</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Kedua daftar</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MAKAN</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169</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Kebutuhan dasar; meminta adalah fungsi pertama (Bondy &amp; Frost 1994)</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MINUM</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329</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Idem</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YA</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Pasangan TIDAK; Banajee</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LAGI</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more</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MORE</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Kedua daftar</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b="1" dirty="0">
                          <a:solidFill>
                            <a:srgbClr val="026E65"/>
                          </a:solidFill>
                          <a:latin typeface="Calibri" pitchFamily="34" charset="0"/>
                          <a:ea typeface="Calibri" pitchFamily="34" charset="-122"/>
                          <a:cs typeface="Calibri" pitchFamily="34" charset="-120"/>
                        </a:rPr>
                        <a:t>ITU</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that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THAT</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c>
                  <a:txBody>
                    <a:bodyPr/>
                    <a:lstStyle/>
                    <a:p>
                      <a:pPr indent="0" marL="0">
                        <a:buNone/>
                      </a:pPr>
                      <a:r>
                        <a:rPr lang="en-US" sz="1050" dirty="0">
                          <a:solidFill>
                            <a:srgbClr val="172C2A"/>
                          </a:solidFill>
                          <a:latin typeface="Calibri" pitchFamily="34" charset="0"/>
                          <a:ea typeface="Calibri" pitchFamily="34" charset="-122"/>
                          <a:cs typeface="Calibri" pitchFamily="34" charset="-120"/>
                        </a:rPr>
                        <a:t>AKU MAU ITU meminta benda apa pun tanpa kata benda</a:t>
                      </a:r>
                      <a:endParaRPr lang="en-US" sz="1050" dirty="0">
                        <a:latin typeface="Calibri" charset="0"/>
                        <a:ea typeface="Calibri" charset="0"/>
                        <a:cs typeface="Calibri" charset="0"/>
                      </a:endParaRPr>
                    </a:p>
                  </a:txBody>
                  <a:tcPr marL="45720" marR="45720" marT="45720" marB="45720" anchor="ctr">
                    <a:lnL w="9525" cap="flat" cmpd="sng" algn="ctr">
                      <a:solidFill>
                        <a:srgbClr val="DCEEEC"/>
                      </a:solidFill>
                      <a:prstDash val="solid"/>
                      <a:round/>
                      <a:headEnd type="none" w="med" len="med"/>
                      <a:tailEnd type="none" w="med" len="med"/>
                    </a:lnL>
                    <a:lnR w="9525" cap="flat" cmpd="sng" algn="ctr">
                      <a:solidFill>
                        <a:srgbClr val="DCEEEC"/>
                      </a:solidFill>
                      <a:prstDash val="solid"/>
                      <a:round/>
                      <a:headEnd type="none" w="med" len="med"/>
                      <a:tailEnd type="none" w="med" len="med"/>
                    </a:lnR>
                    <a:lnT w="9525" cap="flat" cmpd="sng" algn="ctr">
                      <a:solidFill>
                        <a:srgbClr val="DCEEEC"/>
                      </a:solidFill>
                      <a:prstDash val="solid"/>
                      <a:round/>
                      <a:headEnd type="none" w="med" len="med"/>
                      <a:tailEnd type="none" w="med" len="med"/>
                    </a:lnT>
                    <a:lnB w="9525" cap="flat" cmpd="sng" algn="ctr">
                      <a:solidFill>
                        <a:srgbClr val="DCEE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LAMPIRAN B · UNTUK Q&amp;A</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Batasan yang kami akui, dan apa yang dikerjakan berikutnya</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1883664"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Lampiran · untuk Q&amp;A</a:t>
            </a:r>
            <a:endParaRPr lang="en-US" sz="950" dirty="0"/>
          </a:p>
        </p:txBody>
      </p:sp>
      <p:sp>
        <p:nvSpPr>
          <p:cNvPr id="6" name="Text 3"/>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15</a:t>
            </a:r>
            <a:endParaRPr lang="en-US" sz="1000" dirty="0"/>
          </a:p>
        </p:txBody>
      </p:sp>
      <p:sp>
        <p:nvSpPr>
          <p:cNvPr id="7" name="Text 4"/>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Sumber: README "Batasan yang kami akui", 03-basis-ilmiah §7–§8, PERUBAHAN.md.</a:t>
            </a:r>
            <a:endParaRPr lang="en-US" sz="850" dirty="0"/>
          </a:p>
        </p:txBody>
      </p:sp>
      <p:sp>
        <p:nvSpPr>
          <p:cNvPr id="9" name="Shape 5"/>
          <p:cNvSpPr/>
          <p:nvPr/>
        </p:nvSpPr>
        <p:spPr>
          <a:xfrm>
            <a:off x="548640" y="1783080"/>
            <a:ext cx="5410048" cy="4114800"/>
          </a:xfrm>
          <a:prstGeom prst="roundRect">
            <a:avLst>
              <a:gd name="adj" fmla="val 2667"/>
            </a:avLst>
          </a:prstGeom>
          <a:solidFill>
            <a:srgbClr val="FFFFFF"/>
          </a:solidFill>
          <a:ln w="9525">
            <a:solidFill>
              <a:srgbClr val="DCEEEC"/>
            </a:solidFill>
            <a:prstDash val="solid"/>
          </a:ln>
        </p:spPr>
      </p:sp>
      <p:sp>
        <p:nvSpPr>
          <p:cNvPr id="10" name="Shape 6"/>
          <p:cNvSpPr/>
          <p:nvPr/>
        </p:nvSpPr>
        <p:spPr>
          <a:xfrm>
            <a:off x="731520" y="1920240"/>
            <a:ext cx="2377440" cy="310896"/>
          </a:xfrm>
          <a:prstGeom prst="roundRect">
            <a:avLst>
              <a:gd name="adj" fmla="val 50000"/>
            </a:avLst>
          </a:prstGeom>
          <a:solidFill>
            <a:srgbClr val="FDE1E2"/>
          </a:solidFill>
          <a:ln w="12700">
            <a:solidFill>
              <a:srgbClr val="FDE1E2"/>
            </a:solidFill>
            <a:prstDash val="solid"/>
          </a:ln>
        </p:spPr>
      </p:sp>
      <p:sp>
        <p:nvSpPr>
          <p:cNvPr id="11" name="Text 7"/>
          <p:cNvSpPr/>
          <p:nvPr/>
        </p:nvSpPr>
        <p:spPr>
          <a:xfrm>
            <a:off x="731520" y="1920240"/>
            <a:ext cx="2377440" cy="310896"/>
          </a:xfrm>
          <a:prstGeom prst="rect">
            <a:avLst/>
          </a:prstGeom>
          <a:noFill/>
          <a:ln/>
        </p:spPr>
        <p:txBody>
          <a:bodyPr wrap="square" lIns="0" tIns="0" rIns="0" bIns="0" rtlCol="0" anchor="ctr"/>
          <a:lstStyle/>
          <a:p>
            <a:pPr algn="ctr" indent="0" marL="0">
              <a:buNone/>
            </a:pPr>
            <a:r>
              <a:rPr lang="en-US" sz="1050" b="1" spc="150" kern="0" dirty="0">
                <a:solidFill>
                  <a:srgbClr val="C23D42"/>
                </a:solidFill>
                <a:latin typeface="Calibri" pitchFamily="34" charset="0"/>
                <a:ea typeface="Calibri" pitchFamily="34" charset="-122"/>
                <a:cs typeface="Calibri" pitchFamily="34" charset="-120"/>
              </a:rPr>
              <a:t>BATASAN SAAT INI</a:t>
            </a:r>
            <a:endParaRPr lang="en-US" sz="1050" dirty="0"/>
          </a:p>
        </p:txBody>
      </p:sp>
      <p:sp>
        <p:nvSpPr>
          <p:cNvPr id="12" name="Text 8"/>
          <p:cNvSpPr/>
          <p:nvPr/>
        </p:nvSpPr>
        <p:spPr>
          <a:xfrm>
            <a:off x="777240" y="2423160"/>
            <a:ext cx="4952848" cy="3383280"/>
          </a:xfrm>
          <a:prstGeom prst="rect">
            <a:avLst/>
          </a:prstGeom>
          <a:noFill/>
          <a:ln/>
        </p:spPr>
        <p:txBody>
          <a:bodyPr wrap="square" lIns="0" tIns="0" rIns="0" bIns="0" rtlCol="0" anchor="t"/>
          <a:lstStyle/>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Server HTTP di jaringan lokal, belum HTTPS</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Token perangkat di shared_preferences tanpa enkripsi</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Belum ada pembatasan laju tebakan kode undangan</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Suara papan klip sintetis, bukan rekaman manusia; lafal belum ditinjau satu per satu</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Belum diuji di banyak ROM dan HP fisik 2 GB</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Daftar 120 kata belum ditinjau terapis wicara; 35 simbol buatan tim belum digambar</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Sinkron otomatis hanya saat aplikasi terbuka (belum layanan latar)</a:t>
            </a:r>
            <a:endParaRPr lang="en-US" sz="1400" dirty="0"/>
          </a:p>
        </p:txBody>
      </p:sp>
      <p:sp>
        <p:nvSpPr>
          <p:cNvPr id="13" name="Shape 9"/>
          <p:cNvSpPr/>
          <p:nvPr/>
        </p:nvSpPr>
        <p:spPr>
          <a:xfrm>
            <a:off x="6233008" y="1783080"/>
            <a:ext cx="5410048" cy="4114800"/>
          </a:xfrm>
          <a:prstGeom prst="roundRect">
            <a:avLst>
              <a:gd name="adj" fmla="val 2667"/>
            </a:avLst>
          </a:prstGeom>
          <a:solidFill>
            <a:srgbClr val="FFFFFF"/>
          </a:solidFill>
          <a:ln w="9525">
            <a:solidFill>
              <a:srgbClr val="DCEEEC"/>
            </a:solidFill>
            <a:prstDash val="solid"/>
          </a:ln>
        </p:spPr>
      </p:sp>
      <p:sp>
        <p:nvSpPr>
          <p:cNvPr id="14" name="Shape 10"/>
          <p:cNvSpPr/>
          <p:nvPr/>
        </p:nvSpPr>
        <p:spPr>
          <a:xfrm>
            <a:off x="6415888" y="1920240"/>
            <a:ext cx="2377440" cy="310896"/>
          </a:xfrm>
          <a:prstGeom prst="roundRect">
            <a:avLst>
              <a:gd name="adj" fmla="val 50000"/>
            </a:avLst>
          </a:prstGeom>
          <a:solidFill>
            <a:srgbClr val="DFF6F3"/>
          </a:solidFill>
          <a:ln w="12700">
            <a:solidFill>
              <a:srgbClr val="DFF6F3"/>
            </a:solidFill>
            <a:prstDash val="solid"/>
          </a:ln>
        </p:spPr>
      </p:sp>
      <p:sp>
        <p:nvSpPr>
          <p:cNvPr id="15" name="Text 11"/>
          <p:cNvSpPr/>
          <p:nvPr/>
        </p:nvSpPr>
        <p:spPr>
          <a:xfrm>
            <a:off x="6415888" y="1920240"/>
            <a:ext cx="2377440" cy="310896"/>
          </a:xfrm>
          <a:prstGeom prst="rect">
            <a:avLst/>
          </a:prstGeom>
          <a:noFill/>
          <a:ln/>
        </p:spPr>
        <p:txBody>
          <a:bodyPr wrap="square" lIns="0" tIns="0" rIns="0" bIns="0" rtlCol="0" anchor="ctr"/>
          <a:lstStyle/>
          <a:p>
            <a:pPr algn="ctr" indent="0" marL="0">
              <a:buNone/>
            </a:pPr>
            <a:r>
              <a:rPr lang="en-US" sz="1050" b="1" spc="150" kern="0" dirty="0">
                <a:solidFill>
                  <a:srgbClr val="026E65"/>
                </a:solidFill>
                <a:latin typeface="Calibri" pitchFamily="34" charset="0"/>
                <a:ea typeface="Calibri" pitchFamily="34" charset="-122"/>
                <a:cs typeface="Calibri" pitchFamily="34" charset="-120"/>
              </a:rPr>
              <a:t>BERIKUTNYA</a:t>
            </a:r>
            <a:endParaRPr lang="en-US" sz="1050" dirty="0"/>
          </a:p>
        </p:txBody>
      </p:sp>
      <p:sp>
        <p:nvSpPr>
          <p:cNvPr id="16" name="Text 12"/>
          <p:cNvSpPr/>
          <p:nvPr/>
        </p:nvSpPr>
        <p:spPr>
          <a:xfrm>
            <a:off x="6461608" y="2423160"/>
            <a:ext cx="4952848" cy="3383280"/>
          </a:xfrm>
          <a:prstGeom prst="rect">
            <a:avLst/>
          </a:prstGeom>
          <a:noFill/>
          <a:ln/>
        </p:spPr>
        <p:txBody>
          <a:bodyPr wrap="square" lIns="0" tIns="0" rIns="0" bIns="0" rtlCol="0" anchor="t"/>
          <a:lstStyle/>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Pilot 6 pekan: retensi hari ke-14 ≥ 60% sebagai metrik utama</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Validasi klinis daftar kata dan aturan triase bersama terapis wicara</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HTTPS, enkripsi basis data dan token, rotasi token</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Validasi kata terhadap tuturan anak Indonesia (MPI-EVA Jakarta Child Language Database)</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Suara sintetis personal, dengan syarat rekaman keluarga tetap di perangkat</a:t>
            </a:r>
            <a:endParaRPr lang="en-US" sz="1400" dirty="0"/>
          </a:p>
          <a:p>
            <a:pPr marL="342900" indent="-342900">
              <a:spcAft>
                <a:spcPts val="1100"/>
              </a:spcAft>
              <a:buSzPct val="100000"/>
              <a:buChar char="•"/>
            </a:pPr>
            <a:r>
              <a:rPr lang="en-US" sz="1400" dirty="0">
                <a:solidFill>
                  <a:srgbClr val="172C2A"/>
                </a:solidFill>
                <a:latin typeface="Calibri" pitchFamily="34" charset="0"/>
                <a:ea typeface="Calibri" pitchFamily="34" charset="-122"/>
                <a:cs typeface="Calibri" pitchFamily="34" charset="-120"/>
              </a:rPr>
              <a:t>Postgres untuk banyak klinik; sinkron latar Android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AFA"/>
        </a:solidFill>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026E65"/>
                </a:solidFill>
                <a:latin typeface="Calibri" pitchFamily="34" charset="0"/>
                <a:ea typeface="Calibri" pitchFamily="34" charset="-122"/>
                <a:cs typeface="Calibri" pitchFamily="34" charset="-120"/>
              </a:rPr>
              <a:t>LAMPIRAN C · UNTUK Q&amp;A</a:t>
            </a:r>
            <a:endParaRPr lang="en-US" sz="1100" dirty="0"/>
          </a:p>
        </p:txBody>
      </p:sp>
      <p:sp>
        <p:nvSpPr>
          <p:cNvPr id="3" name="Text 1"/>
          <p:cNvSpPr/>
          <p:nvPr/>
        </p:nvSpPr>
        <p:spPr>
          <a:xfrm>
            <a:off x="548640" y="621792"/>
            <a:ext cx="10241280" cy="914400"/>
          </a:xfrm>
          <a:prstGeom prst="rect">
            <a:avLst/>
          </a:prstGeom>
          <a:noFill/>
          <a:ln/>
        </p:spPr>
        <p:txBody>
          <a:bodyPr wrap="square" lIns="0" tIns="0" rIns="0" bIns="0" rtlCol="0" anchor="t"/>
          <a:lstStyle/>
          <a:p>
            <a:pPr indent="0" marL="0">
              <a:lnSpc>
                <a:spcPct val="95000"/>
              </a:lnSpc>
              <a:buNone/>
            </a:pPr>
            <a:r>
              <a:rPr lang="en-US" sz="2500" b="1" dirty="0">
                <a:solidFill>
                  <a:srgbClr val="172C2A"/>
                </a:solidFill>
                <a:latin typeface="Trebuchet MS" pitchFamily="34" charset="0"/>
                <a:ea typeface="Trebuchet MS" pitchFamily="34" charset="-122"/>
                <a:cs typeface="Trebuchet MS" pitchFamily="34" charset="-120"/>
              </a:rPr>
              <a:t>Setiap perubahan dari proposal tercatat, beralasan, dan dikaitkan ke masalah inti</a:t>
            </a:r>
            <a:endParaRPr lang="en-US" sz="2500" dirty="0"/>
          </a:p>
        </p:txBody>
      </p:sp>
      <p:pic>
        <p:nvPicPr>
          <p:cNvPr id="4" name="Image 0" descr="C:\Users\mikae\OneDrive\Documents\Lomba\IFEST\Nyambung\app\assets\brand\logo_mark.png">    </p:cNvPr>
          <p:cNvPicPr>
            <a:picLocks noChangeAspect="1"/>
          </p:cNvPicPr>
          <p:nvPr/>
        </p:nvPicPr>
        <p:blipFill>
          <a:blip r:embed="rId1"/>
          <a:stretch>
            <a:fillRect/>
          </a:stretch>
        </p:blipFill>
        <p:spPr>
          <a:xfrm>
            <a:off x="11167567" y="347472"/>
            <a:ext cx="475488" cy="475488"/>
          </a:xfrm>
          <a:prstGeom prst="rect">
            <a:avLst/>
          </a:prstGeom>
        </p:spPr>
      </p:pic>
      <p:sp>
        <p:nvSpPr>
          <p:cNvPr id="5" name="Text 2"/>
          <p:cNvSpPr/>
          <p:nvPr/>
        </p:nvSpPr>
        <p:spPr>
          <a:xfrm>
            <a:off x="548640" y="6382512"/>
            <a:ext cx="1883664" cy="256032"/>
          </a:xfrm>
          <a:prstGeom prst="roundRect">
            <a:avLst>
              <a:gd name="adj" fmla="val 46429"/>
            </a:avLst>
          </a:prstGeom>
          <a:solidFill>
            <a:srgbClr val="098277"/>
          </a:solidFill>
          <a:ln w="9525">
            <a:solidFill>
              <a:srgbClr val="098277"/>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Lampiran · untuk Q&amp;A</a:t>
            </a:r>
            <a:endParaRPr lang="en-US" sz="950" dirty="0"/>
          </a:p>
        </p:txBody>
      </p:sp>
      <p:sp>
        <p:nvSpPr>
          <p:cNvPr id="6" name="Text 3"/>
          <p:cNvSpPr/>
          <p:nvPr/>
        </p:nvSpPr>
        <p:spPr>
          <a:xfrm>
            <a:off x="11185855" y="6382512"/>
            <a:ext cx="457200" cy="256032"/>
          </a:xfrm>
          <a:prstGeom prst="rect">
            <a:avLst/>
          </a:prstGeom>
          <a:noFill/>
          <a:ln/>
        </p:spPr>
        <p:txBody>
          <a:bodyPr wrap="square" lIns="0" tIns="0" rIns="0" bIns="0" rtlCol="0" anchor="ctr"/>
          <a:lstStyle/>
          <a:p>
            <a:pPr algn="r" indent="0" marL="0">
              <a:buNone/>
            </a:pPr>
            <a:r>
              <a:rPr lang="en-US" sz="1000" dirty="0">
                <a:solidFill>
                  <a:srgbClr val="52706D"/>
                </a:solidFill>
                <a:latin typeface="Calibri" pitchFamily="34" charset="0"/>
                <a:ea typeface="Calibri" pitchFamily="34" charset="-122"/>
                <a:cs typeface="Calibri" pitchFamily="34" charset="-120"/>
              </a:rPr>
              <a:t>16</a:t>
            </a:r>
            <a:endParaRPr lang="en-US" sz="1000" dirty="0"/>
          </a:p>
        </p:txBody>
      </p:sp>
      <p:sp>
        <p:nvSpPr>
          <p:cNvPr id="7" name="Text 4"/>
          <p:cNvSpPr/>
          <p:nvPr/>
        </p:nvSpPr>
        <p:spPr>
          <a:xfrm>
            <a:off x="548640" y="6035040"/>
            <a:ext cx="11094415" cy="274320"/>
          </a:xfrm>
          <a:prstGeom prst="rect">
            <a:avLst/>
          </a:prstGeom>
          <a:noFill/>
          <a:ln/>
        </p:spPr>
        <p:txBody>
          <a:bodyPr wrap="square" lIns="0" tIns="0" rIns="0" bIns="0" rtlCol="0" anchor="b"/>
          <a:lstStyle/>
          <a:p>
            <a:pPr indent="0" marL="0">
              <a:buNone/>
            </a:pPr>
            <a:r>
              <a:rPr lang="en-US" sz="850" i="1" dirty="0">
                <a:solidFill>
                  <a:srgbClr val="52706D"/>
                </a:solidFill>
                <a:latin typeface="Calibri" pitchFamily="34" charset="0"/>
                <a:ea typeface="Calibri" pitchFamily="34" charset="-122"/>
                <a:cs typeface="Calibri" pitchFamily="34" charset="-120"/>
              </a:rPr>
              <a:t>Ringkasan dari PERUBAHAN.md di repositori. Setiap entri memuat: kondisi di proposal · yang diubah · alasan · dampak terhadap masalah inti.</a:t>
            </a:r>
            <a:endParaRPr lang="en-US" sz="850" dirty="0"/>
          </a:p>
        </p:txBody>
      </p:sp>
      <p:sp>
        <p:nvSpPr>
          <p:cNvPr id="9" name="Shape 5"/>
          <p:cNvSpPr/>
          <p:nvPr/>
        </p:nvSpPr>
        <p:spPr>
          <a:xfrm>
            <a:off x="548640" y="1783080"/>
            <a:ext cx="2602154" cy="4114800"/>
          </a:xfrm>
          <a:prstGeom prst="roundRect">
            <a:avLst>
              <a:gd name="adj" fmla="val 4217"/>
            </a:avLst>
          </a:prstGeom>
          <a:solidFill>
            <a:srgbClr val="FFFFFF"/>
          </a:solidFill>
          <a:ln w="9525">
            <a:solidFill>
              <a:srgbClr val="DCEEEC"/>
            </a:solidFill>
            <a:prstDash val="solid"/>
          </a:ln>
        </p:spPr>
      </p:sp>
      <p:sp>
        <p:nvSpPr>
          <p:cNvPr id="10" name="Text 6"/>
          <p:cNvSpPr/>
          <p:nvPr/>
        </p:nvSpPr>
        <p:spPr>
          <a:xfrm>
            <a:off x="749808" y="1920240"/>
            <a:ext cx="2199818" cy="566928"/>
          </a:xfrm>
          <a:prstGeom prst="rect">
            <a:avLst/>
          </a:prstGeom>
          <a:noFill/>
          <a:ln/>
        </p:spPr>
        <p:txBody>
          <a:bodyPr wrap="square" lIns="0" tIns="0" rIns="0" bIns="0" rtlCol="0" anchor="t"/>
          <a:lstStyle/>
          <a:p>
            <a:pPr indent="0" marL="0">
              <a:buNone/>
            </a:pPr>
            <a:r>
              <a:rPr lang="en-US" sz="1450" b="1" dirty="0">
                <a:solidFill>
                  <a:srgbClr val="098277"/>
                </a:solidFill>
                <a:latin typeface="Trebuchet MS" pitchFamily="34" charset="0"/>
                <a:ea typeface="Trebuchet MS" pitchFamily="34" charset="-122"/>
                <a:cs typeface="Trebuchet MS" pitchFamily="34" charset="-120"/>
              </a:rPr>
              <a:t>Ditunda, lalu dibangun</a:t>
            </a:r>
            <a:endParaRPr lang="en-US" sz="1450" dirty="0"/>
          </a:p>
        </p:txBody>
      </p:sp>
      <p:sp>
        <p:nvSpPr>
          <p:cNvPr id="11" name="Text 7"/>
          <p:cNvSpPr/>
          <p:nvPr/>
        </p:nvSpPr>
        <p:spPr>
          <a:xfrm>
            <a:off x="731520" y="248716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C2 kelola kosakata</a:t>
            </a:r>
            <a:endParaRPr lang="en-US" sz="1150" dirty="0"/>
          </a:p>
        </p:txBody>
      </p:sp>
      <p:sp>
        <p:nvSpPr>
          <p:cNvPr id="12" name="Text 8"/>
          <p:cNvSpPr/>
          <p:nvPr/>
        </p:nvSpPr>
        <p:spPr>
          <a:xfrm>
            <a:off x="731520" y="358444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C4 suara keluarga 12 kata inti</a:t>
            </a:r>
            <a:endParaRPr lang="en-US" sz="1150" dirty="0"/>
          </a:p>
        </p:txBody>
      </p:sp>
      <p:sp>
        <p:nvSpPr>
          <p:cNvPr id="13" name="Text 9"/>
          <p:cNvSpPr/>
          <p:nvPr/>
        </p:nvSpPr>
        <p:spPr>
          <a:xfrm>
            <a:off x="731520" y="468172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C3 kartu dari foto</a:t>
            </a:r>
            <a:endParaRPr lang="en-US" sz="1150" dirty="0"/>
          </a:p>
        </p:txBody>
      </p:sp>
      <p:sp>
        <p:nvSpPr>
          <p:cNvPr id="14" name="Shape 10"/>
          <p:cNvSpPr/>
          <p:nvPr/>
        </p:nvSpPr>
        <p:spPr>
          <a:xfrm>
            <a:off x="3379394" y="1783080"/>
            <a:ext cx="2602154" cy="4114800"/>
          </a:xfrm>
          <a:prstGeom prst="roundRect">
            <a:avLst>
              <a:gd name="adj" fmla="val 4217"/>
            </a:avLst>
          </a:prstGeom>
          <a:solidFill>
            <a:srgbClr val="FFFFFF"/>
          </a:solidFill>
          <a:ln w="9525">
            <a:solidFill>
              <a:srgbClr val="DCEEEC"/>
            </a:solidFill>
            <a:prstDash val="solid"/>
          </a:ln>
        </p:spPr>
      </p:sp>
      <p:sp>
        <p:nvSpPr>
          <p:cNvPr id="15" name="Text 11"/>
          <p:cNvSpPr/>
          <p:nvPr/>
        </p:nvSpPr>
        <p:spPr>
          <a:xfrm>
            <a:off x="3580562" y="1920240"/>
            <a:ext cx="2199818" cy="566928"/>
          </a:xfrm>
          <a:prstGeom prst="rect">
            <a:avLst/>
          </a:prstGeom>
          <a:noFill/>
          <a:ln/>
        </p:spPr>
        <p:txBody>
          <a:bodyPr wrap="square" lIns="0" tIns="0" rIns="0" bIns="0" rtlCol="0" anchor="t"/>
          <a:lstStyle/>
          <a:p>
            <a:pPr indent="0" marL="0">
              <a:buNone/>
            </a:pPr>
            <a:r>
              <a:rPr lang="en-US" sz="1450" b="1" dirty="0">
                <a:solidFill>
                  <a:srgbClr val="D34349"/>
                </a:solidFill>
                <a:latin typeface="Trebuchet MS" pitchFamily="34" charset="0"/>
                <a:ea typeface="Trebuchet MS" pitchFamily="34" charset="-122"/>
                <a:cs typeface="Trebuchet MS" pitchFamily="34" charset="-120"/>
              </a:rPr>
              <a:t>Diubah demi masalah inti</a:t>
            </a:r>
            <a:endParaRPr lang="en-US" sz="1450" dirty="0"/>
          </a:p>
        </p:txBody>
      </p:sp>
      <p:sp>
        <p:nvSpPr>
          <p:cNvPr id="16" name="Text 12"/>
          <p:cNvSpPr/>
          <p:nvPr/>
        </p:nvSpPr>
        <p:spPr>
          <a:xfrm>
            <a:off x="3562274" y="248716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Suara papan: klip dibundel, bukan TTS perangkat</a:t>
            </a:r>
            <a:endParaRPr lang="en-US" sz="1150" dirty="0"/>
          </a:p>
        </p:txBody>
      </p:sp>
      <p:sp>
        <p:nvSpPr>
          <p:cNvPr id="17" name="Text 13"/>
          <p:cNvSpPr/>
          <p:nvPr/>
        </p:nvSpPr>
        <p:spPr>
          <a:xfrm>
            <a:off x="3562274" y="358444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Sinkron otomatis tiap 20 detik</a:t>
            </a:r>
            <a:endParaRPr lang="en-US" sz="1150" dirty="0"/>
          </a:p>
        </p:txBody>
      </p:sp>
      <p:sp>
        <p:nvSpPr>
          <p:cNvPr id="18" name="Text 14"/>
          <p:cNvSpPr/>
          <p:nvPr/>
        </p:nvSpPr>
        <p:spPr>
          <a:xfrm>
            <a:off x="3562274" y="468172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Catatan sesi D4 + ringkasan ke keluarga</a:t>
            </a:r>
            <a:endParaRPr lang="en-US" sz="1150" dirty="0"/>
          </a:p>
        </p:txBody>
      </p:sp>
      <p:sp>
        <p:nvSpPr>
          <p:cNvPr id="19" name="Shape 15"/>
          <p:cNvSpPr/>
          <p:nvPr/>
        </p:nvSpPr>
        <p:spPr>
          <a:xfrm>
            <a:off x="6210148" y="1783080"/>
            <a:ext cx="2602154" cy="4114800"/>
          </a:xfrm>
          <a:prstGeom prst="roundRect">
            <a:avLst>
              <a:gd name="adj" fmla="val 4217"/>
            </a:avLst>
          </a:prstGeom>
          <a:solidFill>
            <a:srgbClr val="FFFFFF"/>
          </a:solidFill>
          <a:ln w="9525">
            <a:solidFill>
              <a:srgbClr val="DCEEEC"/>
            </a:solidFill>
            <a:prstDash val="solid"/>
          </a:ln>
        </p:spPr>
      </p:sp>
      <p:sp>
        <p:nvSpPr>
          <p:cNvPr id="20" name="Text 16"/>
          <p:cNvSpPr/>
          <p:nvPr/>
        </p:nvSpPr>
        <p:spPr>
          <a:xfrm>
            <a:off x="6411316" y="1920240"/>
            <a:ext cx="2199818" cy="566928"/>
          </a:xfrm>
          <a:prstGeom prst="rect">
            <a:avLst/>
          </a:prstGeom>
          <a:noFill/>
          <a:ln/>
        </p:spPr>
        <p:txBody>
          <a:bodyPr wrap="square" lIns="0" tIns="0" rIns="0" bIns="0" rtlCol="0" anchor="t"/>
          <a:lstStyle/>
          <a:p>
            <a:pPr indent="0" marL="0">
              <a:buNone/>
            </a:pPr>
            <a:r>
              <a:rPr lang="en-US" sz="1450" b="1" dirty="0">
                <a:solidFill>
                  <a:srgbClr val="5B57A8"/>
                </a:solidFill>
                <a:latin typeface="Trebuchet MS" pitchFamily="34" charset="0"/>
                <a:ea typeface="Trebuchet MS" pitchFamily="34" charset="-122"/>
                <a:cs typeface="Trebuchet MS" pitchFamily="34" charset="-120"/>
              </a:rPr>
              <a:t>Diubah demi kejujuran</a:t>
            </a:r>
            <a:endParaRPr lang="en-US" sz="1450" dirty="0"/>
          </a:p>
        </p:txBody>
      </p:sp>
      <p:sp>
        <p:nvSpPr>
          <p:cNvPr id="21" name="Text 17"/>
          <p:cNvSpPr/>
          <p:nvPr/>
        </p:nvSpPr>
        <p:spPr>
          <a:xfrm>
            <a:off x="6393028" y="248716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"Spontan" → "tanpa contoh ≤ 60 dtk"</a:t>
            </a:r>
            <a:endParaRPr lang="en-US" sz="1150" dirty="0"/>
          </a:p>
        </p:txBody>
      </p:sp>
      <p:sp>
        <p:nvSpPr>
          <p:cNvPr id="22" name="Text 18"/>
          <p:cNvSpPr/>
          <p:nvPr/>
        </p:nvSpPr>
        <p:spPr>
          <a:xfrm>
            <a:off x="6393028" y="358444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Alasan tertulis untuk "Perlu ditinjau"</a:t>
            </a:r>
            <a:endParaRPr lang="en-US" sz="1150" dirty="0"/>
          </a:p>
        </p:txBody>
      </p:sp>
      <p:sp>
        <p:nvSpPr>
          <p:cNvPr id="23" name="Text 19"/>
          <p:cNvSpPr/>
          <p:nvPr/>
        </p:nvSpPr>
        <p:spPr>
          <a:xfrm>
            <a:off x="6393028" y="468172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Waktu tinjauan terapis diukur</a:t>
            </a:r>
            <a:endParaRPr lang="en-US" sz="1150" dirty="0"/>
          </a:p>
        </p:txBody>
      </p:sp>
      <p:sp>
        <p:nvSpPr>
          <p:cNvPr id="24" name="Shape 20"/>
          <p:cNvSpPr/>
          <p:nvPr/>
        </p:nvSpPr>
        <p:spPr>
          <a:xfrm>
            <a:off x="9040901" y="1783080"/>
            <a:ext cx="2602154" cy="4114800"/>
          </a:xfrm>
          <a:prstGeom prst="roundRect">
            <a:avLst>
              <a:gd name="adj" fmla="val 4217"/>
            </a:avLst>
          </a:prstGeom>
          <a:solidFill>
            <a:srgbClr val="FFFFFF"/>
          </a:solidFill>
          <a:ln w="9525">
            <a:solidFill>
              <a:srgbClr val="DCEEEC"/>
            </a:solidFill>
            <a:prstDash val="solid"/>
          </a:ln>
        </p:spPr>
      </p:sp>
      <p:sp>
        <p:nvSpPr>
          <p:cNvPr id="25" name="Text 21"/>
          <p:cNvSpPr/>
          <p:nvPr/>
        </p:nvSpPr>
        <p:spPr>
          <a:xfrm>
            <a:off x="9242069" y="1920240"/>
            <a:ext cx="2199818" cy="566928"/>
          </a:xfrm>
          <a:prstGeom prst="rect">
            <a:avLst/>
          </a:prstGeom>
          <a:noFill/>
          <a:ln/>
        </p:spPr>
        <p:txBody>
          <a:bodyPr wrap="square" lIns="0" tIns="0" rIns="0" bIns="0" rtlCol="0" anchor="t"/>
          <a:lstStyle/>
          <a:p>
            <a:pPr indent="0" marL="0">
              <a:buNone/>
            </a:pPr>
            <a:r>
              <a:rPr lang="en-US" sz="1450" b="1" dirty="0">
                <a:solidFill>
                  <a:srgbClr val="8A5B0A"/>
                </a:solidFill>
                <a:latin typeface="Trebuchet MS" pitchFamily="34" charset="0"/>
                <a:ea typeface="Trebuchet MS" pitchFamily="34" charset="-122"/>
                <a:cs typeface="Trebuchet MS" pitchFamily="34" charset="-120"/>
              </a:rPr>
              <a:t>Diubah demi pemakaian</a:t>
            </a:r>
            <a:endParaRPr lang="en-US" sz="1450" dirty="0"/>
          </a:p>
        </p:txBody>
      </p:sp>
      <p:sp>
        <p:nvSpPr>
          <p:cNvPr id="26" name="Text 22"/>
          <p:cNvSpPr/>
          <p:nvPr/>
        </p:nvSpPr>
        <p:spPr>
          <a:xfrm>
            <a:off x="9223781" y="248716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Tab halaman di rel kiri</a:t>
            </a:r>
            <a:endParaRPr lang="en-US" sz="1150" dirty="0"/>
          </a:p>
        </p:txBody>
      </p:sp>
      <p:sp>
        <p:nvSpPr>
          <p:cNvPr id="27" name="Text 23"/>
          <p:cNvSpPr/>
          <p:nvPr/>
        </p:nvSpPr>
        <p:spPr>
          <a:xfrm>
            <a:off x="9223781" y="358444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Urutan kata di bilah ujaran bisa digeser</a:t>
            </a:r>
            <a:endParaRPr lang="en-US" sz="1150" dirty="0"/>
          </a:p>
        </p:txBody>
      </p:sp>
      <p:sp>
        <p:nvSpPr>
          <p:cNvPr id="28" name="Text 24"/>
          <p:cNvSpPr/>
          <p:nvPr/>
        </p:nvSpPr>
        <p:spPr>
          <a:xfrm>
            <a:off x="9223781" y="4681728"/>
            <a:ext cx="2236394" cy="914400"/>
          </a:xfrm>
          <a:prstGeom prst="roundRect">
            <a:avLst>
              <a:gd name="adj" fmla="val 8000"/>
            </a:avLst>
          </a:prstGeom>
          <a:solidFill>
            <a:srgbClr val="F1FAFA"/>
          </a:solidFill>
          <a:ln w="9525">
            <a:solidFill>
              <a:srgbClr val="DCEEEC"/>
            </a:solidFill>
          </a:ln>
        </p:spPr>
        <p:txBody>
          <a:bodyPr wrap="square" lIns="101600" tIns="101600" rIns="101600" bIns="101600" rtlCol="0" anchor="ctr"/>
          <a:lstStyle/>
          <a:p>
            <a:pPr indent="0" marL="0">
              <a:buNone/>
            </a:pPr>
            <a:r>
              <a:rPr lang="en-US" sz="1150" dirty="0">
                <a:solidFill>
                  <a:srgbClr val="172C2A"/>
                </a:solidFill>
                <a:latin typeface="Calibri" pitchFamily="34" charset="0"/>
                <a:ea typeface="Calibri" pitchFamily="34" charset="-122"/>
                <a:cs typeface="Calibri" pitchFamily="34" charset="-120"/>
              </a:rPr>
              <a:t>Desain ulang visual mint-tosca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Nyambung — Pitch Deck IFEST 2026</dc:title>
  <dc:subject>PptxGenJS Presentation</dc:subject>
  <dc:creator>Teen Tensors</dc:creator>
  <cp:lastModifiedBy>Teen Tensors</cp:lastModifiedBy>
  <cp:revision>1</cp:revision>
  <dcterms:created xsi:type="dcterms:W3CDTF">2026-09-18T08:05:47Z</dcterms:created>
  <dcterms:modified xsi:type="dcterms:W3CDTF">2026-09-18T08:05:47Z</dcterms:modified>
</cp:coreProperties>
</file>